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2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FDE3333-857A-4131-9EBA-B73C0C259FD7}" type="datetime1">
              <a:rPr lang="zh-CN" altLang="en-US" smtClean="0"/>
              <a:t>2025/5/8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CD12D00-6AAC-4A94-B2E5-A12E9C579B03}" type="datetime1">
              <a:rPr lang="zh-CN" altLang="en-US" smtClean="0"/>
              <a:t>2025/5/8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594A98-8FB4-4076-AE7B-5D3B1A2CBC70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长方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1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C14310-5240-428A-850A-F7101D16AE5A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F85B13-09B0-4D01-A286-57280995F924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11FE78-D258-4188-9C5F-198CC4CE7F12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491C52-D618-41DD-80F2-22500A780186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EE3488-748A-4EA8-9571-9D5A1694FA0A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D7791703-7779-4492-8183-3F96B27D2540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D22F12-409A-40D9-8774-D34C978752A7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0F2F7-3EF1-4761-ABAF-2FA9DDE4F1A8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8" name="长方形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矩形​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63FC6D-277D-4D53-8EB6-E41026A24247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cn"/>
              <a:t>单击此处编辑母版文本样式</a:t>
            </a:r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400FF2F-BAC0-4F33-9E13-F8F6FA55A14D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长方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1" kern="1200" cap="all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长方形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 fontScale="90000"/>
          </a:bodyPr>
          <a:lstStyle/>
          <a:p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什么是 </a:t>
            </a:r>
            <a: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RNN </a:t>
            </a:r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模型</a:t>
            </a:r>
            <a:b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r>
              <a:rPr lang="en-US" altLang="zh-CN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  <a:t>RNN (Recurrent Neural Network)</a:t>
            </a:r>
            <a:br>
              <a:rPr lang="en-US" altLang="zh-CN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</a:br>
            <a:endParaRPr lang="zh-cn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 fontScale="25000" lnSpcReduction="20000"/>
          </a:bodyPr>
          <a:lstStyle/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中文称作</a:t>
            </a:r>
            <a:r>
              <a:rPr lang="zh-CN" altLang="en-US" sz="9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循环神经网络</a:t>
            </a: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以</a:t>
            </a:r>
            <a:r>
              <a:rPr lang="zh-CN" altLang="en-US" sz="9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序列数据</a:t>
            </a: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为输入。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通过内部结构捕捉</a:t>
            </a:r>
            <a:r>
              <a:rPr lang="zh-CN" altLang="en-US" sz="9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序列间关系</a:t>
            </a: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一般以</a:t>
            </a:r>
            <a:r>
              <a:rPr lang="zh-CN" altLang="en-US" sz="9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序列形式</a:t>
            </a:r>
            <a:r>
              <a:rPr lang="zh-CN" altLang="en-US" sz="9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输出。</a:t>
            </a:r>
          </a:p>
          <a:p>
            <a:pPr rtl="0"/>
            <a:endParaRPr lang="zh-cn" dirty="0"/>
          </a:p>
        </p:txBody>
      </p:sp>
      <p:sp>
        <p:nvSpPr>
          <p:cNvPr id="20" name="长方形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长方形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AD7484-F307-ABE2-2D6B-1ACF3F668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265" y="2272313"/>
            <a:ext cx="2152095" cy="3843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B337A0-1267-5156-6C48-EEECC35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zh-CN" altLang="en-US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</a:br>
            <a:br>
              <a:rPr lang="zh-CN" altLang="en-US" sz="4400" dirty="0">
                <a:solidFill>
                  <a:srgbClr val="1A2980"/>
                </a:solidFill>
                <a:latin typeface="Segoe UI" panose="020B0502040204020203" pitchFamily="34" charset="0"/>
              </a:rPr>
            </a:br>
            <a:r>
              <a:rPr lang="en-US" altLang="zh-CN" sz="4400" dirty="0">
                <a:solidFill>
                  <a:srgbClr val="1A2980"/>
                </a:solidFill>
                <a:latin typeface="Segoe UI" panose="020B0502040204020203" pitchFamily="34" charset="0"/>
              </a:rPr>
              <a:t>RNN </a:t>
            </a:r>
            <a:r>
              <a:rPr lang="zh-CN" altLang="en-US" sz="4400" dirty="0">
                <a:solidFill>
                  <a:srgbClr val="1A2980"/>
                </a:solidFill>
                <a:latin typeface="Segoe UI" panose="020B0502040204020203" pitchFamily="34" charset="0"/>
              </a:rPr>
              <a:t>的循环机制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9DD8E-16B0-3AF5-5E65-831B0DFC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7826"/>
            <a:ext cx="12192000" cy="5497778"/>
          </a:xfrm>
        </p:spPr>
        <p:txBody>
          <a:bodyPr/>
          <a:lstStyle/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隐层上一时间步结果，作为当下时间步输入的一部分。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当下时间步的输入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=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正常输入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+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上一步隐层输出。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影响当下时间步的输出。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循环机制是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RNN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的核心特征，使得网络能够处理序列数据中的时间依赖关系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552F4-C688-D147-D4E0-CF5212D19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C0E1EA75-D5DA-C071-8224-ADD4FF5D56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19B1397F-756F-45D9-F455-FAE5B62A2B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09344F3F-8F8A-733D-6E49-98C3B98B3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18" y="1776145"/>
            <a:ext cx="2822488" cy="28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83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1C51C-90AA-3FF0-83AD-4333FAB17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94" y="1066140"/>
            <a:ext cx="11029616" cy="1188720"/>
          </a:xfrm>
        </p:spPr>
        <p:txBody>
          <a:bodyPr>
            <a:normAutofit fontScale="90000"/>
          </a:bodyPr>
          <a:lstStyle/>
          <a:p>
            <a:br>
              <a:rPr lang="zh-CN" altLang="en-US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</a:br>
            <a:r>
              <a:rPr lang="en-US" altLang="zh-CN" sz="4400" dirty="0">
                <a:solidFill>
                  <a:srgbClr val="1A2980"/>
                </a:solidFill>
                <a:latin typeface="Segoe UI" panose="020B0502040204020203" pitchFamily="34" charset="0"/>
              </a:rPr>
              <a:t>RNN </a:t>
            </a:r>
            <a:r>
              <a:rPr lang="zh-CN" altLang="en-US" sz="4400" dirty="0">
                <a:solidFill>
                  <a:srgbClr val="1A2980"/>
                </a:solidFill>
                <a:latin typeface="Segoe UI" panose="020B0502040204020203" pitchFamily="34" charset="0"/>
              </a:rPr>
              <a:t>模型的作用</a:t>
            </a:r>
            <a:br>
              <a:rPr lang="zh-CN" altLang="en-US" sz="4400" dirty="0">
                <a:solidFill>
                  <a:srgbClr val="1A2980"/>
                </a:solidFill>
                <a:latin typeface="Segoe UI" panose="020B0502040204020203" pitchFamily="34" charset="0"/>
              </a:rPr>
            </a:b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32196-0051-8708-EE0A-B276F23D3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94" y="2396971"/>
            <a:ext cx="11029616" cy="3690162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800" dirty="0">
                <a:solidFill>
                  <a:srgbClr val="333333"/>
                </a:solidFill>
                <a:latin typeface="Segoe UI" panose="020B0502040204020203" pitchFamily="34" charset="0"/>
              </a:rPr>
              <a:t>利用</a:t>
            </a:r>
            <a:r>
              <a:rPr lang="zh-CN" altLang="en-US" sz="12800" b="1" dirty="0">
                <a:solidFill>
                  <a:srgbClr val="1A2980"/>
                </a:solidFill>
                <a:latin typeface="Segoe UI" panose="020B0502040204020203" pitchFamily="34" charset="0"/>
              </a:rPr>
              <a:t>序列间关系</a:t>
            </a:r>
            <a:r>
              <a:rPr lang="zh-CN" altLang="en-US" sz="12800" dirty="0">
                <a:solidFill>
                  <a:srgbClr val="333333"/>
                </a:solidFill>
                <a:latin typeface="Segoe UI" panose="020B0502040204020203" pitchFamily="34" charset="0"/>
              </a:rPr>
              <a:t>，处理</a:t>
            </a:r>
            <a:r>
              <a:rPr lang="zh-CN" altLang="en-US" sz="12800" b="1" dirty="0">
                <a:solidFill>
                  <a:srgbClr val="1A2980"/>
                </a:solidFill>
                <a:latin typeface="Segoe UI" panose="020B0502040204020203" pitchFamily="34" charset="0"/>
              </a:rPr>
              <a:t>连续性输入序列</a:t>
            </a:r>
            <a:r>
              <a:rPr lang="zh-CN" altLang="en-US" sz="12800" dirty="0">
                <a:solidFill>
                  <a:srgbClr val="333333"/>
                </a:solidFill>
                <a:latin typeface="Segoe UI" panose="020B0502040204020203" pitchFamily="34" charset="0"/>
              </a:rPr>
              <a:t>。</a:t>
            </a:r>
          </a:p>
          <a:p>
            <a:pPr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800" dirty="0">
                <a:solidFill>
                  <a:srgbClr val="333333"/>
                </a:solidFill>
                <a:latin typeface="Segoe UI" panose="020B0502040204020203" pitchFamily="34" charset="0"/>
              </a:rPr>
              <a:t>如人类语言、语音等。</a:t>
            </a:r>
          </a:p>
          <a:p>
            <a:pPr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12800" dirty="0">
                <a:solidFill>
                  <a:srgbClr val="333333"/>
                </a:solidFill>
                <a:latin typeface="Segoe UI" panose="020B0502040204020203" pitchFamily="34" charset="0"/>
              </a:rPr>
              <a:t>广泛应用于 </a:t>
            </a:r>
            <a:r>
              <a:rPr lang="en-US" altLang="zh-CN" sz="12800" dirty="0">
                <a:solidFill>
                  <a:srgbClr val="333333"/>
                </a:solidFill>
                <a:latin typeface="Segoe UI" panose="020B0502040204020203" pitchFamily="34" charset="0"/>
              </a:rPr>
              <a:t>NLP </a:t>
            </a:r>
            <a:r>
              <a:rPr lang="zh-CN" altLang="en-US" sz="12800" dirty="0">
                <a:solidFill>
                  <a:srgbClr val="333333"/>
                </a:solidFill>
                <a:latin typeface="Segoe UI" panose="020B0502040204020203" pitchFamily="34" charset="0"/>
              </a:rPr>
              <a:t>领域：</a:t>
            </a:r>
            <a:endParaRPr lang="zh-CN" altLang="en-US" sz="12800" dirty="0">
              <a:solidFill>
                <a:srgbClr val="1A2980"/>
              </a:solidFill>
              <a:latin typeface="Segoe UI" panose="020B0502040204020203" pitchFamily="34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zh-CN" altLang="en-US" sz="14400" dirty="0">
                <a:solidFill>
                  <a:srgbClr val="1A2980"/>
                </a:solidFill>
                <a:latin typeface="Segoe UI" panose="020B0502040204020203" pitchFamily="34" charset="0"/>
              </a:rPr>
              <a:t>   📝                     </a:t>
            </a:r>
            <a:r>
              <a:rPr lang="zh-CN" altLang="en-US" sz="16000" dirty="0">
                <a:solidFill>
                  <a:srgbClr val="1A2980"/>
                </a:solidFill>
                <a:latin typeface="Segoe UI" panose="020B0502040204020203" pitchFamily="34" charset="0"/>
              </a:rPr>
              <a:t>😊                  🎯                  🌐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zh-CN" altLang="en-US" sz="8000" dirty="0">
                <a:solidFill>
                  <a:srgbClr val="1A2980"/>
                </a:solidFill>
                <a:latin typeface="Segoe UI" panose="020B0502040204020203" pitchFamily="34" charset="0"/>
              </a:rPr>
              <a:t>  文本分类                                 情感分析                               意图识别                               机器翻译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endParaRPr lang="en-US" altLang="zh-CN" sz="5100" b="0" i="0" dirty="0">
              <a:solidFill>
                <a:srgbClr val="1A2980"/>
              </a:solidFill>
              <a:effectLst/>
              <a:latin typeface="Segoe UI" panose="020B0502040204020203" pitchFamily="34" charset="0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A65FB3-6A3F-688A-1238-A09293A04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6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7AFE4-F6C3-AB3F-006C-2E248ACE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用户意图识别示例</a:t>
            </a:r>
            <a:b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78D9F-A1CB-244E-DC17-5DD5CE4A3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19922"/>
            <a:ext cx="11029615" cy="4155428"/>
          </a:xfrm>
        </p:spPr>
        <p:txBody>
          <a:bodyPr>
            <a:norm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en-US" altLang="zh-CN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1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分词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"What time is it?"</a:t>
            </a:r>
            <a:endParaRPr lang="en-US" altLang="zh-CN" sz="2800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处理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"What" -&gt;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输出 </a:t>
            </a:r>
            <a:r>
              <a:rPr lang="en-US" altLang="zh-CN" sz="28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O1</a:t>
            </a:r>
            <a:endParaRPr lang="en-US" altLang="zh-CN" sz="2800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处理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"time" -&gt;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输出 </a:t>
            </a:r>
            <a:r>
              <a:rPr lang="en-US" altLang="zh-CN" sz="28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O2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(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利用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O1)</a:t>
            </a:r>
            <a:endParaRPr lang="en-US" altLang="zh-CN" sz="2800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None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重复步骤，处理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"is", "it"</a:t>
            </a:r>
            <a:endParaRPr lang="en-US" altLang="zh-CN" sz="2800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marL="0" indent="0" algn="l">
              <a:spcAft>
                <a:spcPts val="750"/>
              </a:spcAft>
              <a:buNone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最终输出 </a:t>
            </a:r>
            <a:r>
              <a:rPr lang="en-US" altLang="zh-CN" sz="28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O5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解析用户意图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3BBD7-93DD-F15F-AE23-FD52D5C7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3074" name="Picture 2" descr="在这里插入图片描述">
            <a:extLst>
              <a:ext uri="{FF2B5EF4-FFF2-40B4-BE49-F238E27FC236}">
                <a16:creationId xmlns:a16="http://schemas.microsoft.com/office/drawing/2014/main" id="{BD463278-AF64-8508-746E-2630A9A43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908" y="953517"/>
            <a:ext cx="4762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在这里插入图片描述">
            <a:extLst>
              <a:ext uri="{FF2B5EF4-FFF2-40B4-BE49-F238E27FC236}">
                <a16:creationId xmlns:a16="http://schemas.microsoft.com/office/drawing/2014/main" id="{ECCAE3F3-EEAA-65C9-6BBF-EC3DA10FA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5908" y="3808608"/>
            <a:ext cx="47625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44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ECB47-2C1B-8063-9BB0-BB3E5DE55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RNN </a:t>
            </a:r>
            <a:r>
              <a:rPr lang="zh-CN" altLang="en-US" sz="3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模型的分类</a:t>
            </a:r>
            <a:br>
              <a:rPr lang="zh-CN" altLang="en-US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1C54A6-CDAD-127A-51C4-DD7D6E8C8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17081"/>
            <a:ext cx="11029615" cy="3634486"/>
          </a:xfrm>
        </p:spPr>
        <p:txBody>
          <a:bodyPr>
            <a:norm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sz="2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角度一：输入和输出的结构</a:t>
            </a:r>
          </a:p>
          <a:p>
            <a:pPr algn="l">
              <a:spcAft>
                <a:spcPts val="1500"/>
              </a:spcAft>
              <a:buNone/>
            </a:pP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N vs N – RNN                          N vs 1 – RNN                    1 vs N – RNN                        N vs M - RNN</a:t>
            </a:r>
          </a:p>
          <a:p>
            <a:pPr algn="l">
              <a:spcAft>
                <a:spcPts val="750"/>
              </a:spcAft>
              <a:buNone/>
            </a:pPr>
            <a:r>
              <a:rPr lang="zh-CN" altLang="en-US" sz="2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角度二：</a:t>
            </a:r>
            <a:r>
              <a:rPr lang="en-US" altLang="zh-CN" sz="2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RNN </a:t>
            </a:r>
            <a:r>
              <a:rPr lang="zh-CN" altLang="en-US" sz="2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的内部构造</a:t>
            </a:r>
          </a:p>
          <a:p>
            <a:pPr algn="l">
              <a:spcAft>
                <a:spcPts val="1500"/>
              </a:spcAft>
              <a:buNone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传统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RNN           LSTM</a:t>
            </a:r>
            <a:r>
              <a:rPr lang="en-US" altLang="zh-CN" sz="2400" dirty="0">
                <a:solidFill>
                  <a:srgbClr val="333333"/>
                </a:solidFill>
                <a:latin typeface="Segoe UI" panose="020B0502040204020203" pitchFamily="34" charset="0"/>
              </a:rPr>
              <a:t>              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Bi-LSTM</a:t>
            </a:r>
            <a:r>
              <a:rPr lang="en-US" altLang="zh-CN" sz="2400" dirty="0">
                <a:solidFill>
                  <a:srgbClr val="333333"/>
                </a:solidFill>
                <a:latin typeface="Segoe UI" panose="020B0502040204020203" pitchFamily="34" charset="0"/>
              </a:rPr>
              <a:t>              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GRU</a:t>
            </a:r>
            <a:r>
              <a:rPr lang="en-US" altLang="zh-CN" sz="2400" dirty="0">
                <a:solidFill>
                  <a:srgbClr val="333333"/>
                </a:solidFill>
                <a:latin typeface="Segoe UI" panose="020B0502040204020203" pitchFamily="34" charset="0"/>
              </a:rPr>
              <a:t>                   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Bi-GRU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F9B25F-7EA9-CFF6-93EA-75ACC5EE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620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05E5A-7B35-FDDB-6822-99CC2FC7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N vs N - RNN</a:t>
            </a:r>
            <a:b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825CEA-918A-A441-BE17-ADCA85C7B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245" y="1947782"/>
            <a:ext cx="11007009" cy="2900103"/>
          </a:xfrm>
        </p:spPr>
        <p:txBody>
          <a:bodyPr/>
          <a:lstStyle/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RNN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最基础的结构形式。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输入和输出序列等长。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适用范围较小，如生成等长度诗句。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A67349-9865-3570-40C6-45F0E22A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4098" name="Picture 2" descr="在这里插入图片描述">
            <a:extLst>
              <a:ext uri="{FF2B5EF4-FFF2-40B4-BE49-F238E27FC236}">
                <a16:creationId xmlns:a16="http://schemas.microsoft.com/office/drawing/2014/main" id="{7165A253-E9E1-763D-5C9E-A9D838BC2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216" y="1734031"/>
            <a:ext cx="3844031" cy="302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90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9C3F9-DD9E-363C-6439-611A48A00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N vs 1 - RNN</a:t>
            </a:r>
            <a:b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57151B-A1FB-9BB4-1FD7-28F53FDEA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1" y="2445627"/>
            <a:ext cx="8889131" cy="3423535"/>
          </a:xfrm>
        </p:spPr>
        <p:txBody>
          <a:bodyPr/>
          <a:lstStyle/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输入序列，输出单个值。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最后一个隐层输出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进行线性变换。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常用 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sigmoid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或 </a:t>
            </a:r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softmax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处理。</a:t>
            </a:r>
          </a:p>
          <a:p>
            <a:pPr algn="l">
              <a:spcBef>
                <a:spcPts val="1125"/>
              </a:spcBef>
              <a:spcAft>
                <a:spcPts val="1125"/>
              </a:spcAft>
            </a:pPr>
            <a:r>
              <a:rPr lang="zh-CN" altLang="en-US" sz="24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应用场景：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文本分类问题，如情感分析、垃圾邮件检测等。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E1325-AB78-1837-1A38-D364650D3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5122" name="Picture 2" descr="在这里插入图片描述">
            <a:extLst>
              <a:ext uri="{FF2B5EF4-FFF2-40B4-BE49-F238E27FC236}">
                <a16:creationId xmlns:a16="http://schemas.microsoft.com/office/drawing/2014/main" id="{5C01CC5D-F8BF-9EAB-29CF-9D04347DD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431" y="1221175"/>
            <a:ext cx="4140537" cy="3174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3315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0E4CE-0FB2-87DC-A9C7-1596727E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1 vs N - RNN</a:t>
            </a:r>
            <a:br>
              <a:rPr lang="en-US" altLang="zh-CN" sz="36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811E1-1F70-0E5D-6D66-196ECE7AB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88" y="2422226"/>
            <a:ext cx="11064119" cy="3553124"/>
          </a:xfrm>
        </p:spPr>
        <p:txBody>
          <a:bodyPr/>
          <a:lstStyle/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输入非序列，输出为序列。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输入作用于每次输出之上。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用于图片生成文字任务等。</a:t>
            </a:r>
            <a:endParaRPr lang="en-US" altLang="zh-CN" sz="2800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应用场景：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图像描述，生成语音，识别机器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35532-7D2F-C46B-24D9-E34AB324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6146" name="Picture 2" descr="在这里插入图片描述">
            <a:extLst>
              <a:ext uri="{FF2B5EF4-FFF2-40B4-BE49-F238E27FC236}">
                <a16:creationId xmlns:a16="http://schemas.microsoft.com/office/drawing/2014/main" id="{B4634966-E1F9-43FD-8AA9-A335AEE2F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657" y="882650"/>
            <a:ext cx="4402060" cy="3809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792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5C13F8-2F94-3CEB-688B-7629C764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N vs M - RNN</a:t>
            </a:r>
            <a:br>
              <a:rPr lang="en-US" altLang="zh-CN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D233A0-3D9E-500F-2516-674000CE5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49496"/>
            <a:ext cx="11029615" cy="4306348"/>
          </a:xfrm>
        </p:spPr>
        <p:txBody>
          <a:bodyPr>
            <a:normAutofit lnSpcReduction="10000"/>
          </a:bodyPr>
          <a:lstStyle/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输入输出长度不限。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编码器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-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解码器结构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(seq2seq)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编码器输出隐含变量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解码器利用 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 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解码。</a:t>
            </a:r>
          </a:p>
          <a:p>
            <a:pPr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编码器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(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输入序列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zh-CN" altLang="en-US" sz="2800" b="0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→</a:t>
            </a:r>
            <a:r>
              <a:rPr lang="zh-CN" altLang="en-US" sz="28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上下文向量 </a:t>
            </a:r>
            <a:r>
              <a:rPr lang="en-US" altLang="zh-CN" sz="28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</a:t>
            </a:r>
            <a:r>
              <a:rPr lang="zh-CN" altLang="en-US" sz="2800" b="0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 →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解码器</a:t>
            </a:r>
            <a:r>
              <a:rPr lang="en-US" altLang="zh-CN" sz="2800" dirty="0">
                <a:solidFill>
                  <a:srgbClr val="333333"/>
                </a:solidFill>
                <a:latin typeface="Segoe UI" panose="020B0502040204020203" pitchFamily="34" charset="0"/>
              </a:rPr>
              <a:t>(</a:t>
            </a:r>
            <a:r>
              <a:rPr lang="zh-CN" altLang="en-US" sz="2800" dirty="0">
                <a:solidFill>
                  <a:srgbClr val="333333"/>
                </a:solidFill>
                <a:latin typeface="Segoe UI" panose="020B0502040204020203" pitchFamily="34" charset="0"/>
              </a:rPr>
              <a:t>输出序列</a:t>
            </a:r>
            <a:r>
              <a:rPr lang="en-US" altLang="zh-CN" sz="2800" dirty="0">
                <a:solidFill>
                  <a:srgbClr val="333333"/>
                </a:solidFill>
                <a:latin typeface="Segoe UI" panose="020B0502040204020203" pitchFamily="34" charset="0"/>
              </a:rPr>
              <a:t>)</a:t>
            </a:r>
          </a:p>
          <a:p>
            <a:pPr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zh-CN" altLang="en-US" sz="28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应用场景：</a:t>
            </a:r>
            <a:r>
              <a:rPr lang="zh-CN" altLang="en-US" sz="2800" b="0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机器翻译，阅读理解，文本摘要，对话系统</a:t>
            </a:r>
          </a:p>
          <a:p>
            <a:pPr marL="0" indent="0">
              <a:buNone/>
            </a:pP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704D62-5896-307D-A5C7-F4F7C1BEE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7170" name="Picture 2" descr="在这里插入图片描述">
            <a:extLst>
              <a:ext uri="{FF2B5EF4-FFF2-40B4-BE49-F238E27FC236}">
                <a16:creationId xmlns:a16="http://schemas.microsoft.com/office/drawing/2014/main" id="{6EC62206-40CD-F227-0ACB-A15B3F39C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106" y="1296516"/>
            <a:ext cx="5056572" cy="279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416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A1026-AA38-7609-EE1B-B78ADEF8A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50" y="1066140"/>
            <a:ext cx="11029616" cy="1188720"/>
          </a:xfrm>
        </p:spPr>
        <p:txBody>
          <a:bodyPr>
            <a:normAutofit fontScale="90000"/>
          </a:bodyPr>
          <a:lstStyle/>
          <a:p>
            <a:r>
              <a:rPr lang="zh-CN" altLang="en-US" sz="4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传统 </a:t>
            </a:r>
            <a:r>
              <a:rPr lang="en-US" altLang="zh-CN" sz="4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RNN </a:t>
            </a:r>
            <a:r>
              <a:rPr lang="zh-CN" altLang="en-US" sz="4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的内部结构</a:t>
            </a:r>
            <a:br>
              <a:rPr lang="zh-CN" altLang="en-US" sz="44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</a:br>
            <a:r>
              <a:rPr lang="zh-CN" altLang="en-US" sz="3100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  <a:t>传统 </a:t>
            </a:r>
            <a:r>
              <a:rPr lang="en-US" altLang="zh-CN" sz="3100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  <a:t>RNN </a:t>
            </a:r>
            <a:r>
              <a:rPr lang="zh-CN" altLang="en-US" sz="3100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  <a:t>的内部结构图</a:t>
            </a:r>
            <a:br>
              <a:rPr lang="zh-CN" altLang="en-US" b="0" i="0" dirty="0">
                <a:solidFill>
                  <a:srgbClr val="2C3E50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31AE5D-D201-5069-17E1-2EA1F0BD3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8194" name="Picture 2" descr="在这里插入图片描述">
            <a:extLst>
              <a:ext uri="{FF2B5EF4-FFF2-40B4-BE49-F238E27FC236}">
                <a16:creationId xmlns:a16="http://schemas.microsoft.com/office/drawing/2014/main" id="{EE1F935B-D839-69DC-88F0-4C045A95B1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121" y="1993291"/>
            <a:ext cx="6218485" cy="242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EF882DE-2EEA-8F67-8064-C653950469A9}"/>
              </a:ext>
            </a:extLst>
          </p:cNvPr>
          <p:cNvSpPr txBox="1"/>
          <p:nvPr/>
        </p:nvSpPr>
        <p:spPr>
          <a:xfrm>
            <a:off x="956263" y="4564891"/>
            <a:ext cx="60945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zh-CN" altLang="en-US" sz="2000" b="1" i="0" dirty="0">
                <a:solidFill>
                  <a:srgbClr val="1A2980"/>
                </a:solidFill>
                <a:effectLst/>
                <a:latin typeface="Segoe UI" panose="020B0502040204020203" pitchFamily="34" charset="0"/>
              </a:rPr>
              <a:t>核心公式：</a:t>
            </a:r>
          </a:p>
          <a:p>
            <a:pPr algn="l">
              <a:buNone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在每个时间步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t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，隐藏状态的更新公式为：</a:t>
            </a:r>
          </a:p>
          <a:p>
            <a:pPr algn="l">
              <a:buNone/>
            </a:pPr>
            <a:endParaRPr lang="en-US" altLang="zh-CN" sz="2000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其中 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ht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是当前时间步的隐藏状态，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ht−1 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是上一时间步的隐藏状态，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xt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是当前输入，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Whh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和 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Wxh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是权重矩阵，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bh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是偏置项</a:t>
            </a:r>
          </a:p>
        </p:txBody>
      </p:sp>
      <p:pic>
        <p:nvPicPr>
          <p:cNvPr id="8196" name="Picture 4" descr="在这里插入图片描述">
            <a:extLst>
              <a:ext uri="{FF2B5EF4-FFF2-40B4-BE49-F238E27FC236}">
                <a16:creationId xmlns:a16="http://schemas.microsoft.com/office/drawing/2014/main" id="{31474DF3-69D0-C06F-DBF2-3C6362968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371" y="5347558"/>
            <a:ext cx="2676525" cy="23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642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461143-23D0-2159-0CF5-B91548857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8961"/>
            <a:ext cx="11029616" cy="1188720"/>
          </a:xfrm>
        </p:spPr>
        <p:txBody>
          <a:bodyPr/>
          <a:lstStyle/>
          <a:p>
            <a:r>
              <a:rPr lang="zh-CN" altLang="en-US" b="0" i="0" dirty="0">
                <a:effectLst/>
                <a:latin typeface="-apple-system"/>
              </a:rPr>
              <a:t>内部结构过程演示与分析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E5F8F-3023-ACF1-B3D1-2DC6E96B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415" y="3565982"/>
            <a:ext cx="11029615" cy="3634486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E74C3C"/>
                </a:solidFill>
                <a:effectLst/>
                <a:latin typeface="Roboto" panose="020F0502020204030204" pitchFamily="2" charset="0"/>
              </a:rPr>
              <a:t>核心：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当前输入 </a:t>
            </a:r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xt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 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与前一时刻隐藏状态 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ht−1 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拼接。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E74C3C"/>
                </a:solidFill>
                <a:effectLst/>
                <a:latin typeface="Roboto" panose="020F0502020204030204" pitchFamily="2" charset="0"/>
              </a:rPr>
              <a:t>计算：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通过全连接层（线性变换）和 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tanh 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激活函数。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E74C3C"/>
                </a:solidFill>
                <a:effectLst/>
                <a:latin typeface="Roboto" panose="020F0502020204030204" pitchFamily="2" charset="0"/>
              </a:rPr>
              <a:t>输出：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得到当前时刻的隐藏状态 </a:t>
            </a:r>
            <a:r>
              <a:rPr lang="en-US" altLang="zh-CN" sz="2400" b="0" i="0" dirty="0" err="1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ht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Roboto" panose="020F0502020204030204" pitchFamily="2" charset="0"/>
              </a:rPr>
              <a:t>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17A80-0060-B0E6-C55C-14C9283AE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9218" name="Picture 2" descr="在这里插入图片描述">
            <a:extLst>
              <a:ext uri="{FF2B5EF4-FFF2-40B4-BE49-F238E27FC236}">
                <a16:creationId xmlns:a16="http://schemas.microsoft.com/office/drawing/2014/main" id="{7ECB2A31-DAAF-4781-E6D8-BC0347CE5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833" y="1223086"/>
            <a:ext cx="7322853" cy="289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在这里插入图片描述">
            <a:extLst>
              <a:ext uri="{FF2B5EF4-FFF2-40B4-BE49-F238E27FC236}">
                <a16:creationId xmlns:a16="http://schemas.microsoft.com/office/drawing/2014/main" id="{45519668-9081-A466-6B5D-C35C85C99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604" y="3996550"/>
            <a:ext cx="4173007" cy="371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454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2AD1C-4729-24D7-9207-2FB15D02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i="0" dirty="0">
                <a:solidFill>
                  <a:srgbClr val="3498DB"/>
                </a:solidFill>
                <a:effectLst/>
                <a:latin typeface="Roboto" panose="02000000000000000000" pitchFamily="2" charset="0"/>
              </a:rPr>
              <a:t>激活函数：</a:t>
            </a:r>
            <a:r>
              <a:rPr lang="en-US" altLang="zh-CN" sz="3200" b="1" i="0" dirty="0">
                <a:solidFill>
                  <a:srgbClr val="3498DB"/>
                </a:solidFill>
                <a:effectLst/>
                <a:latin typeface="Roboto" panose="02000000000000000000" pitchFamily="2" charset="0"/>
              </a:rPr>
              <a:t>Tanh</a:t>
            </a:r>
            <a:r>
              <a:rPr lang="zh-CN" altLang="en-US" sz="3200" b="1" i="0" dirty="0">
                <a:solidFill>
                  <a:srgbClr val="3498DB"/>
                </a:solidFill>
                <a:effectLst/>
                <a:latin typeface="Roboto" panose="02000000000000000000" pitchFamily="2" charset="0"/>
              </a:rPr>
              <a:t>函数的作用</a:t>
            </a:r>
            <a:br>
              <a:rPr lang="zh-CN" altLang="en-US" sz="3200" b="1" i="0" dirty="0">
                <a:solidFill>
                  <a:srgbClr val="3498DB"/>
                </a:solidFill>
                <a:effectLst/>
                <a:latin typeface="Roboto" panose="02000000000000000000" pitchFamily="2" charset="0"/>
              </a:rPr>
            </a:br>
            <a:endParaRPr lang="zh-CN" altLang="en-US" sz="32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895434-DFA1-9369-A497-62B2B2193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637" y="3609529"/>
            <a:ext cx="11029615" cy="3634486"/>
          </a:xfrm>
        </p:spPr>
        <p:txBody>
          <a:bodyPr/>
          <a:lstStyle/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E74C3C"/>
                </a:solidFill>
                <a:effectLst/>
                <a:latin typeface="Roboto" panose="02000000000000000000" pitchFamily="2" charset="0"/>
              </a:rPr>
              <a:t>值域压缩：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将输入值压缩到 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[−1,1] 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之间。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E74C3C"/>
                </a:solidFill>
                <a:effectLst/>
                <a:latin typeface="Roboto" panose="02000000000000000000" pitchFamily="2" charset="0"/>
              </a:rPr>
              <a:t>非线性引入：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为网络引入非线性能力，使其能够学习复杂模式。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0" i="0" dirty="0">
                <a:solidFill>
                  <a:srgbClr val="E74C3C"/>
                </a:solidFill>
                <a:effectLst/>
                <a:latin typeface="Roboto" panose="02000000000000000000" pitchFamily="2" charset="0"/>
              </a:rPr>
              <a:t>梯度稳定：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相较于 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sigmoid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，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tanh 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的梯度在</a:t>
            </a:r>
            <a:r>
              <a:rPr lang="en-US" altLang="zh-CN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0</a:t>
            </a:r>
            <a:r>
              <a:rPr lang="zh-CN" altLang="en-US" sz="2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附近更大，有助于缓解梯度消失问题。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BC388-052B-71BD-27BD-73320C331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10242" name="Picture 2" descr="在这里插入图片描述">
            <a:extLst>
              <a:ext uri="{FF2B5EF4-FFF2-40B4-BE49-F238E27FC236}">
                <a16:creationId xmlns:a16="http://schemas.microsoft.com/office/drawing/2014/main" id="{39FB791E-E0E5-D120-080C-07D7F1484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017" y="1461331"/>
            <a:ext cx="5901631" cy="2331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837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2A12BC-A300-FC2D-2E8A-68135BE2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222761"/>
            <a:ext cx="11029616" cy="1188720"/>
          </a:xfrm>
        </p:spPr>
        <p:txBody>
          <a:bodyPr>
            <a:normAutofit/>
          </a:bodyPr>
          <a:lstStyle/>
          <a:p>
            <a:r>
              <a:rPr lang="en-US" altLang="zh-CN" sz="3600" b="0" i="0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PyTorch</a:t>
            </a:r>
            <a:r>
              <a:rPr lang="zh-CN" altLang="en-US" sz="3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中的传统</a:t>
            </a:r>
            <a:r>
              <a:rPr lang="en-US" altLang="zh-CN" sz="3600" b="0" i="0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RNN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8A6F84-DCA3-E587-C650-70F84542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6AE012-CE0A-0531-1353-47A7F2EF44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586099"/>
            <a:ext cx="5232523" cy="5144016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6506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498DB"/>
                </a:solidFill>
                <a:effectLst/>
                <a:latin typeface="Roboto" panose="02000000000000000000" pitchFamily="2" charset="0"/>
              </a:rPr>
              <a:t>torch.nn.RNN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E74C3C"/>
                </a:solidFill>
                <a:effectLst/>
                <a:latin typeface="Roboto" panose="02000000000000000000" pitchFamily="2" charset="0"/>
              </a:rPr>
              <a:t>位置：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torch.nn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 工具包。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E74C3C"/>
                </a:solidFill>
                <a:effectLst/>
                <a:latin typeface="Roboto" panose="02000000000000000000" pitchFamily="2" charset="0"/>
              </a:rPr>
              <a:t>调用方式：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torch.nn.RNN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rgbClr val="3498DB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498DB"/>
                </a:solidFill>
                <a:effectLst/>
                <a:latin typeface="Roboto" panose="02000000000000000000" pitchFamily="2" charset="0"/>
              </a:rPr>
              <a:t>初始化主要参数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input_size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: 输入特征维度。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hidden_size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: 隐藏层特征维度。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num_layers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: 隐藏层数量。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nonlinearity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: 激活函数 (默认为 tanh).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1" i="0" u="none" strike="noStrike" cap="none" normalizeH="0" baseline="0" dirty="0">
              <a:ln>
                <a:noFill/>
              </a:ln>
              <a:solidFill>
                <a:srgbClr val="3498DB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3498DB"/>
                </a:solidFill>
                <a:effectLst/>
                <a:latin typeface="Roboto" panose="02000000000000000000" pitchFamily="2" charset="0"/>
              </a:rPr>
              <a:t>实例化对象主要参数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input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: 输入张量。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 Unicode MS"/>
                <a:ea typeface="Source Code Pro" panose="020B0509030403020204" pitchFamily="49" charset="0"/>
              </a:rPr>
              <a:t>h0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: 初始隐藏状态张量。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7BC899-CA7D-BF8B-2060-7D0EF666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715" y="2732780"/>
            <a:ext cx="6378285" cy="311410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2F4D3FA-BADF-23CF-D890-5DAB4CDE1FD4}"/>
              </a:ext>
            </a:extLst>
          </p:cNvPr>
          <p:cNvSpPr txBox="1"/>
          <p:nvPr/>
        </p:nvSpPr>
        <p:spPr>
          <a:xfrm>
            <a:off x="5813715" y="1971084"/>
            <a:ext cx="6268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lang="zh-CN" altLang="en-US" sz="3600" b="1" i="0" dirty="0">
                <a:solidFill>
                  <a:srgbClr val="3498DB"/>
                </a:solidFill>
                <a:effectLst/>
                <a:latin typeface="Roboto" panose="02000000000000000000" pitchFamily="2" charset="0"/>
              </a:rPr>
              <a:t>使用示例</a:t>
            </a:r>
          </a:p>
        </p:txBody>
      </p:sp>
    </p:spTree>
    <p:extLst>
      <p:ext uri="{BB962C8B-B14F-4D97-AF65-F5344CB8AC3E}">
        <p14:creationId xmlns:p14="http://schemas.microsoft.com/office/powerpoint/2010/main" val="87849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6AEE8-7779-0FC7-C102-D2892DFB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传统</a:t>
            </a: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RNN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的局限性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5FFB36-D0DF-61E9-6C21-8344FCC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607" y="1757643"/>
            <a:ext cx="7497487" cy="4829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58283-FA2B-B722-3B4F-B53EDE70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0EB9D7-C992-3F47-E857-7E2B69623FC2}"/>
              </a:ext>
            </a:extLst>
          </p:cNvPr>
          <p:cNvSpPr txBox="1"/>
          <p:nvPr/>
        </p:nvSpPr>
        <p:spPr>
          <a:xfrm>
            <a:off x="5239805" y="2012735"/>
            <a:ext cx="3842051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缺点：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长序列关联性差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易发生梯度消失或爆炸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14C5172-AF46-E260-B8D1-237BB6BDDE4B}"/>
              </a:ext>
            </a:extLst>
          </p:cNvPr>
          <p:cNvSpPr txBox="1"/>
          <p:nvPr/>
        </p:nvSpPr>
        <p:spPr>
          <a:xfrm>
            <a:off x="1066310" y="4598910"/>
            <a:ext cx="609452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⚠️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梯度消失</a:t>
            </a: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爆炸</a:t>
            </a:r>
            <a:endParaRPr lang="zh-CN" altLang="en-US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反向传播时，过长序列导致梯度异常。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梯度消失：权重无法更新，训练失败。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梯度爆炸：参数大幅更新，结果溢出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(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NaN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560935-6E33-4B65-9E54-C29730AE603C}"/>
              </a:ext>
            </a:extLst>
          </p:cNvPr>
          <p:cNvSpPr txBox="1"/>
          <p:nvPr/>
        </p:nvSpPr>
        <p:spPr>
          <a:xfrm>
            <a:off x="1131608" y="1983633"/>
            <a:ext cx="6094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优点：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结构简单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计算资源需求低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参数量少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短序列任务表现优异</a:t>
            </a:r>
          </a:p>
        </p:txBody>
      </p:sp>
    </p:spTree>
    <p:extLst>
      <p:ext uri="{BB962C8B-B14F-4D97-AF65-F5344CB8AC3E}">
        <p14:creationId xmlns:p14="http://schemas.microsoft.com/office/powerpoint/2010/main" val="41574395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114E7-4798-6A7E-AAF8-CF7645A22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LSTM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：长短期记忆网络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C136F3-15AA-7CC1-34B5-BA5BC26FE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60124"/>
            <a:ext cx="11029615" cy="4315226"/>
          </a:xfrm>
        </p:spPr>
        <p:txBody>
          <a:bodyPr>
            <a:norm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zh-CN" altLang="en-US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🧠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 altLang="zh-CN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LSTM (Long Short-Term Memory)</a:t>
            </a:r>
            <a:endParaRPr lang="en-US" altLang="zh-CN" sz="2400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传统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RNN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的变体。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优势：有效捕捉长序列语义关联，缓解梯度消失</a:t>
            </a:r>
            <a:r>
              <a:rPr lang="en-US" altLang="zh-CN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/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爆炸。</a:t>
            </a:r>
          </a:p>
          <a:p>
            <a:pPr algn="l">
              <a:spcAft>
                <a:spcPts val="1125"/>
              </a:spcAft>
              <a:buNone/>
            </a:pPr>
            <a:r>
              <a:rPr lang="zh-CN" altLang="en-US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⚙️</a:t>
            </a:r>
            <a:r>
              <a:rPr lang="zh-CN" altLang="en-US" sz="24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核心：更复杂的结构，包含四个关键组件：</a:t>
            </a:r>
            <a:endParaRPr lang="zh-CN" altLang="en-US" sz="2400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zh-CN" altLang="en-US" sz="2400" b="0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🗑️</a:t>
            </a:r>
            <a:r>
              <a:rPr lang="zh-CN" altLang="en-US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遗忘门 </a:t>
            </a:r>
            <a:r>
              <a:rPr lang="en-US" altLang="zh-CN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(Forget Gate)                                     </a:t>
            </a:r>
            <a:r>
              <a:rPr lang="zh-CN" altLang="en-US" sz="2400" b="0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➕</a:t>
            </a:r>
            <a:r>
              <a:rPr lang="zh-CN" altLang="en-US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输入门 </a:t>
            </a:r>
            <a:r>
              <a:rPr lang="en-US" altLang="zh-CN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(Input Gate)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zh-CN" altLang="en-US" sz="2400" b="0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🔄</a:t>
            </a:r>
            <a:r>
              <a:rPr lang="zh-CN" altLang="en-US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细胞状态 </a:t>
            </a:r>
            <a:r>
              <a:rPr lang="en-US" altLang="zh-CN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(Cell State)</a:t>
            </a:r>
            <a:r>
              <a:rPr lang="en-US" altLang="zh-CN" sz="2400" dirty="0">
                <a:solidFill>
                  <a:srgbClr val="333333"/>
                </a:solidFill>
                <a:latin typeface="Segoe UI" panose="020B0502040204020203" pitchFamily="34" charset="0"/>
              </a:rPr>
              <a:t>                                      </a:t>
            </a:r>
            <a:r>
              <a:rPr lang="zh-CN" altLang="en-US" sz="2400" b="0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📤</a:t>
            </a:r>
            <a:r>
              <a:rPr lang="zh-CN" altLang="en-US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输出门 </a:t>
            </a:r>
            <a:r>
              <a:rPr lang="en-US" altLang="zh-CN" sz="24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(Output Gate)</a:t>
            </a:r>
            <a:endParaRPr lang="en-US" altLang="zh-CN" sz="2400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E38590-5CA4-F210-200F-4DC63364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03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8BA4E-0256-4F59-CCEC-3E2F5BE68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LSTM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结构概览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CDA7A5-FA3B-D6AD-E315-C87E99278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12290" name="Picture 2" descr="在这里插入图片描述">
            <a:extLst>
              <a:ext uri="{FF2B5EF4-FFF2-40B4-BE49-F238E27FC236}">
                <a16:creationId xmlns:a16="http://schemas.microsoft.com/office/drawing/2014/main" id="{F53EE3F3-F6C4-4928-D540-E83C61F547F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417" y="1700728"/>
            <a:ext cx="676275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4E753430-A320-7F07-2E01-6ECE0D355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1430" y="5060642"/>
            <a:ext cx="501015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501B0B-8093-1071-BDFA-E408F3868162}"/>
              </a:ext>
            </a:extLst>
          </p:cNvPr>
          <p:cNvSpPr txBox="1"/>
          <p:nvPr/>
        </p:nvSpPr>
        <p:spPr>
          <a:xfrm>
            <a:off x="694677" y="4535570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1800"/>
              </a:spcAft>
            </a:pPr>
            <a:r>
              <a:rPr lang="zh-CN" altLang="en-US" b="0" i="0" dirty="0">
                <a:effectLst/>
                <a:latin typeface="-apple-system"/>
              </a:rPr>
              <a:t>结构解释图</a:t>
            </a:r>
            <a:r>
              <a:rPr lang="en-US" altLang="zh-CN" b="0" i="0" dirty="0">
                <a:effectLst/>
                <a:latin typeface="-apple-system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82809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2A9D8-F8FB-A391-5BF3-74A27298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遗忘门：决定遗忘多少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F216FB-1DE9-62D7-53AA-0B373E6E2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66" y="757233"/>
            <a:ext cx="11029615" cy="3634486"/>
          </a:xfrm>
        </p:spPr>
        <p:txBody>
          <a:bodyPr/>
          <a:lstStyle/>
          <a:p>
            <a:pPr algn="l">
              <a:buNone/>
            </a:pP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🗑️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遗忘门 </a:t>
            </a: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(Forget Gate)</a:t>
            </a:r>
            <a:endParaRPr lang="zh-CN" altLang="en-US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决定上一时刻细胞状态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Ct−1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中哪些信息需要保留，哪些需要丢弃。</a:t>
            </a:r>
            <a:endParaRPr lang="en-US" altLang="zh-CN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8216B3-DBB1-307A-1AE4-2E2D3CB54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13314" name="Picture 2" descr="在这里插入图片描述">
            <a:extLst>
              <a:ext uri="{FF2B5EF4-FFF2-40B4-BE49-F238E27FC236}">
                <a16:creationId xmlns:a16="http://schemas.microsoft.com/office/drawing/2014/main" id="{FC07F233-7BEF-66E4-4458-8986397C8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39" y="2574476"/>
            <a:ext cx="647700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99FA4FD-2DBA-BD5C-8690-8A2BE149E129}"/>
              </a:ext>
            </a:extLst>
          </p:cNvPr>
          <p:cNvSpPr txBox="1"/>
          <p:nvPr/>
        </p:nvSpPr>
        <p:spPr>
          <a:xfrm>
            <a:off x="7403490" y="2791805"/>
            <a:ext cx="60945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ft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：遗忘门的输出值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(0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之间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σ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激活函数。</a:t>
            </a:r>
          </a:p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 err="1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Wf,bf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：遗忘门的权重和偏置。</a:t>
            </a:r>
          </a:p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ht−1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：上一时刻的隐藏状态。</a:t>
            </a:r>
          </a:p>
          <a:p>
            <a:pPr algn="l">
              <a:spcBef>
                <a:spcPts val="375"/>
              </a:spcBef>
              <a:spcAft>
                <a:spcPts val="375"/>
              </a:spcAft>
            </a:pPr>
            <a:r>
              <a:rPr lang="en-US" altLang="zh-CN" b="1" i="0" dirty="0" err="1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xt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：当前时刻的输入。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586E6D-F124-5893-B8FA-DF51575FBE4C}"/>
              </a:ext>
            </a:extLst>
          </p:cNvPr>
          <p:cNvSpPr txBox="1"/>
          <p:nvPr/>
        </p:nvSpPr>
        <p:spPr>
          <a:xfrm>
            <a:off x="852255" y="5228542"/>
            <a:ext cx="67471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作用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：根据当前输入 </a:t>
            </a:r>
            <a:r>
              <a:rPr lang="en-US" altLang="zh-CN" dirty="0" err="1"/>
              <a:t>xt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和上一时刻隐藏状态 </a:t>
            </a:r>
            <a:r>
              <a:rPr lang="en-US" altLang="zh-CN" dirty="0"/>
              <a:t>ht−1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来决定遗忘多少上一层的细胞状态所携带的过往信息。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1542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1F2F9-162B-71FA-47D1-C3938C27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19" y="1263604"/>
            <a:ext cx="11029616" cy="1188720"/>
          </a:xfrm>
        </p:spPr>
        <p:txBody>
          <a:bodyPr>
            <a:normAutofit fontScale="90000"/>
          </a:bodyPr>
          <a:lstStyle/>
          <a:p>
            <a:pPr algn="l">
              <a:buNone/>
            </a:pPr>
            <a:r>
              <a:rPr lang="en-US" altLang="zh-CN" sz="31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Sigmoid</a:t>
            </a:r>
            <a:r>
              <a:rPr lang="zh-CN" altLang="en-US" sz="31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激活函数</a:t>
            </a:r>
            <a:b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</a:b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作用：将输入值压缩到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和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1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之间。</a:t>
            </a:r>
            <a:b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</a:b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F7F3FA-4ABC-55D8-31B7-6E20E74F3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14338" name="Picture 2" descr="在这里插入图片描述">
            <a:extLst>
              <a:ext uri="{FF2B5EF4-FFF2-40B4-BE49-F238E27FC236}">
                <a16:creationId xmlns:a16="http://schemas.microsoft.com/office/drawing/2014/main" id="{7AD032F9-35BD-0482-8ACF-E3A8FC3A1E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949" y="1623577"/>
            <a:ext cx="6207124" cy="245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4F99F3B-225B-83AF-7454-32DCCA79D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08" y="2136834"/>
            <a:ext cx="2562583" cy="9526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2026218-6126-7B1F-EC91-2CE73422C8F2}"/>
              </a:ext>
            </a:extLst>
          </p:cNvPr>
          <p:cNvSpPr txBox="1"/>
          <p:nvPr/>
        </p:nvSpPr>
        <p:spPr>
          <a:xfrm>
            <a:off x="701964" y="3283856"/>
            <a:ext cx="6096000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特点：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输出值范围：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(0,1)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平滑可导，适合用于门控机制。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C9A91EE-22BC-85CA-CD58-7E421CE0A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82156"/>
              </p:ext>
            </p:extLst>
          </p:nvPr>
        </p:nvGraphicFramePr>
        <p:xfrm>
          <a:off x="2858460" y="4904931"/>
          <a:ext cx="5334000" cy="167640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401182338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08214028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6165257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rgbClr val="1A5FB4"/>
                          </a:solidFill>
                          <a:effectLst/>
                          <a:latin typeface="Segoe UI" panose="020B0502040204020203" pitchFamily="34" charset="0"/>
                        </a:rPr>
                        <a:t>函数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rgbClr val="1A5FB4"/>
                          </a:solidFill>
                          <a:effectLst/>
                          <a:latin typeface="Segoe UI" panose="020B0502040204020203" pitchFamily="34" charset="0"/>
                        </a:rPr>
                        <a:t>输出范围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>
                          <a:solidFill>
                            <a:srgbClr val="1A5FB4"/>
                          </a:solidFill>
                          <a:effectLst/>
                          <a:latin typeface="Segoe UI" panose="020B0502040204020203" pitchFamily="34" charset="0"/>
                        </a:rPr>
                        <a:t>特点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923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Segoe UI" panose="020B0502040204020203" pitchFamily="34" charset="0"/>
                        </a:rPr>
                        <a:t>Tanh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Segoe UI" panose="020B0502040204020203" pitchFamily="34" charset="0"/>
                        </a:rPr>
                        <a:t>(−1,1)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effectLst/>
                          <a:latin typeface="Segoe UI" panose="020B0502040204020203" pitchFamily="34" charset="0"/>
                        </a:rPr>
                        <a:t>中心对称，零均值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470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  <a:latin typeface="Segoe UI" panose="020B0502040204020203" pitchFamily="34" charset="0"/>
                        </a:rPr>
                        <a:t>Sigmoid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effectLst/>
                          <a:latin typeface="Segoe UI" panose="020B0502040204020203" pitchFamily="34" charset="0"/>
                        </a:rPr>
                        <a:t>(0,1)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effectLst/>
                          <a:latin typeface="Segoe UI" panose="020B0502040204020203" pitchFamily="34" charset="0"/>
                        </a:rPr>
                        <a:t>非零均值，适合概率解释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97919"/>
                  </a:ext>
                </a:extLst>
              </a:tr>
            </a:tbl>
          </a:graphicData>
        </a:graphic>
      </p:graphicFrame>
      <p:sp>
        <p:nvSpPr>
          <p:cNvPr id="12" name="Rectangle 3">
            <a:extLst>
              <a:ext uri="{FF2B5EF4-FFF2-40B4-BE49-F238E27FC236}">
                <a16:creationId xmlns:a16="http://schemas.microsoft.com/office/drawing/2014/main" id="{45A8A2F8-3D93-740B-861C-1B3260FCC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135" y="4957715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0C996D-E39C-3AD9-173E-4060FD8A0920}"/>
              </a:ext>
            </a:extLst>
          </p:cNvPr>
          <p:cNvSpPr txBox="1"/>
          <p:nvPr/>
        </p:nvSpPr>
        <p:spPr>
          <a:xfrm>
            <a:off x="701964" y="4422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与Tanh的区别</a:t>
            </a:r>
            <a:endParaRPr kumimoji="0" lang="zh-CN" altLang="zh-CN" sz="18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209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C4751-0728-8EBF-6A30-B3A907FE6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输入门：决定添加多少新信息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0BBD3-7917-B185-3F97-185234DBE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95003"/>
            <a:ext cx="11029615" cy="3634486"/>
          </a:xfrm>
        </p:spPr>
        <p:txBody>
          <a:bodyPr>
            <a:normAutofit fontScale="25000" lnSpcReduction="20000"/>
          </a:bodyPr>
          <a:lstStyle/>
          <a:p>
            <a:pPr algn="l">
              <a:spcAft>
                <a:spcPts val="1125"/>
              </a:spcAft>
              <a:buNone/>
            </a:pPr>
            <a:r>
              <a:rPr lang="zh-CN" altLang="en-US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➕</a:t>
            </a:r>
            <a:r>
              <a:rPr lang="zh-CN" altLang="en-US" sz="80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输入门 </a:t>
            </a:r>
            <a:r>
              <a:rPr lang="en-US" altLang="zh-CN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(Input Gate)</a:t>
            </a:r>
            <a:endParaRPr lang="zh-CN" altLang="en-US" sz="8000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1125"/>
              </a:spcAft>
              <a:buNone/>
            </a:pPr>
            <a:r>
              <a:rPr lang="zh-CN" altLang="en-US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决定当前输入 </a:t>
            </a:r>
            <a:r>
              <a:rPr lang="en-US" altLang="zh-CN" sz="8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xt</a:t>
            </a:r>
            <a:r>
              <a:rPr lang="en-US" altLang="zh-CN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中哪些信息需要被添加到细胞状态中。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altLang="zh-CN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1. </a:t>
            </a:r>
            <a:r>
              <a:rPr lang="zh-CN" altLang="en-US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门值 </a:t>
            </a:r>
            <a:r>
              <a:rPr lang="en-US" altLang="zh-CN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it</a:t>
            </a:r>
            <a:r>
              <a:rPr lang="zh-CN" altLang="en-US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：决定新信息的过滤程度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altLang="zh-CN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it=σ(Wi⋅[ht−1,xt]+bi)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altLang="zh-CN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2. </a:t>
            </a:r>
            <a:r>
              <a:rPr lang="zh-CN" altLang="en-US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候选值 </a:t>
            </a:r>
            <a:r>
              <a:rPr lang="en-US" altLang="zh-CN" sz="8000" b="1" i="0" dirty="0" err="1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C~t</a:t>
            </a:r>
            <a:r>
              <a:rPr lang="zh-CN" altLang="en-US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：新信息的潜在候选值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altLang="zh-CN" sz="8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C~t</a:t>
            </a:r>
            <a:r>
              <a:rPr lang="en-US" altLang="zh-CN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=tanh⁡(WC⋅[ht−1,xt]+</a:t>
            </a:r>
            <a:r>
              <a:rPr lang="en-US" altLang="zh-CN" sz="8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bC</a:t>
            </a:r>
            <a:r>
              <a:rPr lang="en-US" altLang="zh-CN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)</a:t>
            </a:r>
          </a:p>
          <a:p>
            <a:pPr algn="l">
              <a:spcAft>
                <a:spcPts val="1125"/>
              </a:spcAft>
              <a:buNone/>
            </a:pPr>
            <a:r>
              <a:rPr lang="zh-CN" altLang="en-US" sz="80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作用</a:t>
            </a:r>
            <a:r>
              <a:rPr lang="zh-CN" altLang="en-US" sz="80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：过滤并准备新的信息，以更新细胞状态。</a:t>
            </a:r>
            <a:r>
              <a:rPr lang="en-US" altLang="zh-CN" sz="8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1</a:t>
            </a:r>
          </a:p>
          <a:p>
            <a:pPr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zh-CN" altLang="en-US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计算输入门 </a:t>
            </a:r>
            <a:r>
              <a:rPr lang="en-US" altLang="zh-CN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it</a:t>
            </a:r>
            <a:r>
              <a:rPr lang="zh-CN" altLang="en-US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，决定哪些新信息可以被添加</a:t>
            </a:r>
            <a:r>
              <a:rPr lang="en-US" altLang="zh-CN" sz="8000" b="1" i="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2</a:t>
            </a:r>
          </a:p>
          <a:p>
            <a:pPr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zh-CN" altLang="en-US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计算候选值 </a:t>
            </a:r>
            <a:r>
              <a:rPr lang="en-US" altLang="zh-CN" sz="8000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C~t</a:t>
            </a:r>
            <a:r>
              <a:rPr lang="zh-CN" altLang="en-US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，表示潜在的新信息</a:t>
            </a:r>
          </a:p>
          <a:p>
            <a:pPr algn="l">
              <a:spcBef>
                <a:spcPts val="1125"/>
              </a:spcBef>
              <a:spcAft>
                <a:spcPts val="750"/>
              </a:spcAft>
              <a:buNone/>
            </a:pPr>
            <a:r>
              <a:rPr lang="zh-CN" altLang="en-US" sz="80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将两者结合，更新细胞状态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59618B-3717-F6DE-25E3-496CFAA96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15364" name="Picture 4" descr="在这里插入图片描述">
            <a:extLst>
              <a:ext uri="{FF2B5EF4-FFF2-40B4-BE49-F238E27FC236}">
                <a16:creationId xmlns:a16="http://schemas.microsoft.com/office/drawing/2014/main" id="{F63CAB8F-3B13-D5E1-FD0D-21626BAE1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832" y="2533796"/>
            <a:ext cx="5955313" cy="1865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7744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E2CDA-46BD-5C2B-C745-03B00028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细胞状态更新：融合旧信息与新信息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51F144-C6B5-D078-DB99-D965BF8E9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214" y="478948"/>
            <a:ext cx="11029615" cy="3634486"/>
          </a:xfrm>
        </p:spPr>
        <p:txBody>
          <a:bodyPr/>
          <a:lstStyle/>
          <a:p>
            <a:pPr algn="l">
              <a:buNone/>
            </a:pP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细胞状态更新 </a:t>
            </a: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(Cell State Update)</a:t>
            </a:r>
            <a:endParaRPr lang="zh-CN" altLang="en-US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结合遗忘门和输入门的结果，更新细胞状态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7CC0CF-1F71-FCA3-06B4-FFE34C9F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16386" name="Picture 2" descr="在这里插入图片描述">
            <a:extLst>
              <a:ext uri="{FF2B5EF4-FFF2-40B4-BE49-F238E27FC236}">
                <a16:creationId xmlns:a16="http://schemas.microsoft.com/office/drawing/2014/main" id="{E5130E6E-A59F-F985-FF13-C8D6C38CB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400073"/>
            <a:ext cx="59340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70DF81-6F6B-0B77-E6E6-CA29340E43DC}"/>
              </a:ext>
            </a:extLst>
          </p:cNvPr>
          <p:cNvSpPr txBox="1"/>
          <p:nvPr/>
        </p:nvSpPr>
        <p:spPr>
          <a:xfrm>
            <a:off x="6657310" y="2560015"/>
            <a:ext cx="60945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Ct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当前时刻的细胞状态</a:t>
            </a:r>
          </a:p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ft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遗忘门的输出</a:t>
            </a:r>
          </a:p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Ct−1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上一时刻的细胞状态</a:t>
            </a:r>
          </a:p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it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输入门的输出</a:t>
            </a:r>
          </a:p>
          <a:p>
            <a:pPr algn="l">
              <a:spcBef>
                <a:spcPts val="375"/>
              </a:spcBef>
              <a:spcAft>
                <a:spcPts val="375"/>
              </a:spcAft>
            </a:pPr>
            <a:r>
              <a:rPr lang="en-US" altLang="zh-CN" b="1" i="0" dirty="0" err="1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C~t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候选值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0F78ED-D79E-03ED-2DCC-B9A9E5154147}"/>
              </a:ext>
            </a:extLst>
          </p:cNvPr>
          <p:cNvSpPr txBox="1"/>
          <p:nvPr/>
        </p:nvSpPr>
        <p:spPr>
          <a:xfrm>
            <a:off x="803429" y="4770013"/>
            <a:ext cx="6383044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过程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</a:t>
            </a:r>
            <a:endParaRPr lang="en-US" altLang="zh-CN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500"/>
              </a:spcBef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保留部分旧信息：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ft∗Ct−1</a:t>
            </a:r>
            <a:endParaRPr lang="en-US" altLang="zh-CN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500"/>
              </a:spcBef>
              <a:spcAft>
                <a:spcPts val="75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加入部分新信息：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it∗C~t</a:t>
            </a:r>
            <a:endParaRPr lang="en-US" altLang="zh-CN" b="1" i="0" dirty="0">
              <a:solidFill>
                <a:srgbClr val="FFFFFF"/>
              </a:solidFill>
              <a:effectLst/>
              <a:latin typeface="Segoe UI" panose="020B0502040204020203" pitchFamily="34" charset="0"/>
            </a:endParaRPr>
          </a:p>
          <a:p>
            <a:pPr algn="l">
              <a:spcBef>
                <a:spcPts val="1500"/>
              </a:spcBef>
              <a:spcAft>
                <a:spcPts val="750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相加得到新的细胞状态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Ct</a:t>
            </a:r>
          </a:p>
        </p:txBody>
      </p:sp>
    </p:spTree>
    <p:extLst>
      <p:ext uri="{BB962C8B-B14F-4D97-AF65-F5344CB8AC3E}">
        <p14:creationId xmlns:p14="http://schemas.microsoft.com/office/powerpoint/2010/main" val="916214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45A1D9-1198-F7CA-EB68-208254B6F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35826"/>
            <a:ext cx="11029616" cy="1188720"/>
          </a:xfrm>
        </p:spPr>
        <p:txBody>
          <a:bodyPr/>
          <a:lstStyle/>
          <a:p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输出门：决定输出多少信息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27196-4686-B188-4188-F4A97E529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501" y="491621"/>
            <a:ext cx="11029615" cy="3634486"/>
          </a:xfrm>
        </p:spPr>
        <p:txBody>
          <a:bodyPr/>
          <a:lstStyle/>
          <a:p>
            <a:pPr algn="l">
              <a:buNone/>
            </a:pP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📤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输出门 </a:t>
            </a: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(Output Gate)</a:t>
            </a:r>
            <a:endParaRPr lang="zh-CN" altLang="en-US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决定当前细胞状态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Ct 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中哪些信息需要输出到隐藏状态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1. 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门值 </a:t>
            </a:r>
            <a:r>
              <a:rPr lang="en-US" altLang="zh-CN" b="1" i="0" dirty="0" err="1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ot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：决定输出信息的过滤程度</a:t>
            </a:r>
          </a:p>
          <a:p>
            <a:pPr marL="0" indent="0" algn="l">
              <a:spcBef>
                <a:spcPts val="750"/>
              </a:spcBef>
              <a:spcAft>
                <a:spcPts val="600"/>
              </a:spcAft>
              <a:buNone/>
            </a:pP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2. 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隐藏状态 </a:t>
            </a:r>
            <a:r>
              <a:rPr lang="en-US" altLang="zh-CN" b="1" i="0" dirty="0" err="1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ht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：最终输出的隐藏状态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E7D7A9-0FF0-7C92-E200-E9BD3481D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pic>
        <p:nvPicPr>
          <p:cNvPr id="17410" name="Picture 2" descr="在这里插入图片描述">
            <a:extLst>
              <a:ext uri="{FF2B5EF4-FFF2-40B4-BE49-F238E27FC236}">
                <a16:creationId xmlns:a16="http://schemas.microsoft.com/office/drawing/2014/main" id="{8F3AACF5-01ED-501A-0DF5-5A4B98F99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601" y="2699245"/>
            <a:ext cx="6362700" cy="208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3CCD6C8-3BF3-BBC0-2A54-3900EAB33EBF}"/>
              </a:ext>
            </a:extLst>
          </p:cNvPr>
          <p:cNvSpPr txBox="1"/>
          <p:nvPr/>
        </p:nvSpPr>
        <p:spPr>
          <a:xfrm>
            <a:off x="832541" y="4785220"/>
            <a:ext cx="609452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细胞状态 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Ct</a:t>
            </a:r>
            <a:r>
              <a:rPr lang="zh-CN" altLang="en-US" b="0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→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输出门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ot</a:t>
            </a:r>
            <a:r>
              <a:rPr lang="zh-CN" altLang="en-US" b="0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→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隐藏状态 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ht</a:t>
            </a:r>
            <a:endParaRPr lang="en-US" altLang="zh-CN" b="0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1125"/>
              </a:spcAft>
              <a:buNone/>
            </a:pP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作用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：根据当前细胞状态和输入，决定输出哪些信息作为隐藏状态。</a:t>
            </a:r>
          </a:p>
          <a:p>
            <a:pPr algn="l">
              <a:spcAft>
                <a:spcPts val="1125"/>
              </a:spcAft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输出门与经过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tanh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激活的细胞状态相乘，确保输出值在合理范围内。</a:t>
            </a:r>
          </a:p>
        </p:txBody>
      </p:sp>
    </p:spTree>
    <p:extLst>
      <p:ext uri="{BB962C8B-B14F-4D97-AF65-F5344CB8AC3E}">
        <p14:creationId xmlns:p14="http://schemas.microsoft.com/office/powerpoint/2010/main" val="1463597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85650-54BC-D476-F5CF-C6C2DF8E3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83" y="351174"/>
            <a:ext cx="11029616" cy="1188720"/>
          </a:xfrm>
        </p:spPr>
        <p:txBody>
          <a:bodyPr/>
          <a:lstStyle/>
          <a:p>
            <a:r>
              <a:rPr lang="en-US" altLang="zh-CN" b="1" i="0" dirty="0" err="1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PyTorch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中的</a:t>
            </a:r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LSTM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工具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B0A56-D6F6-0860-7AA1-D69E3E51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FBB2D2-8DB7-4CF6-DD2C-F9388AC111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883" y="1826719"/>
            <a:ext cx="4756110" cy="397031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🐍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PyTorch 中 LSTM 工具的使用</a:t>
            </a:r>
            <a:endParaRPr kumimoji="0" lang="zh-CN" altLang="zh-CN" sz="2000" b="1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位置：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torch.nn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工具包。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调用：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torch.nn.LSTM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input_size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输入张量 x 中特征维度的大小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hidden_size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隐层张量 h 中特征维度的大小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num_layers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隐含层的数量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bidirectional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是否选择使用双向LSTM 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1A5FB4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nn.LSTM 类实例化对象主要参数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output, (h_n, c_n) = lstm(input, (h_0, c_0))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input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：输入张量 x。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h_0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：初始化的隐层张量 h。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cs typeface="Segoe UI" panose="020B0502040204020203" pitchFamily="34" charset="0"/>
              </a:rPr>
              <a:t>c_0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：初始化的细胞状态张量 c。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E3E9E1E-9556-645D-0CDF-0E650DAF7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797" y="856387"/>
            <a:ext cx="7022203" cy="514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2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321F2-8912-40F9-6421-A54303D1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LSTM</a:t>
            </a:r>
            <a: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的优势与缺点</a:t>
            </a:r>
            <a:br>
              <a:rPr lang="zh-CN" altLang="en-US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926F1-7E3D-FD4E-6AE6-101378D27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75" y="1736421"/>
            <a:ext cx="11696625" cy="4841949"/>
          </a:xfrm>
        </p:spPr>
        <p:txBody>
          <a:bodyPr>
            <a:normAutofit fontScale="85000" lnSpcReduction="20000"/>
          </a:bodyPr>
          <a:lstStyle/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zh-CN" altLang="en-US" sz="2600" b="1" i="0" dirty="0">
                <a:solidFill>
                  <a:srgbClr val="4CAF50"/>
                </a:solidFill>
                <a:effectLst/>
                <a:latin typeface="Segoe UI" panose="020B0502040204020203" pitchFamily="34" charset="0"/>
              </a:rPr>
              <a:t>✅</a:t>
            </a:r>
            <a:r>
              <a:rPr lang="en-US" altLang="zh-CN" sz="2600" b="1" i="0" dirty="0">
                <a:solidFill>
                  <a:srgbClr val="4CAF50"/>
                </a:solidFill>
                <a:effectLst/>
                <a:latin typeface="Segoe UI" panose="020B0502040204020203" pitchFamily="34" charset="0"/>
              </a:rPr>
              <a:t>LSTM </a:t>
            </a:r>
            <a:r>
              <a:rPr lang="zh-CN" altLang="en-US" sz="2600" b="1" i="0" dirty="0">
                <a:solidFill>
                  <a:srgbClr val="4CAF50"/>
                </a:solidFill>
                <a:effectLst/>
                <a:latin typeface="Segoe UI" panose="020B0502040204020203" pitchFamily="34" charset="0"/>
              </a:rPr>
              <a:t>优势</a:t>
            </a:r>
          </a:p>
          <a:p>
            <a:pPr algn="l"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altLang="zh-CN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LSTM </a:t>
            </a:r>
            <a:r>
              <a:rPr lang="zh-CN" altLang="en-US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的门结构能够有效减缓长序列问题中可能出现的梯度消失或爆炸。</a:t>
            </a:r>
          </a:p>
          <a:p>
            <a:pPr algn="l"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在更长的序列问题上表现优于传统 </a:t>
            </a:r>
            <a:r>
              <a:rPr lang="en-US" altLang="zh-CN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RNN</a:t>
            </a:r>
            <a:r>
              <a:rPr lang="zh-CN" altLang="en-US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。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None/>
            </a:pPr>
            <a:r>
              <a:rPr lang="zh-CN" altLang="en-US" sz="2600" b="1" i="0" dirty="0">
                <a:solidFill>
                  <a:srgbClr val="F44336"/>
                </a:solidFill>
                <a:effectLst/>
                <a:latin typeface="Segoe UI" panose="020B0502040204020203" pitchFamily="34" charset="0"/>
              </a:rPr>
              <a:t>⚠️</a:t>
            </a:r>
            <a:r>
              <a:rPr lang="en-US" altLang="zh-CN" sz="2600" b="1" i="0" dirty="0">
                <a:solidFill>
                  <a:srgbClr val="F44336"/>
                </a:solidFill>
                <a:effectLst/>
                <a:latin typeface="Segoe UI" panose="020B0502040204020203" pitchFamily="34" charset="0"/>
              </a:rPr>
              <a:t>LSTM </a:t>
            </a:r>
            <a:r>
              <a:rPr lang="zh-CN" altLang="en-US" sz="2600" b="1" i="0" dirty="0">
                <a:solidFill>
                  <a:srgbClr val="F44336"/>
                </a:solidFill>
                <a:effectLst/>
                <a:latin typeface="Segoe UI" panose="020B0502040204020203" pitchFamily="34" charset="0"/>
              </a:rPr>
              <a:t>缺点</a:t>
            </a:r>
          </a:p>
          <a:p>
            <a:pPr algn="l">
              <a:spcBef>
                <a:spcPts val="150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zh-CN" altLang="en-US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由于内部结构相对较复杂，因此训练效率在同等算力下较传统 </a:t>
            </a:r>
            <a:r>
              <a:rPr lang="en-US" altLang="zh-CN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RNN </a:t>
            </a:r>
            <a:r>
              <a:rPr lang="zh-CN" altLang="en-US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低很多。</a:t>
            </a:r>
          </a:p>
          <a:p>
            <a:pPr algn="l">
              <a:spcAft>
                <a:spcPts val="1125"/>
              </a:spcAft>
              <a:buNone/>
            </a:pPr>
            <a:r>
              <a:rPr lang="zh-CN" altLang="en-US" sz="26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🧠</a:t>
            </a:r>
            <a:r>
              <a:rPr lang="zh-CN" altLang="en-US" sz="2600" b="1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zh-CN" altLang="en-US" sz="2600" b="1" i="0" dirty="0">
                <a:solidFill>
                  <a:srgbClr val="1A5FB4"/>
                </a:solidFill>
                <a:effectLst/>
                <a:latin typeface="Segoe UI" panose="020B0502040204020203" pitchFamily="34" charset="0"/>
              </a:rPr>
              <a:t>总结</a:t>
            </a:r>
            <a:endParaRPr lang="zh-CN" altLang="en-US" sz="2600" b="1" i="0" dirty="0">
              <a:solidFill>
                <a:srgbClr val="333333"/>
              </a:solidFill>
              <a:effectLst/>
              <a:latin typeface="Segoe UI" panose="020B0502040204020203" pitchFamily="34" charset="0"/>
            </a:endParaRPr>
          </a:p>
          <a:p>
            <a:pPr algn="l">
              <a:spcAft>
                <a:spcPts val="1125"/>
              </a:spcAft>
            </a:pPr>
            <a:r>
              <a:rPr lang="en-US" altLang="zh-CN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LSTM</a:t>
            </a:r>
            <a:r>
              <a:rPr lang="zh-CN" altLang="en-US" sz="2600" b="0" i="0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通过其独特的门控机制，在处理长序列数据时表现出色，能够有效缓解梯度消失和梯度爆炸问题，从而捕捉到更长距离的依赖关系。然而，这种复杂性也带来了计算成本的增加，使得训练时间相对较长。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40568-9C0D-2564-0106-39CE438A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4FFC25-0C05-49C8-B150-3CF6B89B5C55}" type="datetime1">
              <a:rPr lang="zh-CN" altLang="en-US" smtClean="0"/>
              <a:t>2025/5/8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1425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3_TF33552983.potx" id="{E785B998-EA1E-435A-BC09-53167714146B}" vid="{39930FD0-D29E-42B6-87EA-7A1632EF1DF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{AC104318-363C-4165-B880-C4B8A9636ED3}tf33552983_win32</Template>
  <TotalTime>88</TotalTime>
  <Words>1589</Words>
  <Application>Microsoft Office PowerPoint</Application>
  <PresentationFormat>宽屏</PresentationFormat>
  <Paragraphs>196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-apple-system</vt:lpstr>
      <vt:lpstr>Arial Unicode MS</vt:lpstr>
      <vt:lpstr>Microsoft YaHei UI</vt:lpstr>
      <vt:lpstr>Arial</vt:lpstr>
      <vt:lpstr>Calibri</vt:lpstr>
      <vt:lpstr>Consolas</vt:lpstr>
      <vt:lpstr>Roboto</vt:lpstr>
      <vt:lpstr>Segoe UI</vt:lpstr>
      <vt:lpstr>Wingdings 2</vt:lpstr>
      <vt:lpstr>DividendVTI</vt:lpstr>
      <vt:lpstr>什么是 RNN 模型 RNN (Recurrent Neural Network) </vt:lpstr>
      <vt:lpstr>  RNN 的循环机制</vt:lpstr>
      <vt:lpstr> RNN 模型的作用 </vt:lpstr>
      <vt:lpstr>用户意图识别示例 </vt:lpstr>
      <vt:lpstr>RNN 模型的分类 </vt:lpstr>
      <vt:lpstr>N vs N - RNN </vt:lpstr>
      <vt:lpstr>N vs 1 - RNN </vt:lpstr>
      <vt:lpstr>1 vs N - RNN </vt:lpstr>
      <vt:lpstr>N vs M - RNN </vt:lpstr>
      <vt:lpstr>传统 RNN 的内部结构 传统 RNN 的内部结构图 </vt:lpstr>
      <vt:lpstr>内部结构过程演示与分析</vt:lpstr>
      <vt:lpstr>激活函数：Tanh函数的作用 </vt:lpstr>
      <vt:lpstr>PyTorch中的传统RNN</vt:lpstr>
      <vt:lpstr>传统RNN的局限性 </vt:lpstr>
      <vt:lpstr>LSTM：长短期记忆网络 </vt:lpstr>
      <vt:lpstr>LSTM结构概览 </vt:lpstr>
      <vt:lpstr>遗忘门：决定遗忘多少 </vt:lpstr>
      <vt:lpstr>Sigmoid激活函数 作用：将输入值压缩到 0 和 1 之间。  </vt:lpstr>
      <vt:lpstr>输入门：决定添加多少新信息 </vt:lpstr>
      <vt:lpstr>细胞状态更新：融合旧信息与新信息 </vt:lpstr>
      <vt:lpstr>输出门：决定输出多少信息 </vt:lpstr>
      <vt:lpstr>PyTorch中的LSTM工具 </vt:lpstr>
      <vt:lpstr>LSTM的优势与缺点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jianwei hu</dc:creator>
  <cp:lastModifiedBy>jianwei hu</cp:lastModifiedBy>
  <cp:revision>1</cp:revision>
  <dcterms:created xsi:type="dcterms:W3CDTF">2025-05-08T11:14:04Z</dcterms:created>
  <dcterms:modified xsi:type="dcterms:W3CDTF">2025-05-08T12:42:36Z</dcterms:modified>
</cp:coreProperties>
</file>