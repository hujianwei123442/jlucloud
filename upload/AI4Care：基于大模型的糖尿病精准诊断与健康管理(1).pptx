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Lst>
  <p:sldIdLst>
    <p:sldId id="256" r:id="rId6"/>
    <p:sldId id="257" r:id="rId7"/>
    <p:sldId id="258" r:id="rId8"/>
    <p:sldId id="259" r:id="rId9"/>
    <p:sldId id="281" r:id="rId10"/>
    <p:sldId id="284" r:id="rId11"/>
    <p:sldId id="282"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7" r:id="rId27"/>
    <p:sldId id="278" r:id="rId28"/>
    <p:sldId id="279" r:id="rId29"/>
    <p:sldId id="280" r:id="rId30"/>
  </p:sldIdLst>
  <p:sldSz cx="12192000" cy="6858000"/>
  <p:notesSz cx="6858000" cy="9144000"/>
  <p:embeddedFontLst>
    <p:embeddedFont>
      <p:font typeface="Dream-XinCuSongGB" panose="02010604000000000000" charset="-122"/>
      <p:regular r:id="rId34"/>
    </p:embeddedFont>
    <p:embeddedFont>
      <p:font typeface="OPPOSans R" panose="00020600040101010101" charset="-122"/>
      <p:regular r:id="rId35"/>
    </p:embeddedFont>
    <p:embeddedFont>
      <p:font typeface="Source Han Sans" panose="020B0400000000000000" charset="-122"/>
      <p:regular r:id="rId36"/>
    </p:embeddedFont>
    <p:embeddedFont>
      <p:font typeface="OPPOSans H" panose="00020600040101010101" charset="-122"/>
      <p:regular r:id="rId37"/>
    </p:embeddedFont>
    <p:embeddedFont>
      <p:font typeface="Source Han Sans CN Bold" panose="020B0800000000000000" charset="-122"/>
      <p:bold r:id="rId38"/>
    </p:embeddedFont>
    <p:embeddedFont>
      <p:font typeface="等线" panose="02010600030101010101" charset="-122"/>
      <p:regular r:id="rId39"/>
    </p:embeddedFont>
    <p:embeddedFont>
      <p:font typeface="OPPOSans B" panose="00020600040101010101" charset="-122"/>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0" Type="http://schemas.openxmlformats.org/officeDocument/2006/relationships/font" Target="fonts/font7.fntdata"/><Relationship Id="rId4" Type="http://schemas.openxmlformats.org/officeDocument/2006/relationships/slideMaster" Target="slideMasters/slideMaster3.xml"/><Relationship Id="rId39" Type="http://schemas.openxmlformats.org/officeDocument/2006/relationships/font" Target="fonts/font6.fntdata"/><Relationship Id="rId38" Type="http://schemas.openxmlformats.org/officeDocument/2006/relationships/font" Target="fonts/font5.fntdata"/><Relationship Id="rId37" Type="http://schemas.openxmlformats.org/officeDocument/2006/relationships/font" Target="fonts/font4.fntdata"/><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3"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5" r:id="rId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p:bodyStyle/>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5" Type="http://schemas.openxmlformats.org/officeDocument/2006/relationships/slideLayout" Target="../slideLayouts/slideLayout1.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5" Type="http://schemas.openxmlformats.org/officeDocument/2006/relationships/slideLayout" Target="../slideLayouts/slideLayout1.xml"/><Relationship Id="rId24" Type="http://schemas.openxmlformats.org/officeDocument/2006/relationships/tags" Target="../tags/tag42.xml"/><Relationship Id="rId23" Type="http://schemas.openxmlformats.org/officeDocument/2006/relationships/tags" Target="../tags/tag41.xml"/><Relationship Id="rId22" Type="http://schemas.openxmlformats.org/officeDocument/2006/relationships/tags" Target="../tags/tag40.xml"/><Relationship Id="rId21" Type="http://schemas.openxmlformats.org/officeDocument/2006/relationships/tags" Target="../tags/tag39.xml"/><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20388" y="0"/>
            <a:ext cx="12232776" cy="6858000"/>
          </a:xfrm>
          <a:prstGeom prst="rect">
            <a:avLst/>
          </a:pr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660401" y="4816611"/>
            <a:ext cx="2701730" cy="648000"/>
          </a:xfrm>
          <a:prstGeom prst="roundRect">
            <a:avLst>
              <a:gd name="adj" fmla="val 10630"/>
            </a:avLst>
          </a:prstGeom>
          <a:noFill/>
          <a:ln w="12700" cap="sq">
            <a:solidFill>
              <a:schemeClr val="accent1"/>
            </a:solidFill>
            <a:miter/>
          </a:ln>
        </p:spPr>
        <p:txBody>
          <a:bodyPr vert="horz" wrap="square" lIns="91440" tIns="45720" rIns="91440" bIns="45720" rtlCol="0" anchor="t"/>
          <a:lstStyle/>
          <a:p>
            <a:pPr algn="ctr">
              <a:lnSpc>
                <a:spcPct val="110000"/>
              </a:lnSpc>
            </a:pPr>
            <a:endParaRPr kumimoji="1" lang="zh-CN" altLang="en-US"/>
          </a:p>
        </p:txBody>
      </p:sp>
      <p:sp>
        <p:nvSpPr>
          <p:cNvPr id="6" name="标题 1"/>
          <p:cNvSpPr txBox="1"/>
          <p:nvPr/>
        </p:nvSpPr>
        <p:spPr>
          <a:xfrm>
            <a:off x="4702502" y="1451910"/>
            <a:ext cx="914400" cy="914400"/>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7" name="标题 1"/>
          <p:cNvSpPr txBox="1"/>
          <p:nvPr/>
        </p:nvSpPr>
        <p:spPr>
          <a:xfrm>
            <a:off x="5502670" y="1289018"/>
            <a:ext cx="576312" cy="576312"/>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a:off x="198320" y="1182932"/>
            <a:ext cx="576312" cy="576312"/>
          </a:xfrm>
          <a:prstGeom prst="mathPlus">
            <a:avLst/>
          </a:prstGeom>
          <a:noFill/>
          <a:ln w="6350" cap="sq">
            <a:solidFill>
              <a:schemeClr val="accent1"/>
            </a:solid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rot="5400000">
            <a:off x="7116593" y="-4856"/>
            <a:ext cx="410661" cy="513450"/>
          </a:xfrm>
          <a:custGeom>
            <a:avLst/>
            <a:gdLst>
              <a:gd name="connsiteX0" fmla="*/ 361145 w 410661"/>
              <a:gd name="connsiteY0" fmla="*/ 24758 h 513450"/>
              <a:gd name="connsiteX1" fmla="*/ 385903 w 410661"/>
              <a:gd name="connsiteY1" fmla="*/ 0 h 513450"/>
              <a:gd name="connsiteX2" fmla="*/ 410661 w 410661"/>
              <a:gd name="connsiteY2" fmla="*/ 24758 h 513450"/>
              <a:gd name="connsiteX3" fmla="*/ 385903 w 410661"/>
              <a:gd name="connsiteY3" fmla="*/ 49516 h 513450"/>
              <a:gd name="connsiteX4" fmla="*/ 361145 w 410661"/>
              <a:gd name="connsiteY4" fmla="*/ 24758 h 513450"/>
              <a:gd name="connsiteX5" fmla="*/ 361145 w 410661"/>
              <a:gd name="connsiteY5" fmla="*/ 256725 h 513450"/>
              <a:gd name="connsiteX6" fmla="*/ 385903 w 410661"/>
              <a:gd name="connsiteY6" fmla="*/ 231967 h 513450"/>
              <a:gd name="connsiteX7" fmla="*/ 410661 w 410661"/>
              <a:gd name="connsiteY7" fmla="*/ 256725 h 513450"/>
              <a:gd name="connsiteX8" fmla="*/ 385903 w 410661"/>
              <a:gd name="connsiteY8" fmla="*/ 281483 h 513450"/>
              <a:gd name="connsiteX9" fmla="*/ 361145 w 410661"/>
              <a:gd name="connsiteY9" fmla="*/ 256725 h 513450"/>
              <a:gd name="connsiteX10" fmla="*/ 361145 w 410661"/>
              <a:gd name="connsiteY10" fmla="*/ 488692 h 513450"/>
              <a:gd name="connsiteX11" fmla="*/ 385903 w 410661"/>
              <a:gd name="connsiteY11" fmla="*/ 463934 h 513450"/>
              <a:gd name="connsiteX12" fmla="*/ 410661 w 410661"/>
              <a:gd name="connsiteY12" fmla="*/ 488692 h 513450"/>
              <a:gd name="connsiteX13" fmla="*/ 385903 w 410661"/>
              <a:gd name="connsiteY13" fmla="*/ 513450 h 513450"/>
              <a:gd name="connsiteX14" fmla="*/ 361145 w 410661"/>
              <a:gd name="connsiteY14" fmla="*/ 488692 h 513450"/>
              <a:gd name="connsiteX15" fmla="*/ 240764 w 410661"/>
              <a:gd name="connsiteY15" fmla="*/ 24758 h 513450"/>
              <a:gd name="connsiteX16" fmla="*/ 265522 w 410661"/>
              <a:gd name="connsiteY16" fmla="*/ 0 h 513450"/>
              <a:gd name="connsiteX17" fmla="*/ 290280 w 410661"/>
              <a:gd name="connsiteY17" fmla="*/ 24758 h 513450"/>
              <a:gd name="connsiteX18" fmla="*/ 265522 w 410661"/>
              <a:gd name="connsiteY18" fmla="*/ 49516 h 513450"/>
              <a:gd name="connsiteX19" fmla="*/ 240764 w 410661"/>
              <a:gd name="connsiteY19" fmla="*/ 24758 h 513450"/>
              <a:gd name="connsiteX20" fmla="*/ 240764 w 410661"/>
              <a:gd name="connsiteY20" fmla="*/ 256725 h 513450"/>
              <a:gd name="connsiteX21" fmla="*/ 265522 w 410661"/>
              <a:gd name="connsiteY21" fmla="*/ 231967 h 513450"/>
              <a:gd name="connsiteX22" fmla="*/ 290280 w 410661"/>
              <a:gd name="connsiteY22" fmla="*/ 256725 h 513450"/>
              <a:gd name="connsiteX23" fmla="*/ 265522 w 410661"/>
              <a:gd name="connsiteY23" fmla="*/ 281483 h 513450"/>
              <a:gd name="connsiteX24" fmla="*/ 240764 w 410661"/>
              <a:gd name="connsiteY24" fmla="*/ 256725 h 513450"/>
              <a:gd name="connsiteX25" fmla="*/ 240764 w 410661"/>
              <a:gd name="connsiteY25" fmla="*/ 488692 h 513450"/>
              <a:gd name="connsiteX26" fmla="*/ 265522 w 410661"/>
              <a:gd name="connsiteY26" fmla="*/ 463934 h 513450"/>
              <a:gd name="connsiteX27" fmla="*/ 290280 w 410661"/>
              <a:gd name="connsiteY27" fmla="*/ 488692 h 513450"/>
              <a:gd name="connsiteX28" fmla="*/ 265522 w 410661"/>
              <a:gd name="connsiteY28" fmla="*/ 513450 h 513450"/>
              <a:gd name="connsiteX29" fmla="*/ 240764 w 410661"/>
              <a:gd name="connsiteY29" fmla="*/ 488692 h 513450"/>
              <a:gd name="connsiteX30" fmla="*/ 120382 w 410661"/>
              <a:gd name="connsiteY30" fmla="*/ 24758 h 513450"/>
              <a:gd name="connsiteX31" fmla="*/ 145140 w 410661"/>
              <a:gd name="connsiteY31" fmla="*/ 0 h 513450"/>
              <a:gd name="connsiteX32" fmla="*/ 169898 w 410661"/>
              <a:gd name="connsiteY32" fmla="*/ 24758 h 513450"/>
              <a:gd name="connsiteX33" fmla="*/ 145140 w 410661"/>
              <a:gd name="connsiteY33" fmla="*/ 49516 h 513450"/>
              <a:gd name="connsiteX34" fmla="*/ 120382 w 410661"/>
              <a:gd name="connsiteY34" fmla="*/ 24758 h 513450"/>
              <a:gd name="connsiteX35" fmla="*/ 120382 w 410661"/>
              <a:gd name="connsiteY35" fmla="*/ 256725 h 513450"/>
              <a:gd name="connsiteX36" fmla="*/ 145140 w 410661"/>
              <a:gd name="connsiteY36" fmla="*/ 231967 h 513450"/>
              <a:gd name="connsiteX37" fmla="*/ 169898 w 410661"/>
              <a:gd name="connsiteY37" fmla="*/ 256725 h 513450"/>
              <a:gd name="connsiteX38" fmla="*/ 145140 w 410661"/>
              <a:gd name="connsiteY38" fmla="*/ 281483 h 513450"/>
              <a:gd name="connsiteX39" fmla="*/ 120382 w 410661"/>
              <a:gd name="connsiteY39" fmla="*/ 256725 h 513450"/>
              <a:gd name="connsiteX40" fmla="*/ 120382 w 410661"/>
              <a:gd name="connsiteY40" fmla="*/ 488692 h 513450"/>
              <a:gd name="connsiteX41" fmla="*/ 145140 w 410661"/>
              <a:gd name="connsiteY41" fmla="*/ 463934 h 513450"/>
              <a:gd name="connsiteX42" fmla="*/ 169898 w 410661"/>
              <a:gd name="connsiteY42" fmla="*/ 488692 h 513450"/>
              <a:gd name="connsiteX43" fmla="*/ 145140 w 410661"/>
              <a:gd name="connsiteY43" fmla="*/ 513450 h 513450"/>
              <a:gd name="connsiteX44" fmla="*/ 120382 w 410661"/>
              <a:gd name="connsiteY44" fmla="*/ 488692 h 513450"/>
              <a:gd name="connsiteX45" fmla="*/ 0 w 410661"/>
              <a:gd name="connsiteY45" fmla="*/ 24758 h 513450"/>
              <a:gd name="connsiteX46" fmla="*/ 24758 w 410661"/>
              <a:gd name="connsiteY46" fmla="*/ 0 h 513450"/>
              <a:gd name="connsiteX47" fmla="*/ 49516 w 410661"/>
              <a:gd name="connsiteY47" fmla="*/ 24758 h 513450"/>
              <a:gd name="connsiteX48" fmla="*/ 24758 w 410661"/>
              <a:gd name="connsiteY48" fmla="*/ 49516 h 513450"/>
              <a:gd name="connsiteX49" fmla="*/ 0 w 410661"/>
              <a:gd name="connsiteY49" fmla="*/ 24758 h 513450"/>
              <a:gd name="connsiteX50" fmla="*/ 0 w 410661"/>
              <a:gd name="connsiteY50" fmla="*/ 256725 h 513450"/>
              <a:gd name="connsiteX51" fmla="*/ 24758 w 410661"/>
              <a:gd name="connsiteY51" fmla="*/ 231967 h 513450"/>
              <a:gd name="connsiteX52" fmla="*/ 49516 w 410661"/>
              <a:gd name="connsiteY52" fmla="*/ 256725 h 513450"/>
              <a:gd name="connsiteX53" fmla="*/ 24758 w 410661"/>
              <a:gd name="connsiteY53" fmla="*/ 281483 h 513450"/>
              <a:gd name="connsiteX54" fmla="*/ 0 w 410661"/>
              <a:gd name="connsiteY54" fmla="*/ 256725 h 513450"/>
              <a:gd name="connsiteX55" fmla="*/ 0 w 410661"/>
              <a:gd name="connsiteY55" fmla="*/ 488692 h 513450"/>
              <a:gd name="connsiteX56" fmla="*/ 24758 w 410661"/>
              <a:gd name="connsiteY56" fmla="*/ 463934 h 513450"/>
              <a:gd name="connsiteX57" fmla="*/ 49516 w 410661"/>
              <a:gd name="connsiteY57" fmla="*/ 488692 h 513450"/>
              <a:gd name="connsiteX58" fmla="*/ 24758 w 410661"/>
              <a:gd name="connsiteY58" fmla="*/ 513450 h 513450"/>
              <a:gd name="connsiteX59" fmla="*/ 0 w 410661"/>
              <a:gd name="connsiteY59" fmla="*/ 488692 h 513450"/>
            </a:gdLst>
            <a:ahLst/>
            <a:cxnLst/>
            <a:rect l="l" t="t" r="r" b="b"/>
            <a:pathLst>
              <a:path w="410661" h="513450">
                <a:moveTo>
                  <a:pt x="361145" y="24758"/>
                </a:moveTo>
                <a:cubicBezTo>
                  <a:pt x="361145" y="11085"/>
                  <a:pt x="372230" y="0"/>
                  <a:pt x="385903" y="0"/>
                </a:cubicBezTo>
                <a:cubicBezTo>
                  <a:pt x="399576" y="0"/>
                  <a:pt x="410661" y="11085"/>
                  <a:pt x="410661" y="24758"/>
                </a:cubicBezTo>
                <a:cubicBezTo>
                  <a:pt x="410661" y="38431"/>
                  <a:pt x="399576" y="49516"/>
                  <a:pt x="385903" y="49516"/>
                </a:cubicBezTo>
                <a:cubicBezTo>
                  <a:pt x="372230" y="49516"/>
                  <a:pt x="361145" y="38431"/>
                  <a:pt x="361145" y="24758"/>
                </a:cubicBezTo>
                <a:close/>
                <a:moveTo>
                  <a:pt x="361145" y="256725"/>
                </a:moveTo>
                <a:cubicBezTo>
                  <a:pt x="361145" y="243052"/>
                  <a:pt x="372230" y="231967"/>
                  <a:pt x="385903" y="231967"/>
                </a:cubicBezTo>
                <a:cubicBezTo>
                  <a:pt x="399576" y="231967"/>
                  <a:pt x="410661" y="243052"/>
                  <a:pt x="410661" y="256725"/>
                </a:cubicBezTo>
                <a:cubicBezTo>
                  <a:pt x="410661" y="270398"/>
                  <a:pt x="399576" y="281483"/>
                  <a:pt x="385903" y="281483"/>
                </a:cubicBezTo>
                <a:cubicBezTo>
                  <a:pt x="372230" y="281483"/>
                  <a:pt x="361145" y="270398"/>
                  <a:pt x="361145" y="256725"/>
                </a:cubicBezTo>
                <a:close/>
                <a:moveTo>
                  <a:pt x="361145" y="488692"/>
                </a:moveTo>
                <a:cubicBezTo>
                  <a:pt x="361145" y="475019"/>
                  <a:pt x="372230" y="463934"/>
                  <a:pt x="385903" y="463934"/>
                </a:cubicBezTo>
                <a:cubicBezTo>
                  <a:pt x="399576" y="463934"/>
                  <a:pt x="410661" y="475019"/>
                  <a:pt x="410661" y="488692"/>
                </a:cubicBezTo>
                <a:cubicBezTo>
                  <a:pt x="410661" y="502365"/>
                  <a:pt x="399576" y="513450"/>
                  <a:pt x="385903" y="513450"/>
                </a:cubicBezTo>
                <a:cubicBezTo>
                  <a:pt x="372230" y="513450"/>
                  <a:pt x="361145" y="502365"/>
                  <a:pt x="361145" y="488692"/>
                </a:cubicBezTo>
                <a:close/>
                <a:moveTo>
                  <a:pt x="240764" y="24758"/>
                </a:moveTo>
                <a:cubicBezTo>
                  <a:pt x="240764" y="11085"/>
                  <a:pt x="251849" y="0"/>
                  <a:pt x="265522" y="0"/>
                </a:cubicBezTo>
                <a:cubicBezTo>
                  <a:pt x="279195" y="0"/>
                  <a:pt x="290280" y="11085"/>
                  <a:pt x="290280" y="24758"/>
                </a:cubicBezTo>
                <a:cubicBezTo>
                  <a:pt x="290280" y="38431"/>
                  <a:pt x="279195" y="49516"/>
                  <a:pt x="265522" y="49516"/>
                </a:cubicBezTo>
                <a:cubicBezTo>
                  <a:pt x="251849" y="49516"/>
                  <a:pt x="240764" y="38431"/>
                  <a:pt x="240764" y="24758"/>
                </a:cubicBezTo>
                <a:close/>
                <a:moveTo>
                  <a:pt x="240764" y="256725"/>
                </a:moveTo>
                <a:cubicBezTo>
                  <a:pt x="240764" y="243052"/>
                  <a:pt x="251849" y="231967"/>
                  <a:pt x="265522" y="231967"/>
                </a:cubicBezTo>
                <a:cubicBezTo>
                  <a:pt x="279195" y="231967"/>
                  <a:pt x="290280" y="243052"/>
                  <a:pt x="290280" y="256725"/>
                </a:cubicBezTo>
                <a:cubicBezTo>
                  <a:pt x="290280" y="270398"/>
                  <a:pt x="279195" y="281483"/>
                  <a:pt x="265522" y="281483"/>
                </a:cubicBezTo>
                <a:cubicBezTo>
                  <a:pt x="251849" y="281483"/>
                  <a:pt x="240764" y="270398"/>
                  <a:pt x="240764" y="256725"/>
                </a:cubicBezTo>
                <a:close/>
                <a:moveTo>
                  <a:pt x="240764" y="488692"/>
                </a:moveTo>
                <a:cubicBezTo>
                  <a:pt x="240764" y="475019"/>
                  <a:pt x="251849" y="463934"/>
                  <a:pt x="265522" y="463934"/>
                </a:cubicBezTo>
                <a:cubicBezTo>
                  <a:pt x="279195" y="463934"/>
                  <a:pt x="290280" y="475019"/>
                  <a:pt x="290280" y="488692"/>
                </a:cubicBezTo>
                <a:cubicBezTo>
                  <a:pt x="290280" y="502365"/>
                  <a:pt x="279195" y="513450"/>
                  <a:pt x="265522" y="513450"/>
                </a:cubicBezTo>
                <a:cubicBezTo>
                  <a:pt x="251849" y="513450"/>
                  <a:pt x="240764" y="502365"/>
                  <a:pt x="240764" y="488692"/>
                </a:cubicBezTo>
                <a:close/>
                <a:moveTo>
                  <a:pt x="120382" y="24758"/>
                </a:moveTo>
                <a:cubicBezTo>
                  <a:pt x="120382" y="11085"/>
                  <a:pt x="131467" y="0"/>
                  <a:pt x="145140" y="0"/>
                </a:cubicBezTo>
                <a:cubicBezTo>
                  <a:pt x="158813" y="0"/>
                  <a:pt x="169898" y="11085"/>
                  <a:pt x="169898" y="24758"/>
                </a:cubicBezTo>
                <a:cubicBezTo>
                  <a:pt x="169898" y="38431"/>
                  <a:pt x="158813" y="49516"/>
                  <a:pt x="145140" y="49516"/>
                </a:cubicBezTo>
                <a:cubicBezTo>
                  <a:pt x="131467" y="49516"/>
                  <a:pt x="120382" y="38431"/>
                  <a:pt x="120382" y="24758"/>
                </a:cubicBezTo>
                <a:close/>
                <a:moveTo>
                  <a:pt x="120382" y="256725"/>
                </a:moveTo>
                <a:cubicBezTo>
                  <a:pt x="120382" y="243052"/>
                  <a:pt x="131467" y="231967"/>
                  <a:pt x="145140" y="231967"/>
                </a:cubicBezTo>
                <a:cubicBezTo>
                  <a:pt x="158813" y="231967"/>
                  <a:pt x="169898" y="243052"/>
                  <a:pt x="169898" y="256725"/>
                </a:cubicBezTo>
                <a:cubicBezTo>
                  <a:pt x="169898" y="270398"/>
                  <a:pt x="158813" y="281483"/>
                  <a:pt x="145140" y="281483"/>
                </a:cubicBezTo>
                <a:cubicBezTo>
                  <a:pt x="131467" y="281483"/>
                  <a:pt x="120382" y="270398"/>
                  <a:pt x="120382" y="256725"/>
                </a:cubicBezTo>
                <a:close/>
                <a:moveTo>
                  <a:pt x="120382" y="488692"/>
                </a:moveTo>
                <a:cubicBezTo>
                  <a:pt x="120382" y="475019"/>
                  <a:pt x="131467" y="463934"/>
                  <a:pt x="145140" y="463934"/>
                </a:cubicBezTo>
                <a:cubicBezTo>
                  <a:pt x="158813" y="463934"/>
                  <a:pt x="169898" y="475019"/>
                  <a:pt x="169898" y="488692"/>
                </a:cubicBezTo>
                <a:cubicBezTo>
                  <a:pt x="169898" y="502365"/>
                  <a:pt x="158813" y="513450"/>
                  <a:pt x="145140" y="513450"/>
                </a:cubicBezTo>
                <a:cubicBezTo>
                  <a:pt x="131467" y="513450"/>
                  <a:pt x="120382" y="502365"/>
                  <a:pt x="120382" y="488692"/>
                </a:cubicBezTo>
                <a:close/>
                <a:moveTo>
                  <a:pt x="0" y="24758"/>
                </a:moveTo>
                <a:cubicBezTo>
                  <a:pt x="0" y="11085"/>
                  <a:pt x="11085" y="0"/>
                  <a:pt x="24758" y="0"/>
                </a:cubicBezTo>
                <a:cubicBezTo>
                  <a:pt x="38431" y="0"/>
                  <a:pt x="49516" y="11085"/>
                  <a:pt x="49516" y="24758"/>
                </a:cubicBezTo>
                <a:cubicBezTo>
                  <a:pt x="49516" y="38431"/>
                  <a:pt x="38431" y="49516"/>
                  <a:pt x="24758" y="49516"/>
                </a:cubicBezTo>
                <a:cubicBezTo>
                  <a:pt x="11085" y="49516"/>
                  <a:pt x="0" y="38431"/>
                  <a:pt x="0" y="24758"/>
                </a:cubicBezTo>
                <a:close/>
                <a:moveTo>
                  <a:pt x="0" y="256725"/>
                </a:moveTo>
                <a:cubicBezTo>
                  <a:pt x="0" y="243052"/>
                  <a:pt x="11085" y="231967"/>
                  <a:pt x="24758" y="231967"/>
                </a:cubicBezTo>
                <a:cubicBezTo>
                  <a:pt x="38431" y="231967"/>
                  <a:pt x="49516" y="243052"/>
                  <a:pt x="49516" y="256725"/>
                </a:cubicBezTo>
                <a:cubicBezTo>
                  <a:pt x="49516" y="270398"/>
                  <a:pt x="38431" y="281483"/>
                  <a:pt x="24758" y="281483"/>
                </a:cubicBezTo>
                <a:cubicBezTo>
                  <a:pt x="11085" y="281483"/>
                  <a:pt x="0" y="270398"/>
                  <a:pt x="0" y="256725"/>
                </a:cubicBezTo>
                <a:close/>
                <a:moveTo>
                  <a:pt x="0" y="488692"/>
                </a:moveTo>
                <a:cubicBezTo>
                  <a:pt x="0" y="475019"/>
                  <a:pt x="11085" y="463934"/>
                  <a:pt x="24758" y="463934"/>
                </a:cubicBezTo>
                <a:cubicBezTo>
                  <a:pt x="38431" y="463934"/>
                  <a:pt x="49516" y="475019"/>
                  <a:pt x="49516" y="488692"/>
                </a:cubicBezTo>
                <a:cubicBezTo>
                  <a:pt x="49516" y="502365"/>
                  <a:pt x="38431" y="513450"/>
                  <a:pt x="24758" y="513450"/>
                </a:cubicBezTo>
                <a:cubicBezTo>
                  <a:pt x="11085" y="513450"/>
                  <a:pt x="0" y="502365"/>
                  <a:pt x="0" y="488692"/>
                </a:cubicBezTo>
                <a:close/>
              </a:path>
            </a:pathLst>
          </a:custGeom>
          <a:gradFill>
            <a:gsLst>
              <a:gs pos="0">
                <a:schemeClr val="accent1">
                  <a:alpha val="54000"/>
                </a:schemeClr>
              </a:gs>
              <a:gs pos="97000">
                <a:schemeClr val="accent1">
                  <a:lumMod val="7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custDataLst>
              <p:tags r:id="rId2"/>
            </p:custDataLst>
          </p:nvPr>
        </p:nvSpPr>
        <p:spPr>
          <a:xfrm>
            <a:off x="660400" y="5762911"/>
            <a:ext cx="2016000" cy="472789"/>
          </a:xfrm>
          <a:prstGeom prst="roundRect">
            <a:avLst/>
          </a:prstGeom>
          <a:gradFill>
            <a:gsLst>
              <a:gs pos="0">
                <a:schemeClr val="accent1"/>
              </a:gs>
              <a:gs pos="84000">
                <a:schemeClr val="accent1">
                  <a:lumMod val="8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1" name="标题 1"/>
          <p:cNvSpPr txBox="1"/>
          <p:nvPr>
            <p:custDataLst>
              <p:tags r:id="rId3"/>
            </p:custDataLst>
          </p:nvPr>
        </p:nvSpPr>
        <p:spPr>
          <a:xfrm>
            <a:off x="2922614" y="5762911"/>
            <a:ext cx="2016000" cy="472789"/>
          </a:xfrm>
          <a:prstGeom prst="roundRect">
            <a:avLst/>
          </a:prstGeom>
          <a:gradFill>
            <a:gsLst>
              <a:gs pos="0">
                <a:schemeClr val="accent1"/>
              </a:gs>
              <a:gs pos="84000">
                <a:schemeClr val="accent1">
                  <a:lumMod val="8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3" name="标题 1"/>
          <p:cNvSpPr txBox="1"/>
          <p:nvPr/>
        </p:nvSpPr>
        <p:spPr>
          <a:xfrm>
            <a:off x="784030" y="4904217"/>
            <a:ext cx="2454470" cy="472789"/>
          </a:xfrm>
          <a:prstGeom prst="rect">
            <a:avLst/>
          </a:prstGeom>
          <a:noFill/>
          <a:ln>
            <a:noFill/>
          </a:ln>
        </p:spPr>
        <p:txBody>
          <a:bodyPr vert="horz" wrap="square" lIns="0" tIns="0" rIns="0" bIns="0" rtlCol="0" anchor="ctr"/>
          <a:lstStyle/>
          <a:p>
            <a:pPr algn="ctr">
              <a:lnSpc>
                <a:spcPct val="110000"/>
              </a:lnSpc>
            </a:pPr>
            <a:r>
              <a:rPr kumimoji="1" lang="zh-CN" altLang="en-US"/>
              <a:t>创意赛</a:t>
            </a:r>
            <a:endParaRPr kumimoji="1" lang="zh-CN" altLang="en-US"/>
          </a:p>
        </p:txBody>
      </p:sp>
      <p:sp>
        <p:nvSpPr>
          <p:cNvPr id="14" name="标题 1"/>
          <p:cNvSpPr txBox="1"/>
          <p:nvPr/>
        </p:nvSpPr>
        <p:spPr>
          <a:xfrm>
            <a:off x="551180" y="1557020"/>
            <a:ext cx="9693910" cy="1015365"/>
          </a:xfrm>
          <a:prstGeom prst="rect">
            <a:avLst/>
          </a:prstGeom>
          <a:noFill/>
          <a:ln>
            <a:noFill/>
          </a:ln>
        </p:spPr>
        <p:txBody>
          <a:bodyPr vert="horz" wrap="square" lIns="0" tIns="0" rIns="0" bIns="0" rtlCol="0" anchor="ctr"/>
          <a:lstStyle/>
          <a:p>
            <a:pPr algn="l">
              <a:lnSpc>
                <a:spcPct val="110000"/>
              </a:lnSpc>
            </a:pPr>
            <a:r>
              <a:rPr kumimoji="1" lang="en-US" altLang="zh-CN" sz="6600">
                <a:ln w="12700">
                  <a:noFill/>
                </a:ln>
                <a:gradFill>
                  <a:gsLst>
                    <a:gs pos="0">
                      <a:srgbClr val="25A7EE">
                        <a:alpha val="100000"/>
                      </a:srgbClr>
                    </a:gs>
                    <a:gs pos="84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2025</a:t>
            </a:r>
            <a:r>
              <a:rPr kumimoji="1" lang="zh-CN" altLang="en-US" sz="6600">
                <a:ln w="12700">
                  <a:noFill/>
                </a:ln>
                <a:gradFill>
                  <a:gsLst>
                    <a:gs pos="0">
                      <a:srgbClr val="25A7EE">
                        <a:alpha val="100000"/>
                      </a:srgbClr>
                    </a:gs>
                    <a:gs pos="84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联通杯</a:t>
            </a:r>
            <a:endParaRPr kumimoji="1" lang="zh-CN" altLang="en-US" sz="6600">
              <a:ln w="12700">
                <a:noFill/>
              </a:ln>
              <a:gradFill>
                <a:gsLst>
                  <a:gs pos="0">
                    <a:srgbClr val="25A7EE">
                      <a:alpha val="100000"/>
                    </a:srgbClr>
                  </a:gs>
                  <a:gs pos="84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endParaRPr>
          </a:p>
        </p:txBody>
      </p:sp>
      <p:sp>
        <p:nvSpPr>
          <p:cNvPr id="15" name="标题 1"/>
          <p:cNvSpPr txBox="1"/>
          <p:nvPr>
            <p:custDataLst>
              <p:tags r:id="rId4"/>
            </p:custDataLst>
          </p:nvPr>
        </p:nvSpPr>
        <p:spPr>
          <a:xfrm>
            <a:off x="725942" y="5859422"/>
            <a:ext cx="1884917" cy="279767"/>
          </a:xfrm>
          <a:prstGeom prst="rect">
            <a:avLst/>
          </a:prstGeom>
          <a:noFill/>
          <a:ln>
            <a:noFill/>
          </a:ln>
        </p:spPr>
        <p:txBody>
          <a:bodyPr vert="horz" wrap="square" lIns="0" tIns="0" rIns="0" bIns="0" rtlCol="0" anchor="t"/>
          <a:lstStyle/>
          <a:p>
            <a:pPr algn="ctr">
              <a:lnSpc>
                <a:spcPct val="110000"/>
              </a:lnSpc>
            </a:pPr>
            <a:r>
              <a:rPr kumimoji="1" lang="en-US" altLang="zh-CN"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主讲人：</a:t>
            </a:r>
            <a:r>
              <a:rPr kumimoji="1" lang="zh-CN" altLang="en-US"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杨</a:t>
            </a:r>
            <a:r>
              <a:rPr kumimoji="1" lang="zh-CN" altLang="en-US"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威</a:t>
            </a:r>
            <a:endParaRPr kumimoji="1" lang="zh-CN" altLang="en-US"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endParaRPr>
          </a:p>
        </p:txBody>
      </p:sp>
      <p:sp>
        <p:nvSpPr>
          <p:cNvPr id="16" name="标题 1"/>
          <p:cNvSpPr txBox="1"/>
          <p:nvPr>
            <p:custDataLst>
              <p:tags r:id="rId5"/>
            </p:custDataLst>
          </p:nvPr>
        </p:nvSpPr>
        <p:spPr>
          <a:xfrm>
            <a:off x="2988156" y="5859422"/>
            <a:ext cx="1884917" cy="279767"/>
          </a:xfrm>
          <a:prstGeom prst="rect">
            <a:avLst/>
          </a:prstGeom>
          <a:noFill/>
          <a:ln>
            <a:noFill/>
          </a:ln>
        </p:spPr>
        <p:txBody>
          <a:bodyPr vert="horz" wrap="square" lIns="0" tIns="0" rIns="0" bIns="0" rtlCol="0" anchor="t"/>
          <a:lstStyle/>
          <a:p>
            <a:pPr algn="ctr">
              <a:lnSpc>
                <a:spcPct val="110000"/>
              </a:lnSpc>
            </a:pPr>
            <a:r>
              <a:rPr kumimoji="1" lang="en-US" altLang="zh-CN"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时间：2025.4</a:t>
            </a:r>
            <a:endParaRPr kumimoji="1" lang="zh-CN" altLang="en-US"/>
          </a:p>
        </p:txBody>
      </p:sp>
      <p:sp>
        <p:nvSpPr>
          <p:cNvPr id="17" name="标题 1"/>
          <p:cNvSpPr txBox="1"/>
          <p:nvPr/>
        </p:nvSpPr>
        <p:spPr>
          <a:xfrm>
            <a:off x="660399" y="2622643"/>
            <a:ext cx="7388225" cy="2014912"/>
          </a:xfrm>
          <a:prstGeom prst="rect">
            <a:avLst/>
          </a:prstGeom>
          <a:noFill/>
          <a:ln>
            <a:noFill/>
          </a:ln>
        </p:spPr>
        <p:txBody>
          <a:bodyPr vert="horz" wrap="square" lIns="0" tIns="0" rIns="0" bIns="0" rtlCol="0" anchor="ctr"/>
          <a:lstStyle/>
          <a:p>
            <a:pPr algn="l">
              <a:lnSpc>
                <a:spcPct val="130000"/>
              </a:lnSpc>
            </a:pPr>
            <a:r>
              <a:rPr kumimoji="1" lang="en-US" altLang="zh-CN" sz="4800">
                <a:ln w="12700">
                  <a:noFill/>
                </a:ln>
                <a:solidFill>
                  <a:srgbClr val="262626">
                    <a:alpha val="100000"/>
                  </a:srgbClr>
                </a:solidFill>
                <a:latin typeface="Dream-XinCuSongGB" panose="02010604000000000000" charset="-122"/>
                <a:ea typeface="Dream-XinCuSongGB" panose="02010604000000000000" charset="-122"/>
                <a:cs typeface="Dream-XinCuSongGB" panose="02010604000000000000" charset="-122"/>
              </a:rPr>
              <a:t>AI4Care：基于大模型的糖尿病健康管理</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603277" y="1386959"/>
            <a:ext cx="2044700" cy="355600"/>
          </a:xfrm>
          <a:prstGeom prst="rect">
            <a:avLst/>
          </a:prstGeom>
          <a:noFill/>
          <a:ln w="12700" cap="sq">
            <a:noFill/>
            <a:miter/>
          </a:ln>
        </p:spPr>
        <p:txBody>
          <a:bodyPr vert="horz" wrap="square" lIns="0" tIns="0" rIns="0" bIns="0" rtlCol="0" anchor="ctr">
            <a:spAutoFit/>
          </a:bodyPr>
          <a:lstStyle/>
          <a:p>
            <a:pPr algn="r">
              <a:lnSpc>
                <a:spcPct val="100000"/>
              </a:lnSpc>
            </a:pPr>
            <a:r>
              <a:rPr kumimoji="1" lang="en-US" altLang="zh-CN" sz="28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C</a:t>
            </a:r>
            <a:r>
              <a:rPr kumimoji="1" lang="en-US" altLang="zh-CN" sz="2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atalogue</a:t>
            </a:r>
            <a:endParaRPr kumimoji="1" lang="zh-CN" altLang="en-US"/>
          </a:p>
        </p:txBody>
      </p:sp>
      <p:sp>
        <p:nvSpPr>
          <p:cNvPr id="4" name="标题 1"/>
          <p:cNvSpPr txBox="1"/>
          <p:nvPr/>
        </p:nvSpPr>
        <p:spPr>
          <a:xfrm>
            <a:off x="2421625" y="1867298"/>
            <a:ext cx="1308100" cy="609600"/>
          </a:xfrm>
          <a:prstGeom prst="rect">
            <a:avLst/>
          </a:prstGeom>
          <a:noFill/>
          <a:ln w="12700" cap="sq">
            <a:noFill/>
            <a:miter/>
          </a:ln>
        </p:spPr>
        <p:txBody>
          <a:bodyPr vert="horz" wrap="square" lIns="0" tIns="0" rIns="0" bIns="0" rtlCol="0" anchor="ctr">
            <a:spAutoFit/>
          </a:bodyPr>
          <a:lstStyle/>
          <a:p>
            <a:pPr algn="l">
              <a:lnSpc>
                <a:spcPct val="100000"/>
              </a:lnSpc>
            </a:pPr>
            <a:r>
              <a:rPr kumimoji="1" lang="en-US" altLang="zh-CN" sz="4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目录</a:t>
            </a:r>
            <a:endParaRPr kumimoji="1" lang="zh-CN" altLang="en-US"/>
          </a:p>
        </p:txBody>
      </p:sp>
      <p:sp>
        <p:nvSpPr>
          <p:cNvPr id="5" name="标题 1"/>
          <p:cNvSpPr txBox="1"/>
          <p:nvPr/>
        </p:nvSpPr>
        <p:spPr>
          <a:xfrm rot="16200000">
            <a:off x="1468152" y="-1011522"/>
            <a:ext cx="673668" cy="3609975"/>
          </a:xfrm>
          <a:prstGeom prst="rect">
            <a:avLst/>
          </a:prstGeom>
          <a:solidFill>
            <a:schemeClr val="accent1"/>
          </a:solidFill>
          <a:ln w="9525" cap="sq">
            <a:noFill/>
            <a:miter/>
          </a:ln>
        </p:spPr>
        <p:txBody>
          <a:bodyPr vert="horz" wrap="square" lIns="91440" tIns="45720" rIns="91440" bIns="45720" rtlCol="0" anchor="ctr"/>
          <a:lstStyle/>
          <a:p>
            <a:pPr algn="ctr">
              <a:lnSpc>
                <a:spcPct val="100000"/>
              </a:lnSpc>
            </a:pPr>
            <a:endParaRPr kumimoji="1" lang="zh-CN" altLang="en-US"/>
          </a:p>
        </p:txBody>
      </p:sp>
      <p:sp>
        <p:nvSpPr>
          <p:cNvPr id="6" name="标题 1"/>
          <p:cNvSpPr txBox="1"/>
          <p:nvPr/>
        </p:nvSpPr>
        <p:spPr>
          <a:xfrm rot="16200000">
            <a:off x="1839602" y="3614200"/>
            <a:ext cx="5040000" cy="36000"/>
          </a:xfrm>
          <a:prstGeom prst="rect">
            <a:avLst/>
          </a:prstGeom>
          <a:solidFill>
            <a:schemeClr val="bg1">
              <a:lumMod val="85000"/>
            </a:schemeClr>
          </a:solidFill>
          <a:ln w="9525" cap="sq">
            <a:noFill/>
            <a:miter/>
          </a:ln>
        </p:spPr>
        <p:txBody>
          <a:bodyPr vert="horz" wrap="square" lIns="91440" tIns="45720" rIns="91440" bIns="45720" rtlCol="0" anchor="ctr"/>
          <a:lstStyle/>
          <a:p>
            <a:pPr algn="ctr">
              <a:lnSpc>
                <a:spcPct val="100000"/>
              </a:lnSpc>
            </a:pPr>
            <a:endParaRPr kumimoji="1" lang="zh-CN" altLang="en-US"/>
          </a:p>
        </p:txBody>
      </p:sp>
      <p:sp>
        <p:nvSpPr>
          <p:cNvPr id="7" name="标题 1"/>
          <p:cNvSpPr txBox="1"/>
          <p:nvPr>
            <p:custDataLst>
              <p:tags r:id="rId1"/>
            </p:custDataLst>
          </p:nvPr>
        </p:nvSpPr>
        <p:spPr>
          <a:xfrm>
            <a:off x="5073175" y="1069000"/>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1.</a:t>
            </a:r>
            <a:endParaRPr kumimoji="1" lang="zh-CN" altLang="en-US"/>
          </a:p>
        </p:txBody>
      </p:sp>
      <p:sp>
        <p:nvSpPr>
          <p:cNvPr id="8" name="标题 1"/>
          <p:cNvSpPr txBox="1"/>
          <p:nvPr>
            <p:custDataLst>
              <p:tags r:id="rId2"/>
            </p:custDataLst>
          </p:nvPr>
        </p:nvSpPr>
        <p:spPr>
          <a:xfrm>
            <a:off x="5480747" y="1139544"/>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项目背景</a:t>
            </a:r>
            <a:endParaRPr kumimoji="1" lang="zh-CN" altLang="en-US"/>
          </a:p>
        </p:txBody>
      </p:sp>
      <p:sp>
        <p:nvSpPr>
          <p:cNvPr id="9" name="标题 1"/>
          <p:cNvSpPr txBox="1"/>
          <p:nvPr>
            <p:custDataLst>
              <p:tags r:id="rId3"/>
            </p:custDataLst>
          </p:nvPr>
        </p:nvSpPr>
        <p:spPr>
          <a:xfrm>
            <a:off x="5073175" y="1811559"/>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2.</a:t>
            </a:r>
            <a:endParaRPr kumimoji="1" lang="zh-CN" altLang="en-US"/>
          </a:p>
        </p:txBody>
      </p:sp>
      <p:sp>
        <p:nvSpPr>
          <p:cNvPr id="10" name="标题 1"/>
          <p:cNvSpPr txBox="1"/>
          <p:nvPr>
            <p:custDataLst>
              <p:tags r:id="rId4"/>
            </p:custDataLst>
          </p:nvPr>
        </p:nvSpPr>
        <p:spPr>
          <a:xfrm>
            <a:off x="5447727" y="1811688"/>
            <a:ext cx="5760000" cy="648000"/>
          </a:xfrm>
          <a:prstGeom prst="rect">
            <a:avLst/>
          </a:prstGeom>
          <a:noFill/>
          <a:ln>
            <a:noFill/>
          </a:ln>
        </p:spPr>
        <p:txBody>
          <a:bodyPr vert="horz" wrap="square" lIns="0" tIns="0" rIns="0" bIns="0" rtlCol="0" anchor="t"/>
          <a:lstStyle/>
          <a:p>
            <a:pPr algn="l">
              <a:lnSpc>
                <a:spcPct val="120000"/>
              </a:lnSpc>
              <a:buClrTx/>
              <a:buSzTx/>
              <a:buFontTx/>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团队介绍</a:t>
            </a:r>
            <a:endPar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11" name="标题 1"/>
          <p:cNvSpPr txBox="1"/>
          <p:nvPr>
            <p:custDataLst>
              <p:tags r:id="rId5"/>
            </p:custDataLst>
          </p:nvPr>
        </p:nvSpPr>
        <p:spPr>
          <a:xfrm>
            <a:off x="5073175" y="2554118"/>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3.</a:t>
            </a:r>
            <a:endParaRPr kumimoji="1" lang="zh-CN" altLang="en-US"/>
          </a:p>
        </p:txBody>
      </p:sp>
      <p:sp>
        <p:nvSpPr>
          <p:cNvPr id="12" name="标题 1"/>
          <p:cNvSpPr txBox="1"/>
          <p:nvPr>
            <p:custDataLst>
              <p:tags r:id="rId6"/>
            </p:custDataLst>
          </p:nvPr>
        </p:nvSpPr>
        <p:spPr>
          <a:xfrm>
            <a:off x="5480747" y="3275677"/>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项目创新点</a:t>
            </a:r>
            <a:endParaRPr kumimoji="1" lang="zh-CN" altLang="en-US"/>
          </a:p>
        </p:txBody>
      </p:sp>
      <p:sp>
        <p:nvSpPr>
          <p:cNvPr id="13" name="标题 1"/>
          <p:cNvSpPr txBox="1"/>
          <p:nvPr>
            <p:custDataLst>
              <p:tags r:id="rId7"/>
            </p:custDataLst>
          </p:nvPr>
        </p:nvSpPr>
        <p:spPr>
          <a:xfrm>
            <a:off x="5073175" y="3296677"/>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4.</a:t>
            </a:r>
            <a:endParaRPr kumimoji="1" lang="zh-CN" altLang="en-US"/>
          </a:p>
        </p:txBody>
      </p:sp>
      <p:sp>
        <p:nvSpPr>
          <p:cNvPr id="14" name="标题 1"/>
          <p:cNvSpPr txBox="1"/>
          <p:nvPr>
            <p:custDataLst>
              <p:tags r:id="rId8"/>
            </p:custDataLst>
          </p:nvPr>
        </p:nvSpPr>
        <p:spPr>
          <a:xfrm>
            <a:off x="5480747" y="3933216"/>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项目成果与效益</a:t>
            </a:r>
            <a:endParaRPr kumimoji="1" lang="zh-CN" altLang="en-US"/>
          </a:p>
        </p:txBody>
      </p:sp>
      <p:sp>
        <p:nvSpPr>
          <p:cNvPr id="15" name="标题 1"/>
          <p:cNvSpPr txBox="1"/>
          <p:nvPr>
            <p:custDataLst>
              <p:tags r:id="rId9"/>
            </p:custDataLst>
          </p:nvPr>
        </p:nvSpPr>
        <p:spPr>
          <a:xfrm>
            <a:off x="5073175" y="4039236"/>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5.</a:t>
            </a:r>
            <a:endParaRPr kumimoji="1" lang="zh-CN" altLang="en-US"/>
          </a:p>
        </p:txBody>
      </p:sp>
      <p:sp>
        <p:nvSpPr>
          <p:cNvPr id="16" name="标题 1"/>
          <p:cNvSpPr txBox="1"/>
          <p:nvPr>
            <p:custDataLst>
              <p:tags r:id="rId10"/>
            </p:custDataLst>
          </p:nvPr>
        </p:nvSpPr>
        <p:spPr>
          <a:xfrm>
            <a:off x="5480747" y="4689180"/>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未来展望</a:t>
            </a:r>
            <a:endParaRPr kumimoji="1" lang="zh-CN" altLang="en-US"/>
          </a:p>
        </p:txBody>
      </p:sp>
      <p:sp>
        <p:nvSpPr>
          <p:cNvPr id="17" name="标题 1"/>
          <p:cNvSpPr txBox="1"/>
          <p:nvPr>
            <p:custDataLst>
              <p:tags r:id="rId11"/>
            </p:custDataLst>
          </p:nvPr>
        </p:nvSpPr>
        <p:spPr>
          <a:xfrm>
            <a:off x="5073175" y="4781795"/>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6</a:t>
            </a: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a:t>
            </a:r>
            <a:endParaRPr kumimoji="1" lang="zh-CN" altLang="en-US"/>
          </a:p>
        </p:txBody>
      </p:sp>
      <p:sp>
        <p:nvSpPr>
          <p:cNvPr id="18" name="标题 1"/>
          <p:cNvSpPr txBox="1"/>
          <p:nvPr>
            <p:custDataLst>
              <p:tags r:id="rId12"/>
            </p:custDataLst>
          </p:nvPr>
        </p:nvSpPr>
        <p:spPr>
          <a:xfrm>
            <a:off x="5480747" y="2553989"/>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sym typeface="+mn-ea"/>
              </a:rPr>
              <a:t>研究思路与技术架构</a:t>
            </a:r>
            <a:endParaRPr kumimoji="1" lang="zh-CN" altLang="en-US"/>
          </a:p>
        </p:txBody>
      </p:sp>
      <p:sp>
        <p:nvSpPr>
          <p:cNvPr id="19" name="标题 1"/>
          <p:cNvSpPr txBox="1"/>
          <p:nvPr>
            <p:custDataLst>
              <p:tags r:id="rId13"/>
            </p:custDataLst>
          </p:nvPr>
        </p:nvSpPr>
        <p:spPr>
          <a:xfrm>
            <a:off x="5073175" y="5524356"/>
            <a:ext cx="423953" cy="430887"/>
          </a:xfrm>
          <a:prstGeom prst="rect">
            <a:avLst/>
          </a:prstGeom>
          <a:noFill/>
          <a:ln w="12700" cap="sq">
            <a:noFill/>
            <a:miter/>
          </a:ln>
        </p:spPr>
        <p:txBody>
          <a:bodyPr vert="horz" wrap="square" lIns="0" tIns="0" rIns="0" bIns="0" rtlCol="0" anchor="ctr"/>
          <a:lstStyle/>
          <a:p>
            <a:pPr algn="l">
              <a:lnSpc>
                <a:spcPct val="100000"/>
              </a:lnSpc>
            </a:pP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7</a:t>
            </a:r>
            <a:r>
              <a:rPr kumimoji="1" lang="en-US" altLang="zh-CN" sz="2400">
                <a:ln w="12700">
                  <a:noFill/>
                </a:ln>
                <a:solidFill>
                  <a:srgbClr val="25A7EE">
                    <a:alpha val="100000"/>
                  </a:srgbClr>
                </a:solidFill>
                <a:latin typeface="Source Han Sans" panose="020B0400000000000000" charset="-122"/>
                <a:ea typeface="Source Han Sans" panose="020B0400000000000000" charset="-122"/>
                <a:cs typeface="Source Han Sans" panose="020B0400000000000000" charset="-122"/>
              </a:rPr>
              <a:t>.</a:t>
            </a:r>
            <a:endParaRPr kumimoji="1" lang="zh-CN" altLang="en-US"/>
          </a:p>
        </p:txBody>
      </p:sp>
      <p:sp>
        <p:nvSpPr>
          <p:cNvPr id="20" name="标题 1"/>
          <p:cNvSpPr txBox="1"/>
          <p:nvPr>
            <p:custDataLst>
              <p:tags r:id="rId14"/>
            </p:custDataLst>
          </p:nvPr>
        </p:nvSpPr>
        <p:spPr>
          <a:xfrm>
            <a:off x="5520117" y="5444825"/>
            <a:ext cx="5760000" cy="648000"/>
          </a:xfrm>
          <a:prstGeom prst="rect">
            <a:avLst/>
          </a:prstGeom>
          <a:noFill/>
          <a:ln>
            <a:noFill/>
          </a:ln>
        </p:spPr>
        <p:txBody>
          <a:bodyPr vert="horz" wrap="square" lIns="0" tIns="0" rIns="0" bIns="0" rtlCol="0" anchor="t"/>
          <a:lstStyle/>
          <a:p>
            <a:pPr algn="l">
              <a:lnSpc>
                <a:spcPct val="120000"/>
              </a:lnSpc>
            </a:pPr>
            <a:r>
              <a:rPr kumimoji="1" lang="en-US" altLang="zh-CN" sz="20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项目总结</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项目背景</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01</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60399" y="4330684"/>
            <a:ext cx="4942238" cy="196983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全球糖尿病患者数量持续增长，中国是糖尿病大国，患者超1.4亿，且发病率呈年轻化趋势，传统诊疗模式效率不足，难以满足庞大患者群体的精准诊断需求。
世界卫生组织数据显示，糖尿病并发症高达100多种，是目前已知并发症最多的一种疾病，严重影响患者生活质量，给医疗系统带来沉重负担。</a:t>
            </a:r>
            <a:endParaRPr kumimoji="1" lang="zh-CN" altLang="en-US"/>
          </a:p>
        </p:txBody>
      </p:sp>
      <p:sp>
        <p:nvSpPr>
          <p:cNvPr id="4" name="标题 1"/>
          <p:cNvSpPr txBox="1"/>
          <p:nvPr/>
        </p:nvSpPr>
        <p:spPr>
          <a:xfrm>
            <a:off x="1166461" y="3941716"/>
            <a:ext cx="4428427" cy="307777"/>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糖尿病发病率攀升</a:t>
            </a:r>
            <a:endParaRPr kumimoji="1" lang="zh-CN" altLang="en-US"/>
          </a:p>
        </p:txBody>
      </p:sp>
      <p:sp>
        <p:nvSpPr>
          <p:cNvPr id="5" name="标题 1"/>
          <p:cNvSpPr txBox="1"/>
          <p:nvPr/>
        </p:nvSpPr>
        <p:spPr>
          <a:xfrm>
            <a:off x="3661795" y="1828800"/>
            <a:ext cx="5714679" cy="1402597"/>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传统诊断依赖单一指标和医生经验，存在漏诊率高、管理粗放等问题，难以高效处理多维度数据并提供个性化建议，导致部分患者错过最佳治疗时机。
临床验证显示，传统诊疗模式下，糖尿病早期诊断准确率不足70%，且患者依从性较低，健康管理效果不佳。</a:t>
            </a:r>
            <a:endParaRPr kumimoji="1" lang="zh-CN" altLang="en-US"/>
          </a:p>
        </p:txBody>
      </p:sp>
      <p:sp>
        <p:nvSpPr>
          <p:cNvPr id="6" name="标题 1"/>
          <p:cNvSpPr txBox="1"/>
          <p:nvPr/>
        </p:nvSpPr>
        <p:spPr>
          <a:xfrm>
            <a:off x="4167858" y="1486761"/>
            <a:ext cx="5200867" cy="307777"/>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传统诊疗模式局限</a:t>
            </a:r>
            <a:endParaRPr kumimoji="1" lang="zh-CN" altLang="en-US"/>
          </a:p>
        </p:txBody>
      </p:sp>
      <p:sp>
        <p:nvSpPr>
          <p:cNvPr id="7" name="标题 1"/>
          <p:cNvSpPr txBox="1"/>
          <p:nvPr/>
        </p:nvSpPr>
        <p:spPr>
          <a:xfrm>
            <a:off x="6832385" y="4330684"/>
            <a:ext cx="4686515" cy="1969830"/>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《“健康中国2030”规划纲要》明确提出推进AI在慢性病管理中的应用，为项目提供了政策支撑，同时，随着人们对健康需求的不断增长，“治未病”成为主要趋势，AI技术在医疗领域的应用前景广阔。
人工智能技术的发展为糖尿病精准诊疗提供了新的思路和方法，通过构建多模态数据融合体系和智能诊断模型，有望实现对糖尿病的早期精准诊断和个性化健康管理。</a:t>
            </a:r>
            <a:endParaRPr kumimoji="1" lang="zh-CN" altLang="en-US"/>
          </a:p>
        </p:txBody>
      </p:sp>
      <p:sp>
        <p:nvSpPr>
          <p:cNvPr id="8" name="标题 1"/>
          <p:cNvSpPr txBox="1"/>
          <p:nvPr/>
        </p:nvSpPr>
        <p:spPr>
          <a:xfrm>
            <a:off x="7338446" y="3940189"/>
            <a:ext cx="4168081" cy="307777"/>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政策与需求驱动创新</a:t>
            </a:r>
            <a:endParaRPr kumimoji="1" lang="zh-CN" altLang="en-US"/>
          </a:p>
        </p:txBody>
      </p:sp>
      <p:sp>
        <p:nvSpPr>
          <p:cNvPr id="9" name="标题 1"/>
          <p:cNvSpPr txBox="1"/>
          <p:nvPr/>
        </p:nvSpPr>
        <p:spPr>
          <a:xfrm>
            <a:off x="3661796" y="1486761"/>
            <a:ext cx="522746" cy="307777"/>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D9D9D9">
                    <a:alpha val="100000"/>
                  </a:srgbClr>
                </a:solidFill>
                <a:latin typeface="Source Han Sans" panose="020B0400000000000000" charset="-122"/>
                <a:ea typeface="Source Han Sans" panose="020B0400000000000000" charset="-122"/>
                <a:cs typeface="Source Han Sans" panose="020B0400000000000000" charset="-122"/>
              </a:rPr>
              <a:t>02</a:t>
            </a:r>
            <a:endParaRPr kumimoji="1" lang="zh-CN" altLang="en-US"/>
          </a:p>
        </p:txBody>
      </p:sp>
      <p:sp>
        <p:nvSpPr>
          <p:cNvPr id="10" name="标题 1"/>
          <p:cNvSpPr txBox="1"/>
          <p:nvPr/>
        </p:nvSpPr>
        <p:spPr>
          <a:xfrm>
            <a:off x="660399" y="3941716"/>
            <a:ext cx="522746" cy="307777"/>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D9D9D9">
                    <a:alpha val="100000"/>
                  </a:srgbClr>
                </a:solidFill>
                <a:latin typeface="Source Han Sans" panose="020B0400000000000000" charset="-122"/>
                <a:ea typeface="Source Han Sans" panose="020B0400000000000000" charset="-122"/>
                <a:cs typeface="Source Han Sans" panose="020B0400000000000000" charset="-122"/>
              </a:rPr>
              <a:t>01</a:t>
            </a:r>
            <a:endParaRPr kumimoji="1" lang="zh-CN" altLang="en-US"/>
          </a:p>
        </p:txBody>
      </p:sp>
      <p:sp>
        <p:nvSpPr>
          <p:cNvPr id="11" name="标题 1"/>
          <p:cNvSpPr txBox="1"/>
          <p:nvPr/>
        </p:nvSpPr>
        <p:spPr>
          <a:xfrm>
            <a:off x="6832385" y="3941716"/>
            <a:ext cx="522746" cy="307777"/>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D9D9D9">
                    <a:alpha val="100000"/>
                  </a:srgbClr>
                </a:solidFill>
                <a:latin typeface="Source Han Sans" panose="020B0400000000000000" charset="-122"/>
                <a:ea typeface="Source Han Sans" panose="020B0400000000000000" charset="-122"/>
                <a:cs typeface="Source Han Sans" panose="020B0400000000000000" charset="-122"/>
              </a:rPr>
              <a:t>03</a:t>
            </a:r>
            <a:endParaRPr kumimoji="1" lang="zh-CN" altLang="en-US"/>
          </a:p>
        </p:txBody>
      </p:sp>
      <p:sp>
        <p:nvSpPr>
          <p:cNvPr id="12" name="标题 1"/>
          <p:cNvSpPr txBox="1"/>
          <p:nvPr/>
        </p:nvSpPr>
        <p:spPr>
          <a:xfrm>
            <a:off x="466241" y="3452248"/>
            <a:ext cx="11259519" cy="69743"/>
          </a:xfrm>
          <a:prstGeom prst="roundRect">
            <a:avLst>
              <a:gd name="adj" fmla="val 50000"/>
            </a:avLst>
          </a:prstGeom>
          <a:gradFill>
            <a:gsLst>
              <a:gs pos="0">
                <a:schemeClr val="accent1"/>
              </a:gs>
              <a:gs pos="100000">
                <a:schemeClr val="accent1">
                  <a:lumMod val="75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660400" y="3347634"/>
            <a:ext cx="278970" cy="278970"/>
          </a:xfrm>
          <a:prstGeom prst="ellipse">
            <a:avLst/>
          </a:prstGeom>
          <a:solidFill>
            <a:schemeClr val="accent2"/>
          </a:solidFill>
          <a:ln w="28575"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flipH="1">
            <a:off x="741766" y="3429000"/>
            <a:ext cx="116238" cy="116238"/>
          </a:xfrm>
          <a:prstGeom prst="ellipse">
            <a:avLst/>
          </a:prstGeom>
          <a:solidFill>
            <a:schemeClr val="bg1"/>
          </a:solidFill>
          <a:ln w="28575"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3661796" y="3347634"/>
            <a:ext cx="278970" cy="278970"/>
          </a:xfrm>
          <a:prstGeom prst="ellipse">
            <a:avLst/>
          </a:prstGeom>
          <a:solidFill>
            <a:schemeClr val="accent2"/>
          </a:solidFill>
          <a:ln w="28575"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flipH="1">
            <a:off x="3743162" y="3429000"/>
            <a:ext cx="116238" cy="116238"/>
          </a:xfrm>
          <a:prstGeom prst="ellipse">
            <a:avLst/>
          </a:prstGeom>
          <a:solidFill>
            <a:schemeClr val="bg1"/>
          </a:solidFill>
          <a:ln w="28575"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6832385" y="3347634"/>
            <a:ext cx="278970" cy="278970"/>
          </a:xfrm>
          <a:prstGeom prst="ellipse">
            <a:avLst/>
          </a:prstGeom>
          <a:solidFill>
            <a:schemeClr val="accent2"/>
          </a:solidFill>
          <a:ln w="28575"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flipH="1">
            <a:off x="6913751" y="3429000"/>
            <a:ext cx="116238" cy="116238"/>
          </a:xfrm>
          <a:prstGeom prst="ellipse">
            <a:avLst/>
          </a:prstGeom>
          <a:solidFill>
            <a:schemeClr val="bg1"/>
          </a:solidFill>
          <a:ln w="28575"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糖尿病现状与挑战</a:t>
            </a:r>
            <a:endParaRPr kumimoji="1" lang="zh-CN" altLang="en-US"/>
          </a:p>
        </p:txBody>
      </p:sp>
      <p:sp>
        <p:nvSpPr>
          <p:cNvPr id="21"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团队介绍</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02</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2008890" y="4241609"/>
            <a:ext cx="6652157" cy="1396602"/>
          </a:xfrm>
          <a:prstGeom prst="rect">
            <a:avLst/>
          </a:prstGeom>
          <a:noFill/>
          <a:ln cap="sq">
            <a:noFill/>
          </a:ln>
        </p:spPr>
        <p:txBody>
          <a:bodyPr vert="horz" wrap="square" lIns="0" tIns="0" rIns="0" bIns="0" rtlCol="0" anchor="t"/>
          <a:lstStyle/>
          <a:p>
            <a:pPr algn="l">
              <a:lnSpc>
                <a:spcPct val="140000"/>
              </a:lnSpc>
            </a:pPr>
            <a:endParaRPr kumimoji="1" lang="zh-CN" altLang="en-US"/>
          </a:p>
        </p:txBody>
      </p:sp>
      <p:sp>
        <p:nvSpPr>
          <p:cNvPr id="16" name="标题 1"/>
          <p:cNvSpPr txBox="1"/>
          <p:nvPr/>
        </p:nvSpPr>
        <p:spPr>
          <a:xfrm>
            <a:off x="2006600" y="3834604"/>
            <a:ext cx="6654447" cy="451338"/>
          </a:xfrm>
          <a:prstGeom prst="rect">
            <a:avLst/>
          </a:prstGeom>
          <a:noFill/>
          <a:ln cap="sq">
            <a:noFill/>
          </a:ln>
        </p:spPr>
        <p:txBody>
          <a:bodyPr vert="horz" wrap="square" lIns="0" tIns="0" rIns="0" bIns="0" rtlCol="0" anchor="ctr"/>
          <a:lstStyle/>
          <a:p>
            <a:pPr algn="l">
              <a:lnSpc>
                <a:spcPct val="130000"/>
              </a:lnSpc>
            </a:pPr>
            <a:endParaRPr kumimoji="1" lang="zh-CN" altLang="en-US"/>
          </a:p>
        </p:txBody>
      </p:sp>
      <p:sp>
        <p:nvSpPr>
          <p:cNvPr id="17" name="标题 1"/>
          <p:cNvSpPr txBox="1"/>
          <p:nvPr/>
        </p:nvSpPr>
        <p:spPr>
          <a:xfrm>
            <a:off x="9203819" y="4627131"/>
            <a:ext cx="360756" cy="360755"/>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团队成员</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文本框 20"/>
          <p:cNvSpPr txBox="1"/>
          <p:nvPr/>
        </p:nvSpPr>
        <p:spPr>
          <a:xfrm>
            <a:off x="631825" y="1071245"/>
            <a:ext cx="11224895" cy="5354320"/>
          </a:xfrm>
          <a:prstGeom prst="rect">
            <a:avLst/>
          </a:prstGeom>
          <a:noFill/>
        </p:spPr>
        <p:txBody>
          <a:bodyPr wrap="square" rtlCol="0">
            <a:spAutoFit/>
          </a:bodyPr>
          <a:p>
            <a:r>
              <a:rPr lang="zh-CN" altLang="en-US">
                <a:solidFill>
                  <a:schemeClr val="accent1"/>
                </a:solidFill>
              </a:rPr>
              <a:t>第一申报作者</a:t>
            </a:r>
            <a:endParaRPr lang="zh-CN" altLang="en-US">
              <a:solidFill>
                <a:schemeClr val="accent1"/>
              </a:solidFill>
            </a:endParaRPr>
          </a:p>
          <a:p>
            <a:r>
              <a:rPr lang="zh-CN" altLang="en-US" b="1"/>
              <a:t>刘恒</a:t>
            </a:r>
            <a:r>
              <a:rPr lang="zh-CN" altLang="en-US"/>
              <a:t>，男，</a:t>
            </a:r>
            <a:r>
              <a:rPr lang="en-US" altLang="zh-CN"/>
              <a:t>21</a:t>
            </a:r>
            <a:r>
              <a:rPr lang="zh-CN" altLang="en-US"/>
              <a:t>岁，共青团员，软件工程专业绩点排名前</a:t>
            </a:r>
            <a:r>
              <a:rPr lang="en-US" altLang="zh-CN"/>
              <a:t>14%</a:t>
            </a:r>
            <a:r>
              <a:rPr lang="zh-CN" altLang="en-US"/>
              <a:t>，</a:t>
            </a:r>
            <a:r>
              <a:rPr lang="en-US" altLang="zh-CN"/>
              <a:t>CET6</a:t>
            </a:r>
            <a:r>
              <a:rPr lang="zh-CN" altLang="en-US"/>
              <a:t>（</a:t>
            </a:r>
            <a:r>
              <a:rPr lang="en-US" altLang="zh-CN"/>
              <a:t>539</a:t>
            </a:r>
            <a:r>
              <a:rPr lang="zh-CN" altLang="en-US"/>
              <a:t>）</a:t>
            </a:r>
            <a:r>
              <a:rPr lang="en-US" altLang="zh-CN"/>
              <a:t>, </a:t>
            </a:r>
            <a:r>
              <a:rPr lang="zh-CN" altLang="en-US"/>
              <a:t>获得过两次校级二等奖学金，大学生数学竞赛省奖。参与多个后端项目的开发</a:t>
            </a:r>
            <a:endParaRPr lang="zh-CN" altLang="en-US"/>
          </a:p>
          <a:p>
            <a:pPr algn="l">
              <a:buClrTx/>
              <a:buSzTx/>
              <a:buFontTx/>
            </a:pPr>
            <a:r>
              <a:rPr lang="zh-CN" altLang="en-US">
                <a:solidFill>
                  <a:schemeClr val="accent1"/>
                </a:solidFill>
              </a:rPr>
              <a:t>第二申报作者</a:t>
            </a:r>
            <a:endParaRPr lang="zh-CN" altLang="en-US">
              <a:solidFill>
                <a:schemeClr val="accent1"/>
              </a:solidFill>
            </a:endParaRPr>
          </a:p>
          <a:p>
            <a:r>
              <a:rPr lang="zh-CN" altLang="en-US" b="1"/>
              <a:t>唐易成</a:t>
            </a:r>
            <a:r>
              <a:rPr lang="zh-CN" altLang="en-US"/>
              <a:t>，软件学院软件工程</a:t>
            </a:r>
            <a:r>
              <a:rPr lang="en-US" altLang="zh-CN"/>
              <a:t>22</a:t>
            </a:r>
            <a:r>
              <a:rPr lang="zh-CN" altLang="en-US"/>
              <a:t>级，曾获吉林大学校一等奖学金，院优秀学生，院优秀干部，吉林大学单项奖，吉林大学优秀共青团员，竞赛经历</a:t>
            </a:r>
            <a:r>
              <a:rPr lang="en-US" altLang="zh-CN"/>
              <a:t>CCF360</a:t>
            </a:r>
            <a:r>
              <a:rPr lang="zh-CN" altLang="en-US"/>
              <a:t>分（前</a:t>
            </a:r>
            <a:r>
              <a:rPr lang="en-US" altLang="zh-CN"/>
              <a:t>1.59%</a:t>
            </a:r>
            <a:r>
              <a:rPr lang="zh-CN" altLang="en-US"/>
              <a:t>），曾获全国大学生数学建模大赛省一等奖、美国大学生数学建模大赛</a:t>
            </a:r>
            <a:r>
              <a:rPr lang="en-US" altLang="zh-CN"/>
              <a:t>h</a:t>
            </a:r>
            <a:r>
              <a:rPr lang="zh-CN" altLang="en-US"/>
              <a:t>奖、蓝桥杯省二等奖、全国大学生</a:t>
            </a:r>
            <a:r>
              <a:rPr lang="en-US" altLang="zh-CN"/>
              <a:t>C</a:t>
            </a:r>
            <a:r>
              <a:rPr lang="zh-CN" altLang="en-US"/>
              <a:t>语言程序设计大赛</a:t>
            </a:r>
            <a:r>
              <a:rPr lang="en-US" altLang="zh-CN"/>
              <a:t>(</a:t>
            </a:r>
            <a:r>
              <a:rPr lang="zh-CN" altLang="en-US"/>
              <a:t>本科赛道</a:t>
            </a:r>
            <a:r>
              <a:rPr lang="en-US" altLang="zh-CN"/>
              <a:t>)</a:t>
            </a:r>
            <a:r>
              <a:rPr lang="zh-CN" altLang="en-US"/>
              <a:t>一等奖</a:t>
            </a:r>
            <a:endParaRPr lang="zh-CN" altLang="en-US"/>
          </a:p>
          <a:p>
            <a:pPr algn="l">
              <a:buClrTx/>
              <a:buSzTx/>
              <a:buFontTx/>
            </a:pPr>
            <a:r>
              <a:rPr lang="zh-CN" altLang="en-US">
                <a:solidFill>
                  <a:schemeClr val="accent1"/>
                </a:solidFill>
              </a:rPr>
              <a:t>第三申报作者</a:t>
            </a:r>
            <a:endParaRPr lang="zh-CN" altLang="en-US">
              <a:solidFill>
                <a:schemeClr val="accent1"/>
              </a:solidFill>
            </a:endParaRPr>
          </a:p>
          <a:p>
            <a:r>
              <a:rPr lang="zh-CN" altLang="en-US" b="1"/>
              <a:t>杨威</a:t>
            </a:r>
            <a:r>
              <a:rPr lang="zh-CN" altLang="en-US"/>
              <a:t>，男，</a:t>
            </a:r>
            <a:r>
              <a:rPr lang="en-US" altLang="zh-CN"/>
              <a:t>21</a:t>
            </a:r>
            <a:r>
              <a:rPr lang="zh-CN" altLang="en-US"/>
              <a:t>岁，共青团员。吉林大学软件学院软件工程专业大三学生。曾获国家励志奖学金两次，单项奖学金一次。曾获吉林大学软件学院优秀学生称号。竞赛经历</a:t>
            </a:r>
            <a:r>
              <a:rPr lang="en-US" altLang="zh-CN"/>
              <a:t>CCF</a:t>
            </a:r>
            <a:r>
              <a:rPr lang="zh-CN" altLang="en-US"/>
              <a:t>认证前</a:t>
            </a:r>
            <a:r>
              <a:rPr lang="en-US" altLang="zh-CN"/>
              <a:t>15%</a:t>
            </a:r>
            <a:r>
              <a:rPr lang="zh-CN" altLang="en-US"/>
              <a:t>，</a:t>
            </a:r>
            <a:r>
              <a:rPr lang="en-US" altLang="zh-CN"/>
              <a:t>CET6</a:t>
            </a:r>
            <a:r>
              <a:rPr lang="zh-CN" altLang="en-US"/>
              <a:t>（</a:t>
            </a:r>
            <a:r>
              <a:rPr lang="en-US" altLang="zh-CN"/>
              <a:t>480</a:t>
            </a:r>
            <a:r>
              <a:rPr lang="zh-CN" altLang="en-US"/>
              <a:t>分）。</a:t>
            </a:r>
            <a:endParaRPr lang="zh-CN" altLang="en-US"/>
          </a:p>
          <a:p>
            <a:pPr algn="l">
              <a:buClrTx/>
              <a:buSzTx/>
              <a:buFontTx/>
            </a:pPr>
            <a:r>
              <a:rPr lang="zh-CN" altLang="en-US">
                <a:solidFill>
                  <a:schemeClr val="accent1"/>
                </a:solidFill>
              </a:rPr>
              <a:t>第四申报作者</a:t>
            </a:r>
            <a:endParaRPr lang="zh-CN" altLang="en-US">
              <a:solidFill>
                <a:schemeClr val="accent1"/>
              </a:solidFill>
            </a:endParaRPr>
          </a:p>
          <a:p>
            <a:r>
              <a:rPr lang="zh-CN" altLang="en-US" b="1"/>
              <a:t>杜超群</a:t>
            </a:r>
            <a:r>
              <a:rPr lang="zh-CN" altLang="en-US"/>
              <a:t>，男，</a:t>
            </a:r>
            <a:r>
              <a:rPr lang="en-US" altLang="zh-CN"/>
              <a:t>21</a:t>
            </a:r>
            <a:r>
              <a:rPr lang="zh-CN" altLang="en-US"/>
              <a:t>岁。吉林大学软件学院软件工程专业大三学生。曾获吉林大学三等奖学金两次，道德风尚奖，社会实践奖各一次。参与蓝桥杯</a:t>
            </a:r>
            <a:r>
              <a:rPr lang="en-US" altLang="zh-CN"/>
              <a:t>A</a:t>
            </a:r>
            <a:r>
              <a:rPr lang="zh-CN" altLang="en-US"/>
              <a:t>组编程竞赛获得省级三等奖等荣誉。热衷于社会实践和艺术活动，、参加吉林大学红色话剧演出担任舞台监督，曾作为话剧演员到长春市艺术研究所、化学学院主题党日活动进行演出。</a:t>
            </a:r>
            <a:endParaRPr lang="zh-CN" altLang="en-US"/>
          </a:p>
          <a:p>
            <a:pPr algn="l">
              <a:buClrTx/>
              <a:buSzTx/>
              <a:buFontTx/>
            </a:pPr>
            <a:r>
              <a:rPr lang="zh-CN" altLang="en-US">
                <a:solidFill>
                  <a:schemeClr val="accent1"/>
                </a:solidFill>
              </a:rPr>
              <a:t>第五申报作者</a:t>
            </a:r>
            <a:endParaRPr lang="zh-CN" altLang="en-US">
              <a:solidFill>
                <a:schemeClr val="accent1"/>
              </a:solidFill>
            </a:endParaRPr>
          </a:p>
          <a:p>
            <a:r>
              <a:rPr lang="zh-CN" altLang="en-US" b="1"/>
              <a:t>胡建威</a:t>
            </a:r>
            <a:r>
              <a:rPr lang="zh-CN" altLang="en-US"/>
              <a:t>，男，</a:t>
            </a:r>
            <a:r>
              <a:rPr lang="en-US" altLang="zh-CN"/>
              <a:t>21</a:t>
            </a:r>
            <a:r>
              <a:rPr lang="zh-CN" altLang="en-US"/>
              <a:t>岁。吉林大学软件学院软件工程专业大三学生。参与蓝桥杯</a:t>
            </a:r>
            <a:r>
              <a:rPr lang="en-US" altLang="zh-CN"/>
              <a:t>A</a:t>
            </a:r>
            <a:r>
              <a:rPr lang="zh-CN" altLang="en-US"/>
              <a:t>组编程竞赛获得省奖荣誉</a:t>
            </a:r>
            <a:r>
              <a:rPr lang="en-US" altLang="zh-CN"/>
              <a:t>,CACC</a:t>
            </a:r>
            <a:r>
              <a:rPr lang="zh-CN" altLang="en-US"/>
              <a:t>编程竞赛获得省奖荣誉</a:t>
            </a:r>
            <a:r>
              <a:rPr lang="en-US" altLang="zh-CN"/>
              <a:t>,</a:t>
            </a:r>
            <a:r>
              <a:rPr lang="zh-CN" altLang="en-US"/>
              <a:t>参与多个后端项目的开发。热衷于社会实践和艺术活动，参加吉林大学话剧并担任摄影师。</a:t>
            </a:r>
            <a:endParaRPr lang="zh-CN" altLang="en-US"/>
          </a:p>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b="1"/>
          </a:p>
        </p:txBody>
      </p:sp>
      <p:sp>
        <p:nvSpPr>
          <p:cNvPr id="15" name="标题 1"/>
          <p:cNvSpPr txBox="1"/>
          <p:nvPr/>
        </p:nvSpPr>
        <p:spPr>
          <a:xfrm>
            <a:off x="2008890" y="4241609"/>
            <a:ext cx="6652157" cy="1396602"/>
          </a:xfrm>
          <a:prstGeom prst="rect">
            <a:avLst/>
          </a:prstGeom>
          <a:noFill/>
          <a:ln cap="sq">
            <a:noFill/>
          </a:ln>
        </p:spPr>
        <p:txBody>
          <a:bodyPr vert="horz" wrap="square" lIns="0" tIns="0" rIns="0" bIns="0" rtlCol="0" anchor="t"/>
          <a:lstStyle/>
          <a:p>
            <a:pPr algn="l">
              <a:lnSpc>
                <a:spcPct val="140000"/>
              </a:lnSpc>
            </a:pPr>
            <a:endParaRPr kumimoji="1" lang="zh-CN" altLang="en-US"/>
          </a:p>
        </p:txBody>
      </p:sp>
      <p:sp>
        <p:nvSpPr>
          <p:cNvPr id="16" name="标题 1"/>
          <p:cNvSpPr txBox="1"/>
          <p:nvPr/>
        </p:nvSpPr>
        <p:spPr>
          <a:xfrm>
            <a:off x="2006600" y="3834604"/>
            <a:ext cx="6654447" cy="451338"/>
          </a:xfrm>
          <a:prstGeom prst="rect">
            <a:avLst/>
          </a:prstGeom>
          <a:noFill/>
          <a:ln cap="sq">
            <a:noFill/>
          </a:ln>
        </p:spPr>
        <p:txBody>
          <a:bodyPr vert="horz" wrap="square" lIns="0" tIns="0" rIns="0" bIns="0" rtlCol="0" anchor="ctr"/>
          <a:lstStyle/>
          <a:p>
            <a:pPr algn="l">
              <a:lnSpc>
                <a:spcPct val="130000"/>
              </a:lnSpc>
            </a:pPr>
            <a:endParaRPr kumimoji="1" lang="zh-CN" altLang="en-US"/>
          </a:p>
        </p:txBody>
      </p:sp>
      <p:sp>
        <p:nvSpPr>
          <p:cNvPr id="17" name="标题 1"/>
          <p:cNvSpPr txBox="1"/>
          <p:nvPr/>
        </p:nvSpPr>
        <p:spPr>
          <a:xfrm>
            <a:off x="9203819" y="4627131"/>
            <a:ext cx="360756" cy="360755"/>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团队成员</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文本框 20"/>
          <p:cNvSpPr txBox="1"/>
          <p:nvPr/>
        </p:nvSpPr>
        <p:spPr>
          <a:xfrm>
            <a:off x="631825" y="1071245"/>
            <a:ext cx="11224895" cy="5631180"/>
          </a:xfrm>
          <a:prstGeom prst="rect">
            <a:avLst/>
          </a:prstGeom>
          <a:noFill/>
        </p:spPr>
        <p:txBody>
          <a:bodyPr wrap="square" rtlCol="0">
            <a:spAutoFit/>
          </a:bodyPr>
          <a:p>
            <a:pPr algn="l">
              <a:buClrTx/>
              <a:buSzTx/>
              <a:buFontTx/>
            </a:pPr>
            <a:r>
              <a:rPr lang="zh-CN" altLang="en-US">
                <a:solidFill>
                  <a:schemeClr val="accent1"/>
                </a:solidFill>
              </a:rPr>
              <a:t>第六申报作者</a:t>
            </a:r>
            <a:endParaRPr lang="zh-CN" altLang="en-US">
              <a:solidFill>
                <a:schemeClr val="accent1"/>
              </a:solidFill>
            </a:endParaRPr>
          </a:p>
          <a:p>
            <a:r>
              <a:rPr lang="zh-CN" altLang="en-US" b="1"/>
              <a:t>张文昊</a:t>
            </a:r>
            <a:r>
              <a:rPr lang="zh-CN" altLang="en-US"/>
              <a:t>，男，</a:t>
            </a:r>
            <a:r>
              <a:rPr lang="en-US" altLang="zh-CN"/>
              <a:t>21</a:t>
            </a:r>
            <a:r>
              <a:rPr lang="zh-CN" altLang="en-US"/>
              <a:t>岁，共青团员。哲学社会学院</a:t>
            </a:r>
            <a:r>
              <a:rPr lang="en-US" altLang="zh-CN"/>
              <a:t>2022</a:t>
            </a:r>
            <a:r>
              <a:rPr lang="zh-CN" altLang="en-US"/>
              <a:t>级本科生，综合成绩年级排名前</a:t>
            </a:r>
            <a:r>
              <a:rPr lang="en-US" altLang="zh-CN"/>
              <a:t>25%</a:t>
            </a:r>
            <a:r>
              <a:rPr lang="zh-CN" altLang="en-US"/>
              <a:t>，获</a:t>
            </a:r>
            <a:r>
              <a:rPr lang="en-US" altLang="zh-CN"/>
              <a:t>2022——2023</a:t>
            </a:r>
            <a:r>
              <a:rPr lang="zh-CN" altLang="en-US"/>
              <a:t>学年吉林大学三等奖学金，</a:t>
            </a:r>
            <a:r>
              <a:rPr lang="en-US" altLang="zh-CN"/>
              <a:t>2023——2024</a:t>
            </a:r>
            <a:r>
              <a:rPr lang="zh-CN" altLang="en-US"/>
              <a:t>学年吉林大学二等奖学金，</a:t>
            </a:r>
            <a:r>
              <a:rPr lang="en-US" altLang="zh-CN"/>
              <a:t>2023——2024</a:t>
            </a:r>
            <a:r>
              <a:rPr lang="zh-CN" altLang="en-US"/>
              <a:t>学年吉林大学专项奖学金社会实践奖，</a:t>
            </a:r>
            <a:r>
              <a:rPr lang="en-US" altLang="zh-CN"/>
              <a:t>2023</a:t>
            </a:r>
            <a:r>
              <a:rPr lang="zh-CN" altLang="en-US"/>
              <a:t>年获大学生讲思政课大赛校一等奖。参与省级、校级大创并顺利结项。</a:t>
            </a:r>
            <a:endParaRPr lang="zh-CN" altLang="en-US"/>
          </a:p>
          <a:p>
            <a:pPr algn="l">
              <a:buClrTx/>
              <a:buSzTx/>
              <a:buFontTx/>
            </a:pPr>
            <a:r>
              <a:rPr lang="zh-CN" altLang="en-US">
                <a:solidFill>
                  <a:schemeClr val="accent1"/>
                </a:solidFill>
              </a:rPr>
              <a:t>第七申报作者</a:t>
            </a:r>
            <a:endParaRPr lang="zh-CN" altLang="en-US">
              <a:solidFill>
                <a:schemeClr val="accent1"/>
              </a:solidFill>
            </a:endParaRPr>
          </a:p>
          <a:p>
            <a:r>
              <a:rPr lang="zh-CN" altLang="en-US" b="1"/>
              <a:t>王羽丰</a:t>
            </a:r>
            <a:r>
              <a:rPr lang="zh-CN" altLang="en-US"/>
              <a:t>，男，</a:t>
            </a:r>
            <a:r>
              <a:rPr lang="en-US" altLang="zh-CN"/>
              <a:t>24</a:t>
            </a:r>
            <a:r>
              <a:rPr lang="zh-CN" altLang="en-US"/>
              <a:t>岁，中共党员。吉林大学白求恩第一临床医学院临床医学专业本科生，综合成绩专业排名前</a:t>
            </a:r>
            <a:r>
              <a:rPr lang="en-US" altLang="zh-CN"/>
              <a:t>10%</a:t>
            </a:r>
            <a:r>
              <a:rPr lang="zh-CN" altLang="en-US"/>
              <a:t>，获校一等奖学金。主持或参与</a:t>
            </a:r>
            <a:r>
              <a:rPr lang="en-US" altLang="zh-CN"/>
              <a:t>4</a:t>
            </a:r>
            <a:r>
              <a:rPr lang="zh-CN" altLang="en-US"/>
              <a:t>项科研项目：作为组长获第八届全国基础医学创新论坛及实验设计竞赛国家一级一等奖，全国大学生生命科学竞赛国家级三等奖；主持</a:t>
            </a:r>
            <a:r>
              <a:rPr lang="en-US" altLang="zh-CN"/>
              <a:t>2023</a:t>
            </a:r>
            <a:r>
              <a:rPr lang="zh-CN" altLang="en-US"/>
              <a:t>年国家级大创项目、</a:t>
            </a:r>
            <a:r>
              <a:rPr lang="en-US" altLang="zh-CN"/>
              <a:t>2022</a:t>
            </a:r>
            <a:r>
              <a:rPr lang="zh-CN" altLang="en-US"/>
              <a:t>年省级大创项目。参与发表</a:t>
            </a:r>
            <a:r>
              <a:rPr lang="en-US" altLang="zh-CN"/>
              <a:t>SCI</a:t>
            </a:r>
            <a:r>
              <a:rPr lang="zh-CN" altLang="en-US"/>
              <a:t>论文</a:t>
            </a:r>
            <a:r>
              <a:rPr lang="en-US" altLang="zh-CN"/>
              <a:t>2</a:t>
            </a:r>
            <a:r>
              <a:rPr lang="zh-CN" altLang="en-US"/>
              <a:t>篇。获牛津大学线上课程优秀学员、曼彻斯特大学暑期学校</a:t>
            </a:r>
            <a:r>
              <a:rPr lang="en-US" altLang="zh-CN"/>
              <a:t>“Star Student”</a:t>
            </a:r>
            <a:r>
              <a:rPr lang="zh-CN" altLang="en-US"/>
              <a:t>及最佳海报奖。获得</a:t>
            </a:r>
            <a:r>
              <a:rPr lang="en-US" altLang="zh-CN"/>
              <a:t>CET-6</a:t>
            </a:r>
            <a:r>
              <a:rPr lang="zh-CN" altLang="en-US"/>
              <a:t>（</a:t>
            </a:r>
            <a:r>
              <a:rPr lang="en-US" altLang="zh-CN"/>
              <a:t>590</a:t>
            </a:r>
            <a:r>
              <a:rPr lang="zh-CN" altLang="en-US"/>
              <a:t>）、雅思</a:t>
            </a:r>
            <a:r>
              <a:rPr lang="en-US" altLang="zh-CN"/>
              <a:t>7.0</a:t>
            </a:r>
            <a:r>
              <a:rPr lang="zh-CN" altLang="en-US"/>
              <a:t>等语言成绩，具备较强的临床研究与跨学科协作能力。</a:t>
            </a:r>
            <a:endParaRPr lang="zh-CN" altLang="en-US"/>
          </a:p>
          <a:p>
            <a:pPr algn="l">
              <a:buClrTx/>
              <a:buSzTx/>
              <a:buFontTx/>
            </a:pPr>
            <a:r>
              <a:rPr lang="zh-CN" altLang="en-US">
                <a:solidFill>
                  <a:schemeClr val="accent1"/>
                </a:solidFill>
              </a:rPr>
              <a:t>第八申报作者</a:t>
            </a:r>
            <a:endParaRPr lang="zh-CN" altLang="en-US">
              <a:solidFill>
                <a:schemeClr val="accent1"/>
              </a:solidFill>
            </a:endParaRPr>
          </a:p>
          <a:p>
            <a:r>
              <a:rPr lang="zh-CN" altLang="en-US" b="1"/>
              <a:t>黄明睿</a:t>
            </a:r>
            <a:r>
              <a:rPr lang="zh-CN" altLang="en-US"/>
              <a:t>，男，</a:t>
            </a:r>
            <a:r>
              <a:rPr lang="en-US" altLang="zh-CN"/>
              <a:t>23</a:t>
            </a:r>
            <a:r>
              <a:rPr lang="zh-CN" altLang="en-US"/>
              <a:t>岁，预备党员，</a:t>
            </a:r>
            <a:r>
              <a:rPr lang="en-US" altLang="zh-CN"/>
              <a:t>2020</a:t>
            </a:r>
            <a:r>
              <a:rPr lang="zh-CN" altLang="en-US"/>
              <a:t>级临床医学五年制本科在读，连续三年获校一等奖学金及优秀学生称号，多次荣获吉林大学学术科技奖学金、吉林大学白求恩系列奖项及吉林大学优秀共青团员荣誉。主持省级创新训练计划项目并顺利结题，发表一篇</a:t>
            </a:r>
            <a:r>
              <a:rPr lang="en-US" altLang="zh-CN"/>
              <a:t>SCI</a:t>
            </a:r>
            <a:r>
              <a:rPr lang="zh-CN" altLang="en-US"/>
              <a:t>论文；参与肿瘤免疫相关专利研发（第七完成人）。曾获</a:t>
            </a:r>
            <a:r>
              <a:rPr lang="en-US" altLang="zh-CN"/>
              <a:t>“</a:t>
            </a:r>
            <a:r>
              <a:rPr lang="zh-CN" altLang="en-US"/>
              <a:t>全国基础医学创新论坛实验设计大赛</a:t>
            </a:r>
            <a:r>
              <a:rPr lang="en-US" altLang="zh-CN"/>
              <a:t>”</a:t>
            </a:r>
            <a:r>
              <a:rPr lang="zh-CN" altLang="en-US"/>
              <a:t>国家级金奖、</a:t>
            </a:r>
            <a:r>
              <a:rPr lang="en-US" altLang="zh-CN"/>
              <a:t>“</a:t>
            </a:r>
            <a:r>
              <a:rPr lang="zh-CN" altLang="en-US"/>
              <a:t>挑战杯</a:t>
            </a:r>
            <a:r>
              <a:rPr lang="en-US" altLang="zh-CN"/>
              <a:t>”</a:t>
            </a:r>
            <a:r>
              <a:rPr lang="zh-CN" altLang="en-US"/>
              <a:t>校级金奖等。</a:t>
            </a:r>
            <a:endParaRPr lang="zh-CN" altLang="en-US"/>
          </a:p>
          <a:p>
            <a:pPr algn="l">
              <a:buClrTx/>
              <a:buSzTx/>
              <a:buFontTx/>
            </a:pPr>
            <a:r>
              <a:rPr lang="zh-CN" altLang="en-US">
                <a:solidFill>
                  <a:schemeClr val="accent1"/>
                </a:solidFill>
              </a:rPr>
              <a:t>第九申报作者</a:t>
            </a:r>
            <a:endParaRPr lang="zh-CN" altLang="en-US">
              <a:solidFill>
                <a:schemeClr val="accent1"/>
              </a:solidFill>
            </a:endParaRPr>
          </a:p>
          <a:p>
            <a:r>
              <a:rPr lang="zh-CN" altLang="en-US" b="1"/>
              <a:t>彭子轩</a:t>
            </a:r>
            <a:r>
              <a:rPr lang="zh-CN" altLang="en-US"/>
              <a:t>，男，</a:t>
            </a:r>
            <a:r>
              <a:rPr lang="en-US" altLang="zh-CN"/>
              <a:t>21</a:t>
            </a:r>
            <a:r>
              <a:rPr lang="zh-CN" altLang="en-US"/>
              <a:t>岁，共青团员。吉林大学软件学院软件工程专业大三学生。曾获吉林大学二级奖学金两次，单项奖学金两次。曾获吉林大学软件学院优秀学生称号。参与第九届中国国际</a:t>
            </a:r>
            <a:r>
              <a:rPr lang="en-US" altLang="zh-CN"/>
              <a:t>“</a:t>
            </a:r>
            <a:r>
              <a:rPr lang="zh-CN" altLang="en-US"/>
              <a:t>互联网</a:t>
            </a:r>
            <a:r>
              <a:rPr lang="en-US" altLang="zh-CN"/>
              <a:t>+”</a:t>
            </a:r>
            <a:r>
              <a:rPr lang="zh-CN" altLang="en-US"/>
              <a:t>大学生创新创业大赛并获得校级银奖，参与第十八届</a:t>
            </a:r>
            <a:r>
              <a:rPr lang="en-US" altLang="zh-CN"/>
              <a:t>“</a:t>
            </a:r>
            <a:r>
              <a:rPr lang="zh-CN" altLang="en-US"/>
              <a:t>挑战杯</a:t>
            </a:r>
            <a:r>
              <a:rPr lang="en-US" altLang="zh-CN"/>
              <a:t>”</a:t>
            </a:r>
            <a:r>
              <a:rPr lang="zh-CN" altLang="en-US"/>
              <a:t>中国大学生创业计划竞赛获得校级二等奖，参与中国大学生数学建模竞赛获得省级一等奖，参与美国大学生数学建模竞赛获得</a:t>
            </a:r>
            <a:r>
              <a:rPr lang="en-US" altLang="zh-CN"/>
              <a:t>H</a:t>
            </a:r>
            <a:r>
              <a:rPr lang="zh-CN" altLang="en-US"/>
              <a:t>奖，参与蓝桥杯</a:t>
            </a:r>
            <a:r>
              <a:rPr lang="en-US" altLang="zh-CN"/>
              <a:t>A</a:t>
            </a:r>
            <a:r>
              <a:rPr lang="zh-CN" altLang="en-US"/>
              <a:t>组编程竞赛获得省级二等奖等荣誉</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研究思路与技术架构</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03</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883720" y="4623925"/>
            <a:ext cx="3657600" cy="3657600"/>
          </a:xfrm>
          <a:prstGeom prst="ellipse">
            <a:avLst/>
          </a:prstGeom>
          <a:gradFill>
            <a:gsLst>
              <a:gs pos="0">
                <a:schemeClr val="accent1">
                  <a:lumMod val="60000"/>
                  <a:lumOff val="40000"/>
                </a:schemeClr>
              </a:gs>
              <a:gs pos="100000">
                <a:schemeClr val="accent1">
                  <a:lumMod val="20000"/>
                  <a:lumOff val="80000"/>
                  <a:alpha val="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4589091">
            <a:off x="10012090" y="-478570"/>
            <a:ext cx="2671277" cy="2671277"/>
          </a:xfrm>
          <a:prstGeom prst="ellipse">
            <a:avLst/>
          </a:prstGeom>
          <a:gradFill>
            <a:gsLst>
              <a:gs pos="0">
                <a:schemeClr val="accent1">
                  <a:lumMod val="60000"/>
                  <a:lumOff val="40000"/>
                </a:schemeClr>
              </a:gs>
              <a:gs pos="100000">
                <a:schemeClr val="accent1">
                  <a:lumMod val="20000"/>
                  <a:lumOff val="80000"/>
                  <a:alpha val="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custDataLst>
              <p:tags r:id="rId1"/>
            </p:custDataLst>
          </p:nvPr>
        </p:nvSpPr>
        <p:spPr>
          <a:xfrm>
            <a:off x="826493" y="1424671"/>
            <a:ext cx="7839740" cy="1295001"/>
          </a:xfrm>
          <a:custGeom>
            <a:avLst/>
            <a:gdLst>
              <a:gd name="connsiteX0" fmla="*/ 0 w 9855199"/>
              <a:gd name="connsiteY0" fmla="*/ 0 h 1370250"/>
              <a:gd name="connsiteX1" fmla="*/ 9855199 w 9855199"/>
              <a:gd name="connsiteY1" fmla="*/ 0 h 1370250"/>
              <a:gd name="connsiteX2" fmla="*/ 9855199 w 9855199"/>
              <a:gd name="connsiteY2" fmla="*/ 1370250 h 1370250"/>
              <a:gd name="connsiteX3" fmla="*/ 0 w 9855199"/>
              <a:gd name="connsiteY3" fmla="*/ 1370250 h 1370250"/>
              <a:gd name="connsiteX4" fmla="*/ 0 w 9855199"/>
              <a:gd name="connsiteY4" fmla="*/ 0 h 1370250"/>
            </a:gdLst>
            <a:ahLst/>
            <a:cxnLst/>
            <a:rect l="l" t="t" r="r" b="b"/>
            <a:pathLst>
              <a:path w="9855199" h="1370250">
                <a:moveTo>
                  <a:pt x="0" y="0"/>
                </a:moveTo>
                <a:lnTo>
                  <a:pt x="9855199" y="0"/>
                </a:lnTo>
                <a:lnTo>
                  <a:pt x="9855199" y="1370250"/>
                </a:lnTo>
                <a:lnTo>
                  <a:pt x="0" y="1370250"/>
                </a:lnTo>
                <a:lnTo>
                  <a:pt x="0" y="0"/>
                </a:lnTo>
                <a:close/>
              </a:path>
            </a:pathLst>
          </a:custGeom>
          <a:solidFill>
            <a:schemeClr val="accent1">
              <a:lumMod val="20000"/>
              <a:lumOff val="80000"/>
              <a:alpha val="31000"/>
            </a:schemeClr>
          </a:solidFill>
          <a:ln w="12700" cap="sq">
            <a:noFill/>
            <a:miter/>
          </a:ln>
          <a:effectLst/>
        </p:spPr>
        <p:txBody>
          <a:bodyPr vert="horz" wrap="square" lIns="360045" tIns="45720" rIns="720090" bIns="45720" rtlCol="0" anchor="ctr"/>
          <a:lstStyle/>
          <a:p>
            <a:pPr algn="l">
              <a:lnSpc>
                <a:spcPct val="150000"/>
              </a:lnSpc>
            </a:pPr>
            <a:endParaRPr kumimoji="1" lang="zh-CN" altLang="en-US"/>
          </a:p>
        </p:txBody>
      </p:sp>
      <p:sp>
        <p:nvSpPr>
          <p:cNvPr id="6" name="标题 1"/>
          <p:cNvSpPr txBox="1"/>
          <p:nvPr>
            <p:custDataLst>
              <p:tags r:id="rId2"/>
            </p:custDataLst>
          </p:nvPr>
        </p:nvSpPr>
        <p:spPr>
          <a:xfrm>
            <a:off x="3433530" y="1423901"/>
            <a:ext cx="5239066" cy="144575"/>
          </a:xfrm>
          <a:prstGeom prst="rect">
            <a:avLst/>
          </a:prstGeom>
          <a:gradFill>
            <a:gsLst>
              <a:gs pos="0">
                <a:schemeClr val="accent1">
                  <a:lumMod val="60000"/>
                  <a:lumOff val="40000"/>
                </a:schemeClr>
              </a:gs>
              <a:gs pos="100000">
                <a:schemeClr val="accent1">
                  <a:lumMod val="20000"/>
                  <a:lumOff val="80000"/>
                  <a:alpha val="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custDataLst>
              <p:tags r:id="rId3"/>
            </p:custDataLst>
          </p:nvPr>
        </p:nvSpPr>
        <p:spPr>
          <a:xfrm flipH="1">
            <a:off x="3978278" y="1053218"/>
            <a:ext cx="336277" cy="378615"/>
          </a:xfrm>
          <a:prstGeom prst="rect">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custDataLst>
              <p:tags r:id="rId4"/>
            </p:custDataLst>
          </p:nvPr>
        </p:nvSpPr>
        <p:spPr>
          <a:xfrm>
            <a:off x="1248929" y="1053218"/>
            <a:ext cx="3054507" cy="705390"/>
          </a:xfrm>
          <a:custGeom>
            <a:avLst/>
            <a:gdLst>
              <a:gd name="connsiteX0" fmla="*/ 0 w 8196"/>
              <a:gd name="connsiteY0" fmla="*/ 0 h 875"/>
              <a:gd name="connsiteX1" fmla="*/ 8196 w 8196"/>
              <a:gd name="connsiteY1" fmla="*/ 0 h 875"/>
              <a:gd name="connsiteX2" fmla="*/ 7593 w 8196"/>
              <a:gd name="connsiteY2" fmla="*/ 875 h 875"/>
              <a:gd name="connsiteX3" fmla="*/ 0 w 8196"/>
              <a:gd name="connsiteY3" fmla="*/ 875 h 875"/>
              <a:gd name="connsiteX4" fmla="*/ 0 w 8196"/>
              <a:gd name="connsiteY4" fmla="*/ 0 h 875"/>
            </a:gdLst>
            <a:ahLst/>
            <a:cxnLst/>
            <a:rect l="l" t="t" r="r" b="b"/>
            <a:pathLst>
              <a:path w="8196" h="875">
                <a:moveTo>
                  <a:pt x="0" y="0"/>
                </a:moveTo>
                <a:lnTo>
                  <a:pt x="8196" y="0"/>
                </a:lnTo>
                <a:lnTo>
                  <a:pt x="7593" y="875"/>
                </a:lnTo>
                <a:lnTo>
                  <a:pt x="0" y="875"/>
                </a:lnTo>
                <a:lnTo>
                  <a:pt x="0" y="0"/>
                </a:lnTo>
                <a:close/>
              </a:path>
            </a:pathLst>
          </a:custGeom>
          <a:gradFill>
            <a:gsLst>
              <a:gs pos="0">
                <a:schemeClr val="accent1">
                  <a:lumMod val="60000"/>
                  <a:lumOff val="40000"/>
                </a:schemeClr>
              </a:gs>
              <a:gs pos="98000">
                <a:schemeClr val="accent1"/>
              </a:gs>
            </a:gsLst>
            <a:lin ang="2700000" scaled="0"/>
          </a:gradFill>
          <a:ln w="12700" cap="sq">
            <a:no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l">
              <a:lnSpc>
                <a:spcPct val="110000"/>
              </a:lnSpc>
            </a:pPr>
            <a:endParaRPr kumimoji="1" lang="zh-CN" altLang="en-US"/>
          </a:p>
        </p:txBody>
      </p:sp>
      <p:sp>
        <p:nvSpPr>
          <p:cNvPr id="9" name="标题 1"/>
          <p:cNvSpPr txBox="1"/>
          <p:nvPr>
            <p:custDataLst>
              <p:tags r:id="rId5"/>
            </p:custDataLst>
          </p:nvPr>
        </p:nvSpPr>
        <p:spPr>
          <a:xfrm>
            <a:off x="812117" y="1030566"/>
            <a:ext cx="708338" cy="728042"/>
          </a:xfrm>
          <a:prstGeom prst="roundRect">
            <a:avLst>
              <a:gd name="adj" fmla="val 50000"/>
            </a:avLst>
          </a:prstGeom>
          <a:gradFill>
            <a:gsLst>
              <a:gs pos="0">
                <a:schemeClr val="accent1">
                  <a:lumMod val="60000"/>
                  <a:lumOff val="40000"/>
                </a:schemeClr>
              </a:gs>
              <a:gs pos="98000">
                <a:schemeClr val="accent1">
                  <a:lumMod val="75000"/>
                </a:schemeClr>
              </a:gs>
            </a:gsLst>
            <a:lin ang="2700000" scaled="0"/>
          </a:gradFill>
          <a:ln w="25400" cap="sq">
            <a:solidFill>
              <a:schemeClr val="bg1"/>
            </a:solid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6"/>
            </p:custDataLst>
          </p:nvPr>
        </p:nvSpPr>
        <p:spPr>
          <a:xfrm>
            <a:off x="821579" y="1240699"/>
            <a:ext cx="689412" cy="307777"/>
          </a:xfrm>
          <a:prstGeom prst="rect">
            <a:avLst/>
          </a:prstGeom>
          <a:noFill/>
          <a:ln>
            <a:noFill/>
          </a:ln>
        </p:spPr>
        <p:txBody>
          <a:bodyPr vert="horz" wrap="square" lIns="91440" tIns="45720" rIns="91440" bIns="45720" rtlCol="0" anchor="ctr"/>
          <a:lstStyle/>
          <a:p>
            <a:pPr algn="ctr">
              <a:lnSpc>
                <a:spcPct val="110000"/>
              </a:lnSpc>
            </a:pPr>
            <a:r>
              <a:rPr kumimoji="1" lang="en-US" altLang="zh-CN" sz="14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01</a:t>
            </a:r>
            <a:endParaRPr kumimoji="1" lang="zh-CN" altLang="en-US"/>
          </a:p>
        </p:txBody>
      </p:sp>
      <p:sp>
        <p:nvSpPr>
          <p:cNvPr id="11" name="标题 1"/>
          <p:cNvSpPr txBox="1"/>
          <p:nvPr>
            <p:custDataLst>
              <p:tags r:id="rId7"/>
            </p:custDataLst>
          </p:nvPr>
        </p:nvSpPr>
        <p:spPr>
          <a:xfrm>
            <a:off x="1041446" y="1883816"/>
            <a:ext cx="7409834" cy="728042"/>
          </a:xfrm>
          <a:prstGeom prst="rect">
            <a:avLst/>
          </a:prstGeom>
          <a:noFill/>
          <a:ln cap="sq">
            <a:noFill/>
          </a:ln>
          <a:effectLst/>
        </p:spPr>
        <p:txBody>
          <a:bodyPr vert="horz" wrap="square" lIns="0" tIns="0" rIns="0" bIns="0" rtlCol="0" anchor="t"/>
          <a:lstStyle/>
          <a:p>
            <a:pPr algn="l">
              <a:lnSpc>
                <a:spcPct val="150000"/>
              </a:lnSpc>
            </a:pP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构建多模态数据融合体系，整合电子病历、体检报告等多源数据，形成包含血糖、糖化血红蛋白、血脂、血压等30+核心指标的特征库，为智能诊断模型提供丰富的数据支持。
数据预处理阶段采用缺失值插值、异常值检测等技术，确保输入数据的完整性和可靠性，累计处理1万+条患者数据，为模型训练奠定高质量数据基础。</a:t>
            </a:r>
            <a:endParaRPr kumimoji="1" lang="zh-CN" altLang="en-US"/>
          </a:p>
        </p:txBody>
      </p:sp>
      <p:sp>
        <p:nvSpPr>
          <p:cNvPr id="12" name="标题 1"/>
          <p:cNvSpPr txBox="1"/>
          <p:nvPr>
            <p:custDataLst>
              <p:tags r:id="rId8"/>
            </p:custDataLst>
          </p:nvPr>
        </p:nvSpPr>
        <p:spPr>
          <a:xfrm>
            <a:off x="1656440" y="1126060"/>
            <a:ext cx="2239485" cy="559705"/>
          </a:xfrm>
          <a:prstGeom prst="rect">
            <a:avLst/>
          </a:prstGeom>
          <a:noFill/>
          <a:ln cap="sq">
            <a:noFill/>
          </a:ln>
          <a:effectLst/>
        </p:spPr>
        <p:txBody>
          <a:bodyPr vert="horz" wrap="square" lIns="0" tIns="0" rIns="0" bIns="0" rtlCol="0" anchor="ctr"/>
          <a:lstStyle/>
          <a:p>
            <a:pPr algn="l">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多模态数据融合</a:t>
            </a:r>
            <a:endParaRPr kumimoji="1" lang="zh-CN" altLang="en-US"/>
          </a:p>
        </p:txBody>
      </p:sp>
      <p:sp>
        <p:nvSpPr>
          <p:cNvPr id="13" name="标题 1"/>
          <p:cNvSpPr txBox="1"/>
          <p:nvPr>
            <p:custDataLst>
              <p:tags r:id="rId9"/>
            </p:custDataLst>
          </p:nvPr>
        </p:nvSpPr>
        <p:spPr>
          <a:xfrm flipH="1">
            <a:off x="5314622" y="2833492"/>
            <a:ext cx="336277" cy="378615"/>
          </a:xfrm>
          <a:prstGeom prst="rect">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custDataLst>
              <p:tags r:id="rId10"/>
            </p:custDataLst>
          </p:nvPr>
        </p:nvSpPr>
        <p:spPr>
          <a:xfrm>
            <a:off x="2162837" y="3204945"/>
            <a:ext cx="7839740" cy="1295001"/>
          </a:xfrm>
          <a:custGeom>
            <a:avLst/>
            <a:gdLst>
              <a:gd name="connsiteX0" fmla="*/ 0 w 9855199"/>
              <a:gd name="connsiteY0" fmla="*/ 0 h 1370250"/>
              <a:gd name="connsiteX1" fmla="*/ 9855199 w 9855199"/>
              <a:gd name="connsiteY1" fmla="*/ 0 h 1370250"/>
              <a:gd name="connsiteX2" fmla="*/ 9855199 w 9855199"/>
              <a:gd name="connsiteY2" fmla="*/ 1370250 h 1370250"/>
              <a:gd name="connsiteX3" fmla="*/ 0 w 9855199"/>
              <a:gd name="connsiteY3" fmla="*/ 1370250 h 1370250"/>
              <a:gd name="connsiteX4" fmla="*/ 0 w 9855199"/>
              <a:gd name="connsiteY4" fmla="*/ 0 h 1370250"/>
            </a:gdLst>
            <a:ahLst/>
            <a:cxnLst/>
            <a:rect l="l" t="t" r="r" b="b"/>
            <a:pathLst>
              <a:path w="9855199" h="1370250">
                <a:moveTo>
                  <a:pt x="0" y="0"/>
                </a:moveTo>
                <a:lnTo>
                  <a:pt x="9855199" y="0"/>
                </a:lnTo>
                <a:lnTo>
                  <a:pt x="9855199" y="1370250"/>
                </a:lnTo>
                <a:lnTo>
                  <a:pt x="0" y="1370250"/>
                </a:lnTo>
                <a:lnTo>
                  <a:pt x="0" y="0"/>
                </a:lnTo>
                <a:close/>
              </a:path>
            </a:pathLst>
          </a:custGeom>
          <a:solidFill>
            <a:schemeClr val="accent1">
              <a:lumMod val="20000"/>
              <a:lumOff val="80000"/>
              <a:alpha val="31000"/>
            </a:schemeClr>
          </a:solidFill>
          <a:ln w="12700" cap="sq">
            <a:noFill/>
            <a:miter/>
          </a:ln>
          <a:effectLst/>
        </p:spPr>
        <p:txBody>
          <a:bodyPr vert="horz" wrap="square" lIns="360045" tIns="45720" rIns="720090" bIns="45720" rtlCol="0" anchor="ctr"/>
          <a:lstStyle/>
          <a:p>
            <a:pPr algn="l">
              <a:lnSpc>
                <a:spcPct val="150000"/>
              </a:lnSpc>
            </a:pPr>
            <a:endParaRPr kumimoji="1" lang="zh-CN" altLang="en-US"/>
          </a:p>
        </p:txBody>
      </p:sp>
      <p:sp>
        <p:nvSpPr>
          <p:cNvPr id="15" name="标题 1"/>
          <p:cNvSpPr txBox="1"/>
          <p:nvPr>
            <p:custDataLst>
              <p:tags r:id="rId11"/>
            </p:custDataLst>
          </p:nvPr>
        </p:nvSpPr>
        <p:spPr>
          <a:xfrm>
            <a:off x="4769874" y="3204175"/>
            <a:ext cx="5239066" cy="144575"/>
          </a:xfrm>
          <a:prstGeom prst="rect">
            <a:avLst/>
          </a:prstGeom>
          <a:gradFill>
            <a:gsLst>
              <a:gs pos="0">
                <a:schemeClr val="accent1">
                  <a:lumMod val="60000"/>
                  <a:lumOff val="40000"/>
                </a:schemeClr>
              </a:gs>
              <a:gs pos="100000">
                <a:schemeClr val="accent1">
                  <a:lumMod val="20000"/>
                  <a:lumOff val="80000"/>
                  <a:alpha val="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custDataLst>
              <p:tags r:id="rId12"/>
            </p:custDataLst>
          </p:nvPr>
        </p:nvSpPr>
        <p:spPr>
          <a:xfrm>
            <a:off x="2585273" y="2833492"/>
            <a:ext cx="3054507" cy="705390"/>
          </a:xfrm>
          <a:custGeom>
            <a:avLst/>
            <a:gdLst>
              <a:gd name="connsiteX0" fmla="*/ 0 w 8196"/>
              <a:gd name="connsiteY0" fmla="*/ 0 h 875"/>
              <a:gd name="connsiteX1" fmla="*/ 8196 w 8196"/>
              <a:gd name="connsiteY1" fmla="*/ 0 h 875"/>
              <a:gd name="connsiteX2" fmla="*/ 7593 w 8196"/>
              <a:gd name="connsiteY2" fmla="*/ 875 h 875"/>
              <a:gd name="connsiteX3" fmla="*/ 0 w 8196"/>
              <a:gd name="connsiteY3" fmla="*/ 875 h 875"/>
              <a:gd name="connsiteX4" fmla="*/ 0 w 8196"/>
              <a:gd name="connsiteY4" fmla="*/ 0 h 875"/>
            </a:gdLst>
            <a:ahLst/>
            <a:cxnLst/>
            <a:rect l="l" t="t" r="r" b="b"/>
            <a:pathLst>
              <a:path w="8196" h="875">
                <a:moveTo>
                  <a:pt x="0" y="0"/>
                </a:moveTo>
                <a:lnTo>
                  <a:pt x="8196" y="0"/>
                </a:lnTo>
                <a:lnTo>
                  <a:pt x="7593" y="875"/>
                </a:lnTo>
                <a:lnTo>
                  <a:pt x="0" y="875"/>
                </a:lnTo>
                <a:lnTo>
                  <a:pt x="0" y="0"/>
                </a:lnTo>
                <a:close/>
              </a:path>
            </a:pathLst>
          </a:custGeom>
          <a:gradFill>
            <a:gsLst>
              <a:gs pos="0">
                <a:schemeClr val="accent1">
                  <a:lumMod val="60000"/>
                  <a:lumOff val="40000"/>
                </a:schemeClr>
              </a:gs>
              <a:gs pos="98000">
                <a:schemeClr val="accent1"/>
              </a:gs>
            </a:gsLst>
            <a:lin ang="2700000" scaled="0"/>
          </a:gradFill>
          <a:ln w="12700" cap="sq">
            <a:no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custDataLst>
              <p:tags r:id="rId13"/>
            </p:custDataLst>
          </p:nvPr>
        </p:nvSpPr>
        <p:spPr>
          <a:xfrm>
            <a:off x="2148461" y="2810840"/>
            <a:ext cx="708338" cy="728042"/>
          </a:xfrm>
          <a:prstGeom prst="roundRect">
            <a:avLst>
              <a:gd name="adj" fmla="val 50000"/>
            </a:avLst>
          </a:prstGeom>
          <a:gradFill>
            <a:gsLst>
              <a:gs pos="0">
                <a:schemeClr val="accent1">
                  <a:lumMod val="60000"/>
                  <a:lumOff val="40000"/>
                </a:schemeClr>
              </a:gs>
              <a:gs pos="98000">
                <a:schemeClr val="accent1">
                  <a:lumMod val="75000"/>
                </a:schemeClr>
              </a:gs>
            </a:gsLst>
            <a:lin ang="2700000" scaled="0"/>
          </a:gradFill>
          <a:ln w="25400" cap="sq">
            <a:solidFill>
              <a:schemeClr val="bg1"/>
            </a:solid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custDataLst>
              <p:tags r:id="rId14"/>
            </p:custDataLst>
          </p:nvPr>
        </p:nvSpPr>
        <p:spPr>
          <a:xfrm>
            <a:off x="2157923" y="3020973"/>
            <a:ext cx="689412" cy="307777"/>
          </a:xfrm>
          <a:prstGeom prst="rect">
            <a:avLst/>
          </a:prstGeom>
          <a:noFill/>
          <a:ln>
            <a:noFill/>
          </a:ln>
        </p:spPr>
        <p:txBody>
          <a:bodyPr vert="horz" wrap="square" lIns="91440" tIns="45720" rIns="91440" bIns="45720" rtlCol="0" anchor="ctr"/>
          <a:lstStyle/>
          <a:p>
            <a:pPr algn="ctr">
              <a:lnSpc>
                <a:spcPct val="110000"/>
              </a:lnSpc>
            </a:pPr>
            <a:r>
              <a:rPr kumimoji="1" lang="en-US" altLang="zh-CN" sz="14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02</a:t>
            </a:r>
            <a:endParaRPr kumimoji="1" lang="zh-CN" altLang="en-US"/>
          </a:p>
        </p:txBody>
      </p:sp>
      <p:sp>
        <p:nvSpPr>
          <p:cNvPr id="19" name="标题 1"/>
          <p:cNvSpPr txBox="1"/>
          <p:nvPr>
            <p:custDataLst>
              <p:tags r:id="rId15"/>
            </p:custDataLst>
          </p:nvPr>
        </p:nvSpPr>
        <p:spPr>
          <a:xfrm>
            <a:off x="2377790" y="3664091"/>
            <a:ext cx="7409834" cy="728042"/>
          </a:xfrm>
          <a:prstGeom prst="rect">
            <a:avLst/>
          </a:prstGeom>
          <a:noFill/>
          <a:ln cap="sq">
            <a:noFill/>
          </a:ln>
          <a:effectLst/>
        </p:spPr>
        <p:txBody>
          <a:bodyPr vert="horz" wrap="square" lIns="0" tIns="0" rIns="0" bIns="0" rtlCol="0" anchor="t"/>
          <a:lstStyle/>
          <a:p>
            <a:pPr algn="l">
              <a:lnSpc>
                <a:spcPct val="150000"/>
              </a:lnSpc>
            </a:pP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采用LASSO</a:t>
            </a:r>
            <a:r>
              <a:rPr kumimoji="1" lang="zh-CN" altLang="en-US"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并结合</a:t>
            </a: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LightGBM</a:t>
            </a:r>
            <a:r>
              <a:rPr kumimoji="1" lang="zh-CN" altLang="en-US"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的优势</a:t>
            </a: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模型，</a:t>
            </a:r>
            <a:r>
              <a:rPr kumimoji="1" lang="zh-CN" altLang="en-US"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以此为创新点</a:t>
            </a: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，同时结合SHAP值量化各指标对诊断结果的贡献度，形成可解释的指标重要性排序。
经5折交叉验证，模型在测试集上准确率达92.3%，召回率91.7%，F1值92.0%，显著优于传统机器学习模型，为糖尿病的精准诊断提供了有力保障。</a:t>
            </a:r>
            <a:endParaRPr kumimoji="1" lang="zh-CN" altLang="en-US"/>
          </a:p>
        </p:txBody>
      </p:sp>
      <p:sp>
        <p:nvSpPr>
          <p:cNvPr id="20" name="标题 1"/>
          <p:cNvSpPr txBox="1"/>
          <p:nvPr>
            <p:custDataLst>
              <p:tags r:id="rId16"/>
            </p:custDataLst>
          </p:nvPr>
        </p:nvSpPr>
        <p:spPr>
          <a:xfrm>
            <a:off x="2992784" y="2906334"/>
            <a:ext cx="2239485" cy="559705"/>
          </a:xfrm>
          <a:prstGeom prst="rect">
            <a:avLst/>
          </a:prstGeom>
          <a:noFill/>
          <a:ln cap="sq">
            <a:noFill/>
          </a:ln>
          <a:effectLst/>
        </p:spPr>
        <p:txBody>
          <a:bodyPr vert="horz" wrap="square" lIns="0" tIns="0" rIns="0" bIns="0" rtlCol="0" anchor="ctr"/>
          <a:lstStyle/>
          <a:p>
            <a:pPr algn="l">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智能诊断模型构建</a:t>
            </a:r>
            <a:endParaRPr kumimoji="1" lang="zh-CN" altLang="en-US"/>
          </a:p>
        </p:txBody>
      </p:sp>
      <p:sp>
        <p:nvSpPr>
          <p:cNvPr id="21" name="标题 1"/>
          <p:cNvSpPr txBox="1"/>
          <p:nvPr>
            <p:custDataLst>
              <p:tags r:id="rId17"/>
            </p:custDataLst>
          </p:nvPr>
        </p:nvSpPr>
        <p:spPr>
          <a:xfrm>
            <a:off x="3473489" y="4985220"/>
            <a:ext cx="7839740" cy="1295001"/>
          </a:xfrm>
          <a:custGeom>
            <a:avLst/>
            <a:gdLst>
              <a:gd name="connsiteX0" fmla="*/ 0 w 9855199"/>
              <a:gd name="connsiteY0" fmla="*/ 0 h 1370250"/>
              <a:gd name="connsiteX1" fmla="*/ 9855199 w 9855199"/>
              <a:gd name="connsiteY1" fmla="*/ 0 h 1370250"/>
              <a:gd name="connsiteX2" fmla="*/ 9855199 w 9855199"/>
              <a:gd name="connsiteY2" fmla="*/ 1370250 h 1370250"/>
              <a:gd name="connsiteX3" fmla="*/ 0 w 9855199"/>
              <a:gd name="connsiteY3" fmla="*/ 1370250 h 1370250"/>
              <a:gd name="connsiteX4" fmla="*/ 0 w 9855199"/>
              <a:gd name="connsiteY4" fmla="*/ 0 h 1370250"/>
            </a:gdLst>
            <a:ahLst/>
            <a:cxnLst/>
            <a:rect l="l" t="t" r="r" b="b"/>
            <a:pathLst>
              <a:path w="9855199" h="1370250">
                <a:moveTo>
                  <a:pt x="0" y="0"/>
                </a:moveTo>
                <a:lnTo>
                  <a:pt x="9855199" y="0"/>
                </a:lnTo>
                <a:lnTo>
                  <a:pt x="9855199" y="1370250"/>
                </a:lnTo>
                <a:lnTo>
                  <a:pt x="0" y="1370250"/>
                </a:lnTo>
                <a:lnTo>
                  <a:pt x="0" y="0"/>
                </a:lnTo>
                <a:close/>
              </a:path>
            </a:pathLst>
          </a:custGeom>
          <a:solidFill>
            <a:schemeClr val="accent1">
              <a:lumMod val="20000"/>
              <a:lumOff val="80000"/>
              <a:alpha val="31000"/>
            </a:schemeClr>
          </a:solidFill>
          <a:ln w="12700" cap="sq">
            <a:noFill/>
            <a:miter/>
          </a:ln>
          <a:effectLst/>
        </p:spPr>
        <p:txBody>
          <a:bodyPr vert="horz" wrap="square" lIns="360045" tIns="45720" rIns="720090" bIns="45720" rtlCol="0" anchor="ctr"/>
          <a:lstStyle/>
          <a:p>
            <a:pPr algn="l">
              <a:lnSpc>
                <a:spcPct val="150000"/>
              </a:lnSpc>
            </a:pPr>
            <a:endParaRPr kumimoji="1" lang="zh-CN" altLang="en-US"/>
          </a:p>
        </p:txBody>
      </p:sp>
      <p:sp>
        <p:nvSpPr>
          <p:cNvPr id="22" name="标题 1"/>
          <p:cNvSpPr txBox="1"/>
          <p:nvPr>
            <p:custDataLst>
              <p:tags r:id="rId18"/>
            </p:custDataLst>
          </p:nvPr>
        </p:nvSpPr>
        <p:spPr>
          <a:xfrm>
            <a:off x="6080526" y="4984450"/>
            <a:ext cx="5239066" cy="144575"/>
          </a:xfrm>
          <a:prstGeom prst="rect">
            <a:avLst/>
          </a:prstGeom>
          <a:gradFill>
            <a:gsLst>
              <a:gs pos="0">
                <a:schemeClr val="accent1">
                  <a:lumMod val="60000"/>
                  <a:lumOff val="40000"/>
                </a:schemeClr>
              </a:gs>
              <a:gs pos="100000">
                <a:schemeClr val="accent1">
                  <a:lumMod val="20000"/>
                  <a:lumOff val="80000"/>
                  <a:alpha val="0"/>
                </a:schemeClr>
              </a:gs>
            </a:gsLst>
            <a:lin ang="27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custDataLst>
              <p:tags r:id="rId19"/>
            </p:custDataLst>
          </p:nvPr>
        </p:nvSpPr>
        <p:spPr>
          <a:xfrm flipH="1">
            <a:off x="6625274" y="4613767"/>
            <a:ext cx="336277" cy="378615"/>
          </a:xfrm>
          <a:prstGeom prst="rect">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custDataLst>
              <p:tags r:id="rId20"/>
            </p:custDataLst>
          </p:nvPr>
        </p:nvSpPr>
        <p:spPr>
          <a:xfrm>
            <a:off x="3895925" y="4613767"/>
            <a:ext cx="3054507" cy="705390"/>
          </a:xfrm>
          <a:custGeom>
            <a:avLst/>
            <a:gdLst>
              <a:gd name="connsiteX0" fmla="*/ 0 w 8196"/>
              <a:gd name="connsiteY0" fmla="*/ 0 h 875"/>
              <a:gd name="connsiteX1" fmla="*/ 8196 w 8196"/>
              <a:gd name="connsiteY1" fmla="*/ 0 h 875"/>
              <a:gd name="connsiteX2" fmla="*/ 7593 w 8196"/>
              <a:gd name="connsiteY2" fmla="*/ 875 h 875"/>
              <a:gd name="connsiteX3" fmla="*/ 0 w 8196"/>
              <a:gd name="connsiteY3" fmla="*/ 875 h 875"/>
              <a:gd name="connsiteX4" fmla="*/ 0 w 8196"/>
              <a:gd name="connsiteY4" fmla="*/ 0 h 875"/>
            </a:gdLst>
            <a:ahLst/>
            <a:cxnLst/>
            <a:rect l="l" t="t" r="r" b="b"/>
            <a:pathLst>
              <a:path w="8196" h="875">
                <a:moveTo>
                  <a:pt x="0" y="0"/>
                </a:moveTo>
                <a:lnTo>
                  <a:pt x="8196" y="0"/>
                </a:lnTo>
                <a:lnTo>
                  <a:pt x="7593" y="875"/>
                </a:lnTo>
                <a:lnTo>
                  <a:pt x="0" y="875"/>
                </a:lnTo>
                <a:lnTo>
                  <a:pt x="0" y="0"/>
                </a:lnTo>
                <a:close/>
              </a:path>
            </a:pathLst>
          </a:custGeom>
          <a:gradFill>
            <a:gsLst>
              <a:gs pos="0">
                <a:schemeClr val="accent1">
                  <a:lumMod val="60000"/>
                  <a:lumOff val="40000"/>
                </a:schemeClr>
              </a:gs>
              <a:gs pos="98000">
                <a:schemeClr val="accent1"/>
              </a:gs>
            </a:gsLst>
            <a:lin ang="2700000" scaled="0"/>
          </a:gradFill>
          <a:ln w="12700" cap="sq">
            <a:no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l">
              <a:lnSpc>
                <a:spcPct val="110000"/>
              </a:lnSpc>
            </a:pPr>
            <a:endParaRPr kumimoji="1" lang="zh-CN" altLang="en-US"/>
          </a:p>
        </p:txBody>
      </p:sp>
      <p:sp>
        <p:nvSpPr>
          <p:cNvPr id="25" name="标题 1"/>
          <p:cNvSpPr txBox="1"/>
          <p:nvPr>
            <p:custDataLst>
              <p:tags r:id="rId21"/>
            </p:custDataLst>
          </p:nvPr>
        </p:nvSpPr>
        <p:spPr>
          <a:xfrm>
            <a:off x="3459113" y="4591115"/>
            <a:ext cx="708338" cy="728042"/>
          </a:xfrm>
          <a:prstGeom prst="roundRect">
            <a:avLst>
              <a:gd name="adj" fmla="val 50000"/>
            </a:avLst>
          </a:prstGeom>
          <a:gradFill>
            <a:gsLst>
              <a:gs pos="0">
                <a:schemeClr val="accent1">
                  <a:lumMod val="60000"/>
                  <a:lumOff val="40000"/>
                </a:schemeClr>
              </a:gs>
              <a:gs pos="98000">
                <a:schemeClr val="accent1">
                  <a:lumMod val="75000"/>
                </a:schemeClr>
              </a:gs>
            </a:gsLst>
            <a:lin ang="2700000" scaled="0"/>
          </a:gradFill>
          <a:ln w="25400" cap="sq">
            <a:solidFill>
              <a:schemeClr val="bg1"/>
            </a:solidFill>
            <a:miter/>
          </a:ln>
          <a:effectLst>
            <a:outerShdw blurRad="127000" dist="127000" dir="2700000" algn="tl" rotWithShape="0">
              <a:srgbClr val="68B7D3">
                <a:alpha val="10000"/>
              </a:srgbClr>
            </a:outerShdw>
          </a:effectLst>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custDataLst>
              <p:tags r:id="rId22"/>
            </p:custDataLst>
          </p:nvPr>
        </p:nvSpPr>
        <p:spPr>
          <a:xfrm>
            <a:off x="3468575" y="4801248"/>
            <a:ext cx="689412" cy="307777"/>
          </a:xfrm>
          <a:prstGeom prst="rect">
            <a:avLst/>
          </a:prstGeom>
          <a:noFill/>
          <a:ln>
            <a:noFill/>
          </a:ln>
        </p:spPr>
        <p:txBody>
          <a:bodyPr vert="horz" wrap="square" lIns="91440" tIns="45720" rIns="91440" bIns="45720" rtlCol="0" anchor="ctr"/>
          <a:lstStyle/>
          <a:p>
            <a:pPr algn="ctr">
              <a:lnSpc>
                <a:spcPct val="110000"/>
              </a:lnSpc>
            </a:pPr>
            <a:r>
              <a:rPr kumimoji="1" lang="en-US" altLang="zh-CN" sz="14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03</a:t>
            </a:r>
            <a:endParaRPr kumimoji="1" lang="zh-CN" altLang="en-US"/>
          </a:p>
        </p:txBody>
      </p:sp>
      <p:sp>
        <p:nvSpPr>
          <p:cNvPr id="27" name="标题 1"/>
          <p:cNvSpPr txBox="1"/>
          <p:nvPr>
            <p:custDataLst>
              <p:tags r:id="rId23"/>
            </p:custDataLst>
          </p:nvPr>
        </p:nvSpPr>
        <p:spPr>
          <a:xfrm>
            <a:off x="3688442" y="5444365"/>
            <a:ext cx="7409834" cy="728042"/>
          </a:xfrm>
          <a:prstGeom prst="rect">
            <a:avLst/>
          </a:prstGeom>
          <a:noFill/>
          <a:ln cap="sq">
            <a:noFill/>
          </a:ln>
          <a:effectLst/>
        </p:spPr>
        <p:txBody>
          <a:bodyPr vert="horz" wrap="square" lIns="0" tIns="0" rIns="0" bIns="0" rtlCol="0" anchor="t"/>
          <a:lstStyle/>
          <a:p>
            <a:pPr algn="l">
              <a:lnSpc>
                <a:spcPct val="150000"/>
              </a:lnSpc>
            </a:pPr>
            <a:r>
              <a:rPr kumimoji="1" lang="en-US" altLang="zh-CN" sz="1015">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通过API接口与DeepSeek系统深度对接，基于患者个体数据生成定制化建议，涵盖饮食配比、运动方案及用药提醒，形成“诊断- 分析- 干预”闭环，提升患者健康管理效率。
系统集成时，设计双向数据交互接口，实现诊断结果与健康建议的实时同步，支持医生端与患者端多平台访问，确保建议的实时性与适用性。</a:t>
            </a:r>
            <a:endParaRPr kumimoji="1" lang="zh-CN" altLang="en-US"/>
          </a:p>
        </p:txBody>
      </p:sp>
      <p:sp>
        <p:nvSpPr>
          <p:cNvPr id="28" name="标题 1"/>
          <p:cNvSpPr txBox="1"/>
          <p:nvPr>
            <p:custDataLst>
              <p:tags r:id="rId24"/>
            </p:custDataLst>
          </p:nvPr>
        </p:nvSpPr>
        <p:spPr>
          <a:xfrm>
            <a:off x="4303436" y="4686609"/>
            <a:ext cx="2239485" cy="559705"/>
          </a:xfrm>
          <a:prstGeom prst="rect">
            <a:avLst/>
          </a:prstGeom>
          <a:noFill/>
          <a:ln cap="sq">
            <a:noFill/>
          </a:ln>
          <a:effectLst/>
        </p:spPr>
        <p:txBody>
          <a:bodyPr vert="horz" wrap="square" lIns="0" tIns="0" rIns="0" bIns="0" rtlCol="0" anchor="ctr"/>
          <a:lstStyle/>
          <a:p>
            <a:pPr algn="l">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健康管理闭环实现</a:t>
            </a:r>
            <a:endParaRPr kumimoji="1" lang="zh-CN" altLang="en-US"/>
          </a:p>
        </p:txBody>
      </p:sp>
      <p:sp>
        <p:nvSpPr>
          <p:cNvPr id="29"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研究思路</a:t>
            </a:r>
            <a:endParaRPr kumimoji="1" lang="zh-CN" altLang="en-US"/>
          </a:p>
        </p:txBody>
      </p:sp>
      <p:sp>
        <p:nvSpPr>
          <p:cNvPr id="31"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040741" y="4293417"/>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1">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4" name="标题 1"/>
          <p:cNvSpPr txBox="1"/>
          <p:nvPr/>
        </p:nvSpPr>
        <p:spPr>
          <a:xfrm flipH="1">
            <a:off x="5543285" y="4279189"/>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1">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5" name="标题 1"/>
          <p:cNvSpPr txBox="1"/>
          <p:nvPr/>
        </p:nvSpPr>
        <p:spPr>
          <a:xfrm>
            <a:off x="1376062" y="4187263"/>
            <a:ext cx="4320000" cy="504000"/>
          </a:xfrm>
          <a:prstGeom prst="rect">
            <a:avLst/>
          </a:prstGeom>
          <a:solidFill>
            <a:schemeClr val="accent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a:off x="6640016" y="4293417"/>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1">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7" name="标题 1"/>
          <p:cNvSpPr txBox="1"/>
          <p:nvPr/>
        </p:nvSpPr>
        <p:spPr>
          <a:xfrm flipH="1">
            <a:off x="11142559" y="4279189"/>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1">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6975335" y="4187263"/>
            <a:ext cx="4320000" cy="504000"/>
          </a:xfrm>
          <a:prstGeom prst="rect">
            <a:avLst/>
          </a:prstGeom>
          <a:solidFill>
            <a:schemeClr val="accent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9" name="标题 1"/>
          <p:cNvSpPr txBox="1"/>
          <p:nvPr/>
        </p:nvSpPr>
        <p:spPr>
          <a:xfrm>
            <a:off x="3593441" y="1881134"/>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2">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flipH="1">
            <a:off x="8095985" y="1866906"/>
            <a:ext cx="504000" cy="504000"/>
          </a:xfrm>
          <a:custGeom>
            <a:avLst/>
            <a:gdLst>
              <a:gd name="connsiteX0" fmla="*/ 2386013 w 2386012"/>
              <a:gd name="connsiteY0" fmla="*/ 0 h 1719262"/>
              <a:gd name="connsiteX1" fmla="*/ 42863 w 2386012"/>
              <a:gd name="connsiteY1" fmla="*/ 0 h 1719262"/>
              <a:gd name="connsiteX2" fmla="*/ 881063 w 2386012"/>
              <a:gd name="connsiteY2" fmla="*/ 838200 h 1719262"/>
              <a:gd name="connsiteX3" fmla="*/ 0 w 2386012"/>
              <a:gd name="connsiteY3" fmla="*/ 1719263 h 1719262"/>
              <a:gd name="connsiteX4" fmla="*/ 2386013 w 2386012"/>
              <a:gd name="connsiteY4" fmla="*/ 1719263 h 1719262"/>
              <a:gd name="connsiteX5" fmla="*/ 2386013 w 2386012"/>
              <a:gd name="connsiteY5" fmla="*/ 0 h 1719262"/>
            </a:gdLst>
            <a:ahLst/>
            <a:cxnLst/>
            <a:rect l="l" t="t" r="r" b="b"/>
            <a:pathLst>
              <a:path w="2386012" h="1719262">
                <a:moveTo>
                  <a:pt x="2386013" y="0"/>
                </a:moveTo>
                <a:lnTo>
                  <a:pt x="42863" y="0"/>
                </a:lnTo>
                <a:lnTo>
                  <a:pt x="881063" y="838200"/>
                </a:lnTo>
                <a:lnTo>
                  <a:pt x="0" y="1719263"/>
                </a:lnTo>
                <a:lnTo>
                  <a:pt x="2386013" y="1719263"/>
                </a:lnTo>
                <a:lnTo>
                  <a:pt x="2386013" y="0"/>
                </a:lnTo>
                <a:close/>
              </a:path>
            </a:pathLst>
          </a:custGeom>
          <a:solidFill>
            <a:schemeClr val="accent2">
              <a:lumMod val="75000"/>
            </a:schemeClr>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1" name="标题 1"/>
          <p:cNvSpPr txBox="1"/>
          <p:nvPr/>
        </p:nvSpPr>
        <p:spPr>
          <a:xfrm>
            <a:off x="3928762" y="1774980"/>
            <a:ext cx="4320000" cy="504000"/>
          </a:xfrm>
          <a:prstGeom prst="rect">
            <a:avLst/>
          </a:prstGeom>
          <a:solidFill>
            <a:schemeClr val="accent2"/>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2" name="标题 1"/>
          <p:cNvSpPr txBox="1"/>
          <p:nvPr/>
        </p:nvSpPr>
        <p:spPr>
          <a:xfrm>
            <a:off x="4108762" y="2381975"/>
            <a:ext cx="3960000" cy="1492600"/>
          </a:xfrm>
          <a:prstGeom prst="rect">
            <a:avLst/>
          </a:prstGeom>
          <a:noFill/>
          <a:ln cap="sq">
            <a:noFill/>
          </a:ln>
          <a:effectLst/>
        </p:spPr>
        <p:txBody>
          <a:bodyPr vert="horz" wrap="square" lIns="0" tIns="0" rIns="0" bIns="0" rtlCol="0" anchor="t"/>
          <a:lstStyle/>
          <a:p>
            <a:pPr algn="ctr">
              <a:lnSpc>
                <a:spcPct val="150000"/>
              </a:lnSpc>
            </a:pPr>
            <a:r>
              <a:rPr kumimoji="1" lang="en-US" altLang="zh-CN"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构建多维度诊断数据集，涵盖生化指标、血常规指标、基础属性与生活习惯等16项特征，通过数据清洗、标准化处理形成高质量数据集，为模型训练提供坚实基础。
</a:t>
            </a:r>
            <a:r>
              <a:rPr kumimoji="1" lang="zh-CN" altLang="en-US"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使用</a:t>
            </a:r>
            <a:r>
              <a:rPr kumimoji="1" lang="en-US" altLang="zh-CN"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RandomUnderSampler</a:t>
            </a:r>
            <a:r>
              <a:rPr kumimoji="1" lang="zh-CN" altLang="en-US"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处理类别不平衡问题</a:t>
            </a:r>
            <a:r>
              <a:rPr kumimoji="1" lang="en-US" altLang="zh-CN"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和焦点损失函数调整训练策略，解决数据集中阳性样本占比低的问题，提升模型对弱阳性样本的识别能力。</a:t>
            </a:r>
            <a:endParaRPr kumimoji="1" lang="zh-CN" altLang="en-US"/>
          </a:p>
        </p:txBody>
      </p:sp>
      <p:sp>
        <p:nvSpPr>
          <p:cNvPr id="13" name="标题 1"/>
          <p:cNvSpPr txBox="1"/>
          <p:nvPr/>
        </p:nvSpPr>
        <p:spPr>
          <a:xfrm>
            <a:off x="4121462" y="1848575"/>
            <a:ext cx="3960000" cy="311500"/>
          </a:xfrm>
          <a:prstGeom prst="rect">
            <a:avLst/>
          </a:prstGeom>
          <a:noFill/>
          <a:ln cap="sq">
            <a:noFill/>
          </a:ln>
          <a:effectLst/>
        </p:spPr>
        <p:txBody>
          <a:bodyPr vert="horz" wrap="square" lIns="0" tIns="0" rIns="0" bIns="0" rtlCol="0" anchor="ctr"/>
          <a:lstStyle/>
          <a:p>
            <a:pPr algn="ctr">
              <a:lnSpc>
                <a:spcPct val="14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数据层</a:t>
            </a:r>
            <a:endParaRPr kumimoji="1" lang="zh-CN" altLang="en-US"/>
          </a:p>
        </p:txBody>
      </p:sp>
      <p:sp>
        <p:nvSpPr>
          <p:cNvPr id="14" name="标题 1"/>
          <p:cNvSpPr txBox="1"/>
          <p:nvPr/>
        </p:nvSpPr>
        <p:spPr>
          <a:xfrm>
            <a:off x="1556062" y="4261575"/>
            <a:ext cx="3960000" cy="311500"/>
          </a:xfrm>
          <a:prstGeom prst="rect">
            <a:avLst/>
          </a:prstGeom>
          <a:noFill/>
          <a:ln cap="sq">
            <a:noFill/>
          </a:ln>
          <a:effectLst/>
        </p:spPr>
        <p:txBody>
          <a:bodyPr vert="horz" wrap="square" lIns="0" tIns="0" rIns="0" bIns="0" rtlCol="0" anchor="ctr"/>
          <a:lstStyle/>
          <a:p>
            <a:pPr algn="ctr">
              <a:lnSpc>
                <a:spcPct val="14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模型层</a:t>
            </a:r>
            <a:endParaRPr kumimoji="1" lang="zh-CN" altLang="en-US"/>
          </a:p>
        </p:txBody>
      </p:sp>
      <p:sp>
        <p:nvSpPr>
          <p:cNvPr id="15" name="标题 1"/>
          <p:cNvSpPr txBox="1"/>
          <p:nvPr/>
        </p:nvSpPr>
        <p:spPr>
          <a:xfrm>
            <a:off x="7182162" y="4261575"/>
            <a:ext cx="3960000" cy="311500"/>
          </a:xfrm>
          <a:prstGeom prst="rect">
            <a:avLst/>
          </a:prstGeom>
          <a:noFill/>
          <a:ln cap="sq">
            <a:noFill/>
          </a:ln>
          <a:effectLst/>
        </p:spPr>
        <p:txBody>
          <a:bodyPr vert="horz" wrap="square" lIns="0" tIns="0" rIns="0" bIns="0" rtlCol="0" anchor="ctr"/>
          <a:lstStyle/>
          <a:p>
            <a:pPr algn="ctr">
              <a:lnSpc>
                <a:spcPct val="14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应用层</a:t>
            </a:r>
            <a:endParaRPr kumimoji="1" lang="zh-CN" altLang="en-US"/>
          </a:p>
        </p:txBody>
      </p:sp>
      <p:sp>
        <p:nvSpPr>
          <p:cNvPr id="16" name="标题 1"/>
          <p:cNvSpPr txBox="1"/>
          <p:nvPr/>
        </p:nvSpPr>
        <p:spPr>
          <a:xfrm>
            <a:off x="7180735" y="4782275"/>
            <a:ext cx="3960000" cy="1492600"/>
          </a:xfrm>
          <a:prstGeom prst="rect">
            <a:avLst/>
          </a:prstGeom>
          <a:noFill/>
          <a:ln cap="sq">
            <a:noFill/>
          </a:ln>
          <a:effectLst/>
        </p:spPr>
        <p:txBody>
          <a:bodyPr vert="horz" wrap="square" lIns="0" tIns="0" rIns="0" bIns="0" rtlCol="0" anchor="t"/>
          <a:lstStyle/>
          <a:p>
            <a:pPr algn="ctr">
              <a:lnSpc>
                <a:spcPct val="150000"/>
              </a:lnSpc>
            </a:pPr>
            <a:r>
              <a:rPr kumimoji="1" lang="en-US" altLang="zh-CN" sz="117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设计基于HL7 FHIR标准的双向数据交互接口，实现诊断模型与DeepSeek大模型的无缝对接，根据患者个体特征和异常指标生成个性化健康建议，满足不同患者的需求。
采用领域适配模块和动态权重算法，确保健康建议的医学准确性和个体适配性，优先推送针对关键指标的干预措施，提高患者健康管理的针对性和有效性。</a:t>
            </a:r>
            <a:endParaRPr kumimoji="1" lang="zh-CN" altLang="en-US"/>
          </a:p>
        </p:txBody>
      </p:sp>
      <p:sp>
        <p:nvSpPr>
          <p:cNvPr id="17" name="标题 1"/>
          <p:cNvSpPr txBox="1"/>
          <p:nvPr/>
        </p:nvSpPr>
        <p:spPr>
          <a:xfrm>
            <a:off x="1581462" y="4782275"/>
            <a:ext cx="3960000" cy="1492600"/>
          </a:xfrm>
          <a:prstGeom prst="rect">
            <a:avLst/>
          </a:prstGeom>
          <a:noFill/>
          <a:ln cap="sq">
            <a:noFill/>
          </a:ln>
          <a:effectLst/>
        </p:spPr>
        <p:txBody>
          <a:bodyPr vert="horz" wrap="square" lIns="0" tIns="0" rIns="0" bIns="0" rtlCol="0" anchor="t"/>
          <a:lstStyle/>
          <a:p>
            <a:pPr algn="ctr">
              <a:lnSpc>
                <a:spcPct val="150000"/>
              </a:lnSpc>
            </a:pPr>
            <a:r>
              <a:rPr kumimoji="1" lang="zh-CN" altLang="en-US"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采用</a:t>
            </a:r>
            <a:r>
              <a:rPr kumimoji="1" lang="en-US" altLang="zh-CN"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LASSO</a:t>
            </a:r>
            <a:r>
              <a:rPr kumimoji="1" lang="zh-CN" altLang="en-US"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和</a:t>
            </a:r>
            <a:r>
              <a:rPr kumimoji="1" lang="en-US" altLang="zh-CN"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LightGBM</a:t>
            </a:r>
            <a:r>
              <a:rPr kumimoji="1" lang="zh-CN" altLang="en-US"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的优势</a:t>
            </a:r>
            <a:r>
              <a:rPr kumimoji="1" lang="en-US" altLang="zh-CN" sz="10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架构，结合正则化与动态学习率调整策略，提升模型泛化能力，经验证，模型在复杂病例诊断准确率上较传统方法提升15.2%，为精准诊断提供核心支撑。
引入SHAP可解释性技术，对模型决策过程进行可视化解析，明确关键诊断因子及其贡献度，使医生能够理解并信任模型的诊断结果，提升临床应用价值。</a:t>
            </a: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技术架构</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项目创新点</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04</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506570" y="3141273"/>
            <a:ext cx="3175966" cy="685963"/>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可解释性技术嵌入</a:t>
            </a:r>
            <a:endParaRPr kumimoji="1" lang="zh-CN" altLang="en-US"/>
          </a:p>
        </p:txBody>
      </p:sp>
      <p:sp>
        <p:nvSpPr>
          <p:cNvPr id="4" name="标题 1"/>
          <p:cNvSpPr txBox="1"/>
          <p:nvPr/>
        </p:nvSpPr>
        <p:spPr>
          <a:xfrm>
            <a:off x="4506570" y="3876814"/>
            <a:ext cx="3175966" cy="2219186"/>
          </a:xfrm>
          <a:prstGeom prst="rect">
            <a:avLst/>
          </a:prstGeom>
          <a:noFill/>
          <a:ln>
            <a:noFill/>
          </a:ln>
        </p:spPr>
        <p:txBody>
          <a:bodyPr vert="horz" wrap="square" lIns="0" tIns="0" rIns="0" bIns="0" rtlCol="0" anchor="t"/>
          <a:lstStyle/>
          <a:p>
            <a:pPr algn="ctr">
              <a:lnSpc>
                <a:spcPct val="150000"/>
              </a:lnSpc>
            </a:pPr>
            <a:r>
              <a:rPr kumimoji="1" lang="en-US" altLang="zh-CN" sz="124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嵌入SHAP可解释模块，实现AI决策可视化，将模型决策过程转化为临床可理解的指标权重，解决AI诊断“黑箱”问题，使医生能够直观地了解模型的诊断逻辑，增强对AI诊断结果的信任度。
基于SHAP值的可视化技术，能够清晰地展示各指标对诊断结果的影响程度和方向，为临床医生提供量化依据，辅助其进行更精准的诊断和治疗决策。</a:t>
            </a:r>
            <a:endParaRPr kumimoji="1" lang="zh-CN" altLang="en-US"/>
          </a:p>
        </p:txBody>
      </p:sp>
      <p:sp>
        <p:nvSpPr>
          <p:cNvPr id="5" name="标题 1"/>
          <p:cNvSpPr txBox="1"/>
          <p:nvPr/>
        </p:nvSpPr>
        <p:spPr>
          <a:xfrm>
            <a:off x="8257187" y="3141273"/>
            <a:ext cx="3175966" cy="685963"/>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轻量化模型部署</a:t>
            </a:r>
            <a:endParaRPr kumimoji="1" lang="zh-CN" altLang="en-US"/>
          </a:p>
        </p:txBody>
      </p:sp>
      <p:sp>
        <p:nvSpPr>
          <p:cNvPr id="6" name="标题 1"/>
          <p:cNvSpPr txBox="1"/>
          <p:nvPr/>
        </p:nvSpPr>
        <p:spPr>
          <a:xfrm>
            <a:off x="8264980" y="3876814"/>
            <a:ext cx="3175966" cy="2219186"/>
          </a:xfrm>
          <a:prstGeom prst="rect">
            <a:avLst/>
          </a:prstGeom>
          <a:noFill/>
          <a:ln>
            <a:noFill/>
          </a:ln>
        </p:spPr>
        <p:txBody>
          <a:bodyPr vert="horz" wrap="square" lIns="0" tIns="0" rIns="0" bIns="0" rtlCol="0" anchor="t"/>
          <a:lstStyle/>
          <a:p>
            <a:pPr algn="ctr">
              <a:lnSpc>
                <a:spcPct val="150000"/>
              </a:lnSpc>
            </a:pPr>
            <a:r>
              <a:rPr kumimoji="1" lang="en-US" altLang="zh-CN" sz="124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实现轻量化部署，支持云端与边缘端协同运行，适配基层医疗机构硬件条件，降低医疗成本，提高医疗资源的可及性，使先进的诊断技术能够惠及更多基层患者。
通过模型压缩技术，将LightGBM模型体积减小60%，在基层移动终端实现200ms内快速推理，确保系统在不同医疗场景中的诊断稳定性，提升基层医疗服务能力。</a:t>
            </a:r>
            <a:endParaRPr kumimoji="1" lang="zh-CN" altLang="en-US"/>
          </a:p>
        </p:txBody>
      </p:sp>
      <p:sp>
        <p:nvSpPr>
          <p:cNvPr id="7" name="标题 1"/>
          <p:cNvSpPr txBox="1"/>
          <p:nvPr/>
        </p:nvSpPr>
        <p:spPr>
          <a:xfrm>
            <a:off x="755954" y="3141273"/>
            <a:ext cx="3175966" cy="685963"/>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多维度指标融合</a:t>
            </a:r>
            <a:endParaRPr kumimoji="1" lang="zh-CN" altLang="en-US"/>
          </a:p>
        </p:txBody>
      </p:sp>
      <p:sp>
        <p:nvSpPr>
          <p:cNvPr id="8" name="标题 1"/>
          <p:cNvSpPr txBox="1"/>
          <p:nvPr/>
        </p:nvSpPr>
        <p:spPr>
          <a:xfrm>
            <a:off x="755954" y="3876814"/>
            <a:ext cx="3175966" cy="2219186"/>
          </a:xfrm>
          <a:prstGeom prst="rect">
            <a:avLst/>
          </a:prstGeom>
          <a:noFill/>
          <a:ln>
            <a:noFill/>
          </a:ln>
        </p:spPr>
        <p:txBody>
          <a:bodyPr vert="horz" wrap="square" lIns="0" tIns="0" rIns="0" bIns="0" rtlCol="0" anchor="t"/>
          <a:lstStyle/>
          <a:p>
            <a:pPr algn="ctr">
              <a:lnSpc>
                <a:spcPct val="150000"/>
              </a:lnSpc>
            </a:pPr>
            <a:r>
              <a:rPr kumimoji="1" lang="en-US" altLang="zh-CN" sz="124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突破传统单一指标诊断局限，构建包含生理指标、生活习惯、病史数据的综合评估体系，提升复杂病例诊断准确率，为糖尿病精准医疗提供更全面的诊断依据。
通过深度特征工程，挖掘出如“有核红细胞计数”“平均血小板体积”等非传统指标对糖尿病诊断的潜在价值，丰富了糖尿病诊断的指标体系，拓展了研究视野。</a:t>
            </a:r>
            <a:endParaRPr kumimoji="1" lang="zh-CN" altLang="en-US"/>
          </a:p>
        </p:txBody>
      </p:sp>
      <p:sp>
        <p:nvSpPr>
          <p:cNvPr id="9" name="标题 1"/>
          <p:cNvSpPr txBox="1"/>
          <p:nvPr/>
        </p:nvSpPr>
        <p:spPr>
          <a:xfrm>
            <a:off x="1990403" y="1676400"/>
            <a:ext cx="707069" cy="619089"/>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10" name="标题 1"/>
          <p:cNvSpPr txBox="1"/>
          <p:nvPr/>
        </p:nvSpPr>
        <p:spPr>
          <a:xfrm>
            <a:off x="9526106" y="1660550"/>
            <a:ext cx="638128" cy="663550"/>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11" name="标题 1"/>
          <p:cNvSpPr txBox="1"/>
          <p:nvPr/>
        </p:nvSpPr>
        <p:spPr>
          <a:xfrm>
            <a:off x="5804042" y="1660550"/>
            <a:ext cx="581024" cy="663550"/>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4873906" y="2021490"/>
            <a:ext cx="2441294" cy="960045"/>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193264" y="2004553"/>
            <a:ext cx="1802578" cy="708870"/>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5081489" y="2013365"/>
            <a:ext cx="2026129" cy="796781"/>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8632316" y="2021490"/>
            <a:ext cx="2441294" cy="960045"/>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8951674" y="2004553"/>
            <a:ext cx="1802578" cy="708870"/>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8839899" y="2013365"/>
            <a:ext cx="2026129" cy="796781"/>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123290" y="2021490"/>
            <a:ext cx="2441294" cy="960045"/>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1442648" y="2004553"/>
            <a:ext cx="1802578" cy="708870"/>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1330873" y="2013365"/>
            <a:ext cx="2026129" cy="796781"/>
          </a:xfrm>
          <a:prstGeom prst="ellipse">
            <a:avLst/>
          </a:prstGeom>
          <a:noFill/>
          <a:ln w="22225" cap="sq">
            <a:gradFill>
              <a:gsLst>
                <a:gs pos="26000">
                  <a:schemeClr val="accent1">
                    <a:lumMod val="20000"/>
                    <a:lumOff val="80000"/>
                    <a:alpha val="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技术创新</a:t>
            </a:r>
            <a:endParaRPr kumimoji="1" lang="zh-CN" altLang="en-US"/>
          </a:p>
        </p:txBody>
      </p:sp>
      <p:sp>
        <p:nvSpPr>
          <p:cNvPr id="23"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15459" y="2375210"/>
            <a:ext cx="2979460" cy="3430053"/>
          </a:xfrm>
          <a:prstGeom prst="rect">
            <a:avLst/>
          </a:prstGeom>
          <a:noFill/>
          <a:ln>
            <a:noFill/>
          </a:ln>
          <a:effectLst/>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基于DeepSeek的动态建议生成机制，结合患者实时数据动态调整健康管理方案，实现从诊断到干预的精准匹配，为患者提供个性化的健康管理服务。
个性化健康建议涵盖饮食、运动、用药等多个方面，根据患者的个体特征和健康状况进行定制，提高患者的依从性，促进患者健康状况的改善。</a:t>
            </a:r>
            <a:endParaRPr kumimoji="1" lang="zh-CN" altLang="en-US"/>
          </a:p>
        </p:txBody>
      </p:sp>
      <p:sp>
        <p:nvSpPr>
          <p:cNvPr id="4" name="标题 1"/>
          <p:cNvSpPr txBox="1"/>
          <p:nvPr/>
        </p:nvSpPr>
        <p:spPr>
          <a:xfrm>
            <a:off x="815459" y="2060848"/>
            <a:ext cx="2979460" cy="361083"/>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0F81BF">
                    <a:alpha val="100000"/>
                  </a:srgbClr>
                </a:solidFill>
                <a:latin typeface="Source Han Sans CN Bold" panose="020B0800000000000000" charset="-122"/>
                <a:ea typeface="Source Han Sans CN Bold" panose="020B0800000000000000" charset="-122"/>
                <a:cs typeface="Source Han Sans CN Bold" panose="020B0800000000000000" charset="-122"/>
              </a:rPr>
              <a:t>个性化健康管理</a:t>
            </a:r>
            <a:endParaRPr kumimoji="1" lang="zh-CN" altLang="en-US"/>
          </a:p>
        </p:txBody>
      </p:sp>
      <p:sp>
        <p:nvSpPr>
          <p:cNvPr id="5" name="标题 1"/>
          <p:cNvSpPr txBox="1"/>
          <p:nvPr/>
        </p:nvSpPr>
        <p:spPr>
          <a:xfrm>
            <a:off x="8517215" y="2375210"/>
            <a:ext cx="2979460" cy="3430053"/>
          </a:xfrm>
          <a:prstGeom prst="rect">
            <a:avLst/>
          </a:prstGeom>
          <a:noFill/>
          <a:ln>
            <a:noFill/>
          </a:ln>
          <a:effectLst/>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项目成果可复制至其他慢性病领域，推动医疗AI标准化落地，建立技术研发到临床转化的完整路径，为医疗AI的发展提供了可借鉴的经验和模式。
通过技术创新与场景落地的深度融合，为糖尿病精准诊疗提供“技术- 应用- 政策”三位一体解决方案，展现人工智能在医疗健康领域的实质性赋能潜力，引领慢性病管理数字化转型。</a:t>
            </a:r>
            <a:endParaRPr kumimoji="1" lang="zh-CN" altLang="en-US"/>
          </a:p>
        </p:txBody>
      </p:sp>
      <p:sp>
        <p:nvSpPr>
          <p:cNvPr id="6" name="标题 1"/>
          <p:cNvSpPr txBox="1"/>
          <p:nvPr/>
        </p:nvSpPr>
        <p:spPr>
          <a:xfrm>
            <a:off x="8517215" y="2060848"/>
            <a:ext cx="2979460" cy="361083"/>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0F81BF">
                    <a:alpha val="100000"/>
                  </a:srgbClr>
                </a:solidFill>
                <a:latin typeface="Source Han Sans CN Bold" panose="020B0800000000000000" charset="-122"/>
                <a:ea typeface="Source Han Sans CN Bold" panose="020B0800000000000000" charset="-122"/>
                <a:cs typeface="Source Han Sans CN Bold" panose="020B0800000000000000" charset="-122"/>
              </a:rPr>
              <a:t>推动医疗AI标准化</a:t>
            </a:r>
            <a:endParaRPr kumimoji="1" lang="zh-CN" altLang="en-US"/>
          </a:p>
        </p:txBody>
      </p:sp>
      <p:sp>
        <p:nvSpPr>
          <p:cNvPr id="7" name="标题 1"/>
          <p:cNvSpPr txBox="1"/>
          <p:nvPr/>
        </p:nvSpPr>
        <p:spPr>
          <a:xfrm>
            <a:off x="4695010" y="2375210"/>
            <a:ext cx="2979460" cy="3430053"/>
          </a:xfrm>
          <a:prstGeom prst="rect">
            <a:avLst/>
          </a:prstGeom>
          <a:noFill/>
          <a:ln>
            <a:noFill/>
          </a:ln>
          <a:effectLst/>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通过提升诊断精准度与健康管理效率，有效降低并发症发生率，减少住院案例，缓解医疗资源紧张，优化医疗资源配置，提高整个医疗系统的运行效率。
项目预计每万人年可减少30+例糖尿病相关住院病例，显著降低医疗成本，为医疗资源的合理分配和利用提供了新的思路和方法。</a:t>
            </a:r>
            <a:endParaRPr kumimoji="1" lang="zh-CN" altLang="en-US"/>
          </a:p>
        </p:txBody>
      </p:sp>
      <p:sp>
        <p:nvSpPr>
          <p:cNvPr id="8" name="标题 1"/>
          <p:cNvSpPr txBox="1"/>
          <p:nvPr/>
        </p:nvSpPr>
        <p:spPr>
          <a:xfrm>
            <a:off x="4695010" y="2060848"/>
            <a:ext cx="2979460" cy="361083"/>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0F81BF">
                    <a:alpha val="100000"/>
                  </a:srgbClr>
                </a:solidFill>
                <a:latin typeface="Source Han Sans CN Bold" panose="020B0800000000000000" charset="-122"/>
                <a:ea typeface="Source Han Sans CN Bold" panose="020B0800000000000000" charset="-122"/>
                <a:cs typeface="Source Han Sans CN Bold" panose="020B0800000000000000" charset="-122"/>
              </a:rPr>
              <a:t>医疗资源优化配置</a:t>
            </a:r>
            <a:endParaRPr kumimoji="1" lang="zh-CN" altLang="en-US"/>
          </a:p>
        </p:txBody>
      </p:sp>
      <p:sp>
        <p:nvSpPr>
          <p:cNvPr id="9"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应用创新</a:t>
            </a:r>
            <a:endParaRPr kumimoji="1" lang="zh-CN" altLang="en-US"/>
          </a:p>
        </p:txBody>
      </p:sp>
      <p:sp>
        <p:nvSpPr>
          <p:cNvPr id="11"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项目成果与效益</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05</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17306640" flipH="1">
            <a:off x="3634899" y="4719622"/>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4293360">
            <a:off x="782451" y="4719619"/>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70707" y="1534171"/>
            <a:ext cx="3032914" cy="4124357"/>
          </a:xfrm>
          <a:prstGeom prst="roundRect">
            <a:avLst>
              <a:gd name="adj" fmla="val 3655"/>
            </a:avLst>
          </a:prstGeom>
          <a:solidFill>
            <a:schemeClr val="bg1"/>
          </a:solidFill>
          <a:ln w="12700" cap="sq">
            <a:solidFill>
              <a:schemeClr val="accent1"/>
            </a:solid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0400"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13973" y="2420663"/>
            <a:ext cx="2746382" cy="2111163"/>
          </a:xfrm>
          <a:prstGeom prst="rect">
            <a:avLst/>
          </a:prstGeom>
          <a:noFill/>
          <a:ln>
            <a:noFill/>
          </a:ln>
        </p:spPr>
        <p:txBody>
          <a:bodyPr vert="horz" wrap="square" lIns="0" tIns="0" rIns="0" bIns="0" rtlCol="0" anchor="t"/>
          <a:lstStyle/>
          <a:p>
            <a:pPr algn="ctr">
              <a:lnSpc>
                <a:spcPct val="150000"/>
              </a:lnSpc>
            </a:pPr>
            <a:r>
              <a:rPr kumimoji="1" lang="en-US" altLang="zh-CN" sz="123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智能诊断模型准确率达92.3%，复杂病例诊断准确率提升15.2%，漏诊风险降低30%，达到国际先进水平，为糖尿病的早期精准诊断提供了有力支持。
模型训练过程中，通过对比实验验证了不同算法和技术的有效性，最终选定的模型架构和参数优化方案具有较高的科学性和实用性，能够满足临床应用的需求。</a:t>
            </a:r>
            <a:endParaRPr kumimoji="1" lang="zh-CN" altLang="en-US"/>
          </a:p>
        </p:txBody>
      </p:sp>
      <p:sp>
        <p:nvSpPr>
          <p:cNvPr id="8" name="标题 1"/>
          <p:cNvSpPr txBox="1"/>
          <p:nvPr/>
        </p:nvSpPr>
        <p:spPr>
          <a:xfrm>
            <a:off x="2203351" y="2243485"/>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2007419"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2120037"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11" name="标题 1"/>
          <p:cNvSpPr txBox="1"/>
          <p:nvPr/>
        </p:nvSpPr>
        <p:spPr>
          <a:xfrm rot="17306640" flipH="1">
            <a:off x="7337386" y="4719621"/>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4293360">
            <a:off x="4490028" y="4719619"/>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573193" y="1534171"/>
            <a:ext cx="3032914" cy="4124357"/>
          </a:xfrm>
          <a:prstGeom prst="roundRect">
            <a:avLst>
              <a:gd name="adj" fmla="val 3655"/>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362886"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716459" y="2420662"/>
            <a:ext cx="2746382" cy="2111163"/>
          </a:xfrm>
          <a:prstGeom prst="rect">
            <a:avLst/>
          </a:prstGeom>
          <a:noFill/>
          <a:ln>
            <a:noFill/>
          </a:ln>
        </p:spPr>
        <p:txBody>
          <a:bodyPr vert="horz" wrap="square" lIns="0" tIns="0" rIns="0" bIns="0" rtlCol="0" anchor="t"/>
          <a:lstStyle/>
          <a:p>
            <a:pPr algn="ctr">
              <a:lnSpc>
                <a:spcPct val="150000"/>
              </a:lnSpc>
            </a:pPr>
            <a:r>
              <a:rPr kumimoji="1" lang="en-US" altLang="zh-CN" sz="110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SHAP值可视化技术清晰揭示指标与诊断结果的非线性关系，使医生能够直观地理解模型的决策依据，87%的医师认为该可视化解析显著提升了对模型决策的信任度。
项目通过将AI技术与医学知识深度融合，不仅提高了诊断的准确性，还增强了医生对AI诊断结果的理解和接受度，促进了AI技术在医疗领域的应用和推广。</a:t>
            </a:r>
            <a:endParaRPr kumimoji="1" lang="zh-CN" altLang="en-US"/>
          </a:p>
        </p:txBody>
      </p:sp>
      <p:sp>
        <p:nvSpPr>
          <p:cNvPr id="16" name="标题 1"/>
          <p:cNvSpPr txBox="1"/>
          <p:nvPr/>
        </p:nvSpPr>
        <p:spPr>
          <a:xfrm>
            <a:off x="5905837" y="2243484"/>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5709905"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5822523"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19" name="标题 1"/>
          <p:cNvSpPr txBox="1"/>
          <p:nvPr/>
        </p:nvSpPr>
        <p:spPr>
          <a:xfrm rot="17306640" flipH="1">
            <a:off x="11039872" y="4719621"/>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4293360">
            <a:off x="8187420" y="4719620"/>
            <a:ext cx="356980" cy="514568"/>
          </a:xfrm>
          <a:prstGeom prst="rtTriangle">
            <a:avLst/>
          </a:prstGeom>
          <a:solidFill>
            <a:schemeClr val="accent1">
              <a:lumMod val="5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275679" y="1534171"/>
            <a:ext cx="3032914" cy="4124357"/>
          </a:xfrm>
          <a:prstGeom prst="roundRect">
            <a:avLst>
              <a:gd name="adj" fmla="val 3655"/>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065372" y="4891715"/>
            <a:ext cx="3453528" cy="838515"/>
          </a:xfrm>
          <a:custGeom>
            <a:avLst/>
            <a:gdLst>
              <a:gd name="connsiteX0" fmla="*/ 0 w 4226504"/>
              <a:gd name="connsiteY0" fmla="*/ 0 h 1151328"/>
              <a:gd name="connsiteX1" fmla="*/ 49676 w 4226504"/>
              <a:gd name="connsiteY1" fmla="*/ 14539 h 1151328"/>
              <a:gd name="connsiteX2" fmla="*/ 2119602 w 4226504"/>
              <a:gd name="connsiteY2" fmla="*/ 210229 h 1151328"/>
              <a:gd name="connsiteX3" fmla="*/ 4189528 w 4226504"/>
              <a:gd name="connsiteY3" fmla="*/ 14539 h 1151328"/>
              <a:gd name="connsiteX4" fmla="*/ 4226504 w 4226504"/>
              <a:gd name="connsiteY4" fmla="*/ 3717 h 1151328"/>
              <a:gd name="connsiteX5" fmla="*/ 4226504 w 4226504"/>
              <a:gd name="connsiteY5" fmla="*/ 1100830 h 1151328"/>
              <a:gd name="connsiteX6" fmla="*/ 4176006 w 4226504"/>
              <a:gd name="connsiteY6" fmla="*/ 1151328 h 1151328"/>
              <a:gd name="connsiteX7" fmla="*/ 50498 w 4226504"/>
              <a:gd name="connsiteY7" fmla="*/ 1151328 h 1151328"/>
              <a:gd name="connsiteX8" fmla="*/ 0 w 4226504"/>
              <a:gd name="connsiteY8" fmla="*/ 1100830 h 1151328"/>
              <a:gd name="connsiteX9" fmla="*/ 0 w 4226504"/>
              <a:gd name="connsiteY9" fmla="*/ 0 h 1151328"/>
            </a:gdLst>
            <a:ahLst/>
            <a:cxnLst/>
            <a:rect l="l" t="t" r="r" b="b"/>
            <a:pathLst>
              <a:path w="4226504" h="1151328">
                <a:moveTo>
                  <a:pt x="0" y="0"/>
                </a:moveTo>
                <a:lnTo>
                  <a:pt x="49676" y="14539"/>
                </a:lnTo>
                <a:cubicBezTo>
                  <a:pt x="498270" y="132605"/>
                  <a:pt x="1257953" y="210229"/>
                  <a:pt x="2119602" y="210229"/>
                </a:cubicBezTo>
                <a:cubicBezTo>
                  <a:pt x="2981251" y="210229"/>
                  <a:pt x="3740935" y="132605"/>
                  <a:pt x="4189528" y="14539"/>
                </a:cubicBezTo>
                <a:lnTo>
                  <a:pt x="4226504" y="3717"/>
                </a:lnTo>
                <a:lnTo>
                  <a:pt x="4226504" y="1100830"/>
                </a:lnTo>
                <a:cubicBezTo>
                  <a:pt x="4226504" y="1128719"/>
                  <a:pt x="4203895" y="1151328"/>
                  <a:pt x="4176006" y="1151328"/>
                </a:cubicBezTo>
                <a:lnTo>
                  <a:pt x="50498" y="1151328"/>
                </a:lnTo>
                <a:cubicBezTo>
                  <a:pt x="22609" y="1151328"/>
                  <a:pt x="0" y="1128719"/>
                  <a:pt x="0" y="1100830"/>
                </a:cubicBezTo>
                <a:lnTo>
                  <a:pt x="0" y="0"/>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8406245" y="2420663"/>
            <a:ext cx="2759082" cy="2111163"/>
          </a:xfrm>
          <a:prstGeom prst="rect">
            <a:avLst/>
          </a:prstGeom>
          <a:noFill/>
          <a:ln>
            <a:noFill/>
          </a:ln>
        </p:spPr>
        <p:txBody>
          <a:bodyPr vert="horz" wrap="square" lIns="0" tIns="0" rIns="0" bIns="0" rtlCol="0" anchor="t"/>
          <a:lstStyle/>
          <a:p>
            <a:pPr algn="ctr">
              <a:lnSpc>
                <a:spcPct val="150000"/>
              </a:lnSpc>
            </a:pPr>
            <a:r>
              <a:rPr kumimoji="1" lang="en-US" altLang="zh-CN" sz="123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实现了诊断模型与DeepSeek系统的深度集成，构建了完整的“诊断- 分析- 干预”闭环，系统稳定可靠，能够为患者提供全方位的健康管理服务。
系统集成过程中，解决了多语言模型调用、数据交互、实时响应等技术难题，确保了系统的高效运行和良好的用户体验。</a:t>
            </a:r>
            <a:endParaRPr kumimoji="1" lang="zh-CN" altLang="en-US"/>
          </a:p>
        </p:txBody>
      </p:sp>
      <p:sp>
        <p:nvSpPr>
          <p:cNvPr id="24" name="标题 1"/>
          <p:cNvSpPr txBox="1"/>
          <p:nvPr/>
        </p:nvSpPr>
        <p:spPr>
          <a:xfrm>
            <a:off x="9608323" y="2243485"/>
            <a:ext cx="367626" cy="33297"/>
          </a:xfrm>
          <a:prstGeom prst="roundRect">
            <a:avLst>
              <a:gd name="adj" fmla="val 50000"/>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9412391" y="4652356"/>
            <a:ext cx="759490" cy="759489"/>
          </a:xfrm>
          <a:prstGeom prst="ellipse">
            <a:avLst/>
          </a:prstGeom>
          <a:solidFill>
            <a:schemeClr val="accent2"/>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a:off x="9525009" y="4772886"/>
            <a:ext cx="534254" cy="518428"/>
          </a:xfrm>
          <a:prstGeom prst="rect">
            <a:avLst/>
          </a:prstGeom>
          <a:noFill/>
          <a:ln>
            <a:noFill/>
          </a:ln>
        </p:spPr>
        <p:txBody>
          <a:bodyPr vert="horz" wrap="square" lIns="0" tIns="0" rIns="0" bIns="0" rtlCol="0" anchor="b"/>
          <a:lstStyle/>
          <a:p>
            <a:pPr algn="ctr">
              <a:lnSpc>
                <a:spcPct val="150000"/>
              </a:lnSpc>
            </a:pPr>
            <a:r>
              <a:rPr kumimoji="1" lang="en-US" altLang="zh-CN" sz="2800">
                <a:ln w="12700">
                  <a:noFill/>
                </a:ln>
                <a:solidFill>
                  <a:srgbClr val="FFFFFF">
                    <a:alpha val="100000"/>
                  </a:srgbClr>
                </a:solidFill>
                <a:latin typeface="OPPOSans B" panose="00020600040101010101" charset="-122"/>
                <a:ea typeface="OPPOSans B" panose="00020600040101010101" charset="-122"/>
                <a:cs typeface="OPPOSans B" panose="00020600040101010101" charset="-122"/>
              </a:rPr>
              <a:t>03</a:t>
            </a:r>
            <a:endParaRPr kumimoji="1" lang="zh-CN" altLang="en-US"/>
          </a:p>
        </p:txBody>
      </p:sp>
      <p:sp>
        <p:nvSpPr>
          <p:cNvPr id="27" name="标题 1"/>
          <p:cNvSpPr txBox="1"/>
          <p:nvPr/>
        </p:nvSpPr>
        <p:spPr>
          <a:xfrm>
            <a:off x="83899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系统集成完善</a:t>
            </a:r>
            <a:endParaRPr kumimoji="1" lang="zh-CN" altLang="en-US"/>
          </a:p>
        </p:txBody>
      </p:sp>
      <p:sp>
        <p:nvSpPr>
          <p:cNvPr id="28" name="标题 1"/>
          <p:cNvSpPr txBox="1"/>
          <p:nvPr/>
        </p:nvSpPr>
        <p:spPr>
          <a:xfrm>
            <a:off x="46942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可解释性强</a:t>
            </a:r>
            <a:endParaRPr kumimoji="1" lang="zh-CN" altLang="en-US"/>
          </a:p>
        </p:txBody>
      </p:sp>
      <p:sp>
        <p:nvSpPr>
          <p:cNvPr id="29" name="标题 1"/>
          <p:cNvSpPr txBox="1"/>
          <p:nvPr/>
        </p:nvSpPr>
        <p:spPr>
          <a:xfrm>
            <a:off x="985879" y="1617301"/>
            <a:ext cx="2778914" cy="545802"/>
          </a:xfrm>
          <a:prstGeom prst="rect">
            <a:avLst/>
          </a:prstGeom>
          <a:noFill/>
          <a:ln>
            <a:noFill/>
          </a:ln>
        </p:spPr>
        <p:txBody>
          <a:bodyPr vert="horz" wrap="square" lIns="0" tIns="0" rIns="0" bIns="0" rtlCol="0" anchor="ctr"/>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模型性能卓越</a:t>
            </a:r>
            <a:endParaRPr kumimoji="1" lang="zh-CN" altLang="en-US"/>
          </a:p>
        </p:txBody>
      </p:sp>
      <p:sp>
        <p:nvSpPr>
          <p:cNvPr id="30"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1"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技术成果</a:t>
            </a:r>
            <a:endParaRPr kumimoji="1" lang="zh-CN" altLang="en-US"/>
          </a:p>
        </p:txBody>
      </p:sp>
      <p:sp>
        <p:nvSpPr>
          <p:cNvPr id="32"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84770" y="1130301"/>
            <a:ext cx="5126746" cy="2374900"/>
          </a:xfrm>
          <a:prstGeom prst="snip1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041785" y="1268373"/>
            <a:ext cx="412288" cy="381395"/>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5" name="标题 1"/>
          <p:cNvSpPr txBox="1"/>
          <p:nvPr/>
        </p:nvSpPr>
        <p:spPr>
          <a:xfrm>
            <a:off x="1041779" y="2283478"/>
            <a:ext cx="4624533" cy="1101408"/>
          </a:xfrm>
          <a:prstGeom prst="rect">
            <a:avLst/>
          </a:prstGeom>
          <a:noFill/>
          <a:ln cap="sq">
            <a:noFill/>
          </a:ln>
        </p:spPr>
        <p:txBody>
          <a:bodyPr vert="horz" wrap="square" lIns="0" tIns="0" rIns="0" bIns="0" rtlCol="0" anchor="t"/>
          <a:lstStyle/>
          <a:p>
            <a:pPr algn="l">
              <a:lnSpc>
                <a:spcPct val="150000"/>
              </a:lnSpc>
            </a:pPr>
            <a:r>
              <a:rPr kumimoji="1" lang="en-US" altLang="zh-CN" sz="111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项目成果在基层医疗机构推广中展现显著应用价值，有效提升了基层医疗服务能力与公平性，使更多患者能够享受到高质量的医疗服务。
通过AI技术辅助诊断，基层医生的诊断准确率得到显著提高，能够为患者提供更精准的治疗方案，改善患者的健康状况，提高患者的生活质量。</a:t>
            </a:r>
            <a:endParaRPr kumimoji="1" lang="zh-CN" altLang="en-US"/>
          </a:p>
        </p:txBody>
      </p:sp>
      <p:sp>
        <p:nvSpPr>
          <p:cNvPr id="6" name="标题 1"/>
          <p:cNvSpPr txBox="1"/>
          <p:nvPr/>
        </p:nvSpPr>
        <p:spPr>
          <a:xfrm>
            <a:off x="6392154" y="1130301"/>
            <a:ext cx="5126746" cy="2374900"/>
          </a:xfrm>
          <a:prstGeom prst="snip1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8100000">
            <a:off x="16220" y="1610453"/>
            <a:ext cx="1414597" cy="1414597"/>
          </a:xfrm>
          <a:prstGeom prst="diagStripe">
            <a:avLst>
              <a:gd name="adj" fmla="val 88423"/>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8100000">
            <a:off x="5605965" y="1610453"/>
            <a:ext cx="1414597" cy="1414597"/>
          </a:xfrm>
          <a:prstGeom prst="diagStripe">
            <a:avLst>
              <a:gd name="adj" fmla="val 88423"/>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649168" y="1252927"/>
            <a:ext cx="412288" cy="412288"/>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6649162" y="2283478"/>
            <a:ext cx="4624533" cy="1101408"/>
          </a:xfrm>
          <a:prstGeom prst="rect">
            <a:avLst/>
          </a:prstGeom>
          <a:noFill/>
          <a:ln cap="sq">
            <a:noFill/>
          </a:ln>
        </p:spPr>
        <p:txBody>
          <a:bodyPr vert="horz" wrap="square" lIns="0" tIns="0" rIns="0" bIns="0" rtlCol="0" anchor="t"/>
          <a:lstStyle/>
          <a:p>
            <a:pPr algn="l">
              <a:lnSpc>
                <a:spcPct val="150000"/>
              </a:lnSpc>
            </a:pPr>
            <a:r>
              <a:rPr kumimoji="1" lang="en-US" altLang="zh-CN" sz="111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系统可降低30%的漏诊风险，预计每万人年减少30+例糖尿病相关住院病例，显著降低医疗成本，减轻医保与个人负担。
通过优化医疗资源配置，减少不必要的检查和治疗，降低医疗费用，使患者能够以更低的成本获得更好的医疗服务，同时也为医保基金的合理使用提供了支持。</a:t>
            </a:r>
            <a:endParaRPr kumimoji="1" lang="zh-CN" altLang="en-US"/>
          </a:p>
        </p:txBody>
      </p:sp>
      <p:sp>
        <p:nvSpPr>
          <p:cNvPr id="11" name="标题 1"/>
          <p:cNvSpPr txBox="1"/>
          <p:nvPr/>
        </p:nvSpPr>
        <p:spPr>
          <a:xfrm>
            <a:off x="1041782" y="1747922"/>
            <a:ext cx="4619714" cy="520109"/>
          </a:xfrm>
          <a:prstGeom prst="rect">
            <a:avLst/>
          </a:prstGeom>
          <a:noFill/>
          <a:ln cap="sq">
            <a:noFill/>
          </a:ln>
        </p:spPr>
        <p:txBody>
          <a:bodyPr vert="horz" wrap="square" lIns="0" tIns="0" rIns="0" bIns="0" rtlCol="0" anchor="ctr"/>
          <a:lstStyle/>
          <a:p>
            <a:pPr algn="l">
              <a:lnSpc>
                <a:spcPct val="13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提升医疗服务质量</a:t>
            </a:r>
            <a:endParaRPr kumimoji="1" lang="zh-CN" altLang="en-US"/>
          </a:p>
        </p:txBody>
      </p:sp>
      <p:sp>
        <p:nvSpPr>
          <p:cNvPr id="12" name="标题 1"/>
          <p:cNvSpPr txBox="1"/>
          <p:nvPr/>
        </p:nvSpPr>
        <p:spPr>
          <a:xfrm>
            <a:off x="6653867" y="1747922"/>
            <a:ext cx="4619714" cy="520109"/>
          </a:xfrm>
          <a:prstGeom prst="rect">
            <a:avLst/>
          </a:prstGeom>
          <a:noFill/>
          <a:ln cap="sq">
            <a:noFill/>
          </a:ln>
        </p:spPr>
        <p:txBody>
          <a:bodyPr vert="horz" wrap="square" lIns="0" tIns="0" rIns="0" bIns="0" rtlCol="0" anchor="ctr"/>
          <a:lstStyle/>
          <a:p>
            <a:pPr algn="l">
              <a:lnSpc>
                <a:spcPct val="13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降低医疗成本</a:t>
            </a:r>
            <a:endParaRPr kumimoji="1" lang="zh-CN" altLang="en-US"/>
          </a:p>
        </p:txBody>
      </p:sp>
      <p:sp>
        <p:nvSpPr>
          <p:cNvPr id="13" name="标题 1"/>
          <p:cNvSpPr txBox="1"/>
          <p:nvPr/>
        </p:nvSpPr>
        <p:spPr>
          <a:xfrm>
            <a:off x="1305470" y="3769186"/>
            <a:ext cx="9660646" cy="2374900"/>
          </a:xfrm>
          <a:prstGeom prst="snip1Rect">
            <a:avLst/>
          </a:prstGeom>
          <a:solidFill>
            <a:schemeClr val="bg1"/>
          </a:solid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1562485" y="3898463"/>
            <a:ext cx="412288" cy="398986"/>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2"/>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1562479" y="4922363"/>
            <a:ext cx="9069533" cy="1076008"/>
          </a:xfrm>
          <a:prstGeom prst="rect">
            <a:avLst/>
          </a:prstGeom>
          <a:noFill/>
          <a:ln cap="sq">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项目通过AI分析各项指标，告知患者疾病风险，对更广泛的患者给予精准的医养建议，患者回家以后能够更好地关注自己的健康，从而提高患者的依从性。
有利于提高民众健康素质，接受科学的健康指导和正确的健康消费，不仅是“治病”，更是“治未病”，帮助民众从透支健康、对抗疾病的方式转向呵护健康、预防疾病的新健康模式，让民众自己做自己健康的主人。</a:t>
            </a:r>
            <a:endParaRPr kumimoji="1" lang="zh-CN" altLang="en-US"/>
          </a:p>
        </p:txBody>
      </p:sp>
      <p:sp>
        <p:nvSpPr>
          <p:cNvPr id="16" name="标题 1"/>
          <p:cNvSpPr txBox="1"/>
          <p:nvPr/>
        </p:nvSpPr>
        <p:spPr>
          <a:xfrm rot="8100000">
            <a:off x="536920" y="4249338"/>
            <a:ext cx="1414597" cy="1414597"/>
          </a:xfrm>
          <a:prstGeom prst="diagStripe">
            <a:avLst>
              <a:gd name="adj" fmla="val 88423"/>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562482" y="4386807"/>
            <a:ext cx="9067418" cy="520109"/>
          </a:xfrm>
          <a:prstGeom prst="rect">
            <a:avLst/>
          </a:prstGeom>
          <a:noFill/>
          <a:ln cap="sq">
            <a:noFill/>
          </a:ln>
        </p:spPr>
        <p:txBody>
          <a:bodyPr vert="horz" wrap="square" lIns="0" tIns="0" rIns="0" bIns="0" rtlCol="0" anchor="ctr"/>
          <a:lstStyle/>
          <a:p>
            <a:pPr algn="l">
              <a:lnSpc>
                <a:spcPct val="130000"/>
              </a:lnSpc>
            </a:pPr>
            <a:r>
              <a:rPr kumimoji="1" lang="en-US" altLang="zh-CN" sz="1600">
                <a:ln w="12700">
                  <a:noFill/>
                </a:ln>
                <a:solidFill>
                  <a:srgbClr val="20B5C6">
                    <a:alpha val="100000"/>
                  </a:srgbClr>
                </a:solidFill>
                <a:latin typeface="Source Han Sans CN Bold" panose="020B0800000000000000" charset="-122"/>
                <a:ea typeface="Source Han Sans CN Bold" panose="020B0800000000000000" charset="-122"/>
                <a:cs typeface="Source Han Sans CN Bold" panose="020B0800000000000000" charset="-122"/>
              </a:rPr>
              <a:t>提高民众健康素质</a:t>
            </a: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社会效益</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2376126" y="2177633"/>
            <a:ext cx="1767840" cy="1524000"/>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nvSpPr>
        <p:spPr>
          <a:xfrm>
            <a:off x="3771400" y="2414760"/>
            <a:ext cx="294658" cy="254016"/>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5" name="标题 1"/>
          <p:cNvSpPr txBox="1"/>
          <p:nvPr/>
        </p:nvSpPr>
        <p:spPr>
          <a:xfrm>
            <a:off x="2042745" y="1906203"/>
            <a:ext cx="543206" cy="468280"/>
          </a:xfrm>
          <a:prstGeom prst="hexagon">
            <a:avLst/>
          </a:prstGeom>
          <a:solidFill>
            <a:schemeClr val="bg1">
              <a:lumMod val="95000"/>
              <a:alpha val="70000"/>
            </a:schemeClr>
          </a:solidFill>
          <a:ln cap="sq">
            <a:noFill/>
            <a:prstDash val="solid"/>
            <a:miter/>
          </a:ln>
          <a:effectLst/>
        </p:spPr>
        <p:txBody>
          <a:bodyPr vert="horz" wrap="square" lIns="0" tIns="0" rIns="0" bIns="0" rtlCol="0" anchor="ctr"/>
          <a:lstStyle/>
          <a:p>
            <a:pPr algn="ctr">
              <a:lnSpc>
                <a:spcPct val="110000"/>
              </a:lnSpc>
            </a:pPr>
            <a:endParaRPr kumimoji="1" lang="zh-CN" altLang="en-US"/>
          </a:p>
        </p:txBody>
      </p:sp>
      <p:sp>
        <p:nvSpPr>
          <p:cNvPr id="6" name="标题 1"/>
          <p:cNvSpPr txBox="1"/>
          <p:nvPr/>
        </p:nvSpPr>
        <p:spPr>
          <a:xfrm>
            <a:off x="2376126" y="4061511"/>
            <a:ext cx="1767840" cy="1524000"/>
          </a:xfrm>
          <a:prstGeom prst="hexagon">
            <a:avLst/>
          </a:prstGeom>
          <a:solidFill>
            <a:schemeClr val="bg1"/>
          </a:solidFill>
          <a:ln cap="sq">
            <a:noFill/>
            <a:prstDash val="solid"/>
            <a:miter/>
          </a:ln>
          <a:effectLst>
            <a:outerShdw blurRad="762000" dist="254000" dir="5400000" algn="ctr" rotWithShape="0">
              <a:srgbClr val="000000">
                <a:alpha val="10000"/>
              </a:srgbClr>
            </a:outerShdw>
          </a:effectLst>
        </p:spPr>
        <p:txBody>
          <a:bodyPr vert="horz" wrap="square" lIns="0" tIns="0" rIns="0" bIns="0" rtlCol="0" anchor="ctr"/>
          <a:lstStyle/>
          <a:p>
            <a:pPr algn="ctr">
              <a:lnSpc>
                <a:spcPct val="110000"/>
              </a:lnSpc>
            </a:pPr>
            <a:endParaRPr kumimoji="1" lang="zh-CN" altLang="en-US"/>
          </a:p>
        </p:txBody>
      </p:sp>
      <p:sp>
        <p:nvSpPr>
          <p:cNvPr id="7" name="标题 1"/>
          <p:cNvSpPr txBox="1"/>
          <p:nvPr/>
        </p:nvSpPr>
        <p:spPr>
          <a:xfrm>
            <a:off x="2438622" y="4298638"/>
            <a:ext cx="294658" cy="254016"/>
          </a:xfrm>
          <a:prstGeom prst="hexagon">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ctr"/>
          <a:lstStyle/>
          <a:p>
            <a:pPr algn="ctr">
              <a:lnSpc>
                <a:spcPct val="110000"/>
              </a:lnSpc>
            </a:pPr>
            <a:endParaRPr kumimoji="1" lang="zh-CN" altLang="en-US"/>
          </a:p>
        </p:txBody>
      </p:sp>
      <p:sp>
        <p:nvSpPr>
          <p:cNvPr id="8" name="标题 1"/>
          <p:cNvSpPr txBox="1"/>
          <p:nvPr/>
        </p:nvSpPr>
        <p:spPr>
          <a:xfrm>
            <a:off x="3929480" y="3790081"/>
            <a:ext cx="543206" cy="468280"/>
          </a:xfrm>
          <a:prstGeom prst="hexagon">
            <a:avLst/>
          </a:prstGeom>
          <a:solidFill>
            <a:schemeClr val="bg1">
              <a:lumMod val="95000"/>
              <a:alpha val="70000"/>
            </a:schemeClr>
          </a:solidFill>
          <a:ln cap="sq">
            <a:noFill/>
            <a:prstDash val="solid"/>
            <a:miter/>
          </a:ln>
          <a:effectLst/>
        </p:spPr>
        <p:txBody>
          <a:bodyPr vert="horz" wrap="square" lIns="0" tIns="0" rIns="0" bIns="0" rtlCol="0" anchor="ctr"/>
          <a:lstStyle/>
          <a:p>
            <a:pPr algn="ctr">
              <a:lnSpc>
                <a:spcPct val="110000"/>
              </a:lnSpc>
            </a:pPr>
            <a:endParaRPr kumimoji="1" lang="zh-CN" altLang="en-US"/>
          </a:p>
        </p:txBody>
      </p:sp>
      <p:cxnSp>
        <p:nvCxnSpPr>
          <p:cNvPr id="9" name="标题 1"/>
          <p:cNvCxnSpPr/>
          <p:nvPr/>
        </p:nvCxnSpPr>
        <p:spPr>
          <a:xfrm>
            <a:off x="5031647" y="3810000"/>
            <a:ext cx="5807803" cy="0"/>
          </a:xfrm>
          <a:prstGeom prst="line">
            <a:avLst/>
          </a:prstGeom>
          <a:noFill/>
          <a:ln w="6350" cap="sq">
            <a:solidFill>
              <a:schemeClr val="tx1"/>
            </a:solidFill>
            <a:miter/>
          </a:ln>
        </p:spPr>
      </p:cxnSp>
      <p:sp>
        <p:nvSpPr>
          <p:cNvPr id="10" name="标题 1"/>
          <p:cNvSpPr txBox="1"/>
          <p:nvPr/>
        </p:nvSpPr>
        <p:spPr>
          <a:xfrm>
            <a:off x="3102883" y="6426200"/>
            <a:ext cx="314325" cy="342900"/>
          </a:xfrm>
          <a:prstGeom prst="downArrow">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1" name="标题 1"/>
          <p:cNvSpPr txBox="1"/>
          <p:nvPr/>
        </p:nvSpPr>
        <p:spPr>
          <a:xfrm>
            <a:off x="5022121" y="2606841"/>
            <a:ext cx="5823679" cy="1059181"/>
          </a:xfrm>
          <a:prstGeom prst="rect">
            <a:avLst/>
          </a:prstGeom>
          <a:noFill/>
          <a:ln>
            <a:noFill/>
          </a:ln>
        </p:spPr>
        <p:txBody>
          <a:bodyPr vert="horz" wrap="square" lIns="0" tIns="0" rIns="0" bIns="0" rtlCol="0" anchor="t"/>
          <a:lstStyle/>
          <a:p>
            <a:pPr algn="l">
              <a:lnSpc>
                <a:spcPct val="150000"/>
              </a:lnSpc>
            </a:pPr>
            <a:r>
              <a:rPr kumimoji="1" lang="en-US" altLang="zh-CN" sz="1105">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全球糖尿病市场规模庞大，预计2025年突破1000亿美元，项目针对基层医疗的轻量化部署和精准管理方案，可覆盖约60%的糖尿病患者群体，潜在市场规模超600亿元。
项目具有广阔的应用前景和市场空间，随着技术的不断成熟和推广，有望在糖尿病管理领域占据重要市场份额，为企业带来可观的经济效益。</a:t>
            </a:r>
            <a:endParaRPr kumimoji="1" lang="zh-CN" altLang="en-US"/>
          </a:p>
        </p:txBody>
      </p:sp>
      <p:sp>
        <p:nvSpPr>
          <p:cNvPr id="12" name="标题 1"/>
          <p:cNvSpPr txBox="1"/>
          <p:nvPr/>
        </p:nvSpPr>
        <p:spPr>
          <a:xfrm>
            <a:off x="5022121" y="4643119"/>
            <a:ext cx="5823679" cy="1059181"/>
          </a:xfrm>
          <a:prstGeom prst="rect">
            <a:avLst/>
          </a:prstGeom>
          <a:noFill/>
          <a:ln>
            <a:noFill/>
          </a:ln>
        </p:spPr>
        <p:txBody>
          <a:bodyPr vert="horz" wrap="square" lIns="0" tIns="0" rIns="0" bIns="0" rtlCol="0" anchor="t"/>
          <a:lstStyle/>
          <a:p>
            <a:pPr algn="l">
              <a:lnSpc>
                <a:spcPct val="150000"/>
              </a:lnSpc>
            </a:pPr>
            <a:r>
              <a:rPr kumimoji="1" lang="en-US" altLang="zh-CN" sz="92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项目可通过B端合作、G端采购、C端增值服务以及数据变现等多种商业模式实现盈利，具有较强的市场竞争力和可持续发展能力。
通过与基层医院、县域医共体合作，提供系统部署与技术服务，按设备或用户数量收费；参与政府公共卫生项目，通过财政补贴实现收入；为患者提供个性化健康管理订阅服务，收取年费；同时，脱敏后的患者数据还可用于药企研发、保险产品设计，实现数据服务收入的多元化。</a:t>
            </a:r>
            <a:endParaRPr kumimoji="1" lang="zh-CN" altLang="en-US"/>
          </a:p>
        </p:txBody>
      </p:sp>
      <p:sp>
        <p:nvSpPr>
          <p:cNvPr id="13" name="标题 1"/>
          <p:cNvSpPr txBox="1"/>
          <p:nvPr/>
        </p:nvSpPr>
        <p:spPr>
          <a:xfrm>
            <a:off x="5022121" y="2073441"/>
            <a:ext cx="5823679" cy="462281"/>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市场潜力巨大</a:t>
            </a:r>
            <a:endParaRPr kumimoji="1" lang="zh-CN" altLang="en-US"/>
          </a:p>
        </p:txBody>
      </p:sp>
      <p:sp>
        <p:nvSpPr>
          <p:cNvPr id="14" name="标题 1"/>
          <p:cNvSpPr txBox="1"/>
          <p:nvPr/>
        </p:nvSpPr>
        <p:spPr>
          <a:xfrm>
            <a:off x="5022121" y="4029241"/>
            <a:ext cx="5823679" cy="462281"/>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商业模式多元</a:t>
            </a:r>
            <a:endParaRPr kumimoji="1" lang="zh-CN" altLang="en-US"/>
          </a:p>
        </p:txBody>
      </p:sp>
      <p:sp>
        <p:nvSpPr>
          <p:cNvPr id="15" name="标题 1"/>
          <p:cNvSpPr txBox="1"/>
          <p:nvPr/>
        </p:nvSpPr>
        <p:spPr>
          <a:xfrm>
            <a:off x="2621821" y="2352841"/>
            <a:ext cx="1302479" cy="1173481"/>
          </a:xfrm>
          <a:prstGeom prst="rect">
            <a:avLst/>
          </a:prstGeom>
          <a:noFill/>
          <a:ln>
            <a:noFill/>
          </a:ln>
        </p:spPr>
        <p:txBody>
          <a:bodyPr vert="horz" wrap="square" lIns="0" tIns="0" rIns="0" bIns="0" rtlCol="0" anchor="ctr"/>
          <a:lstStyle/>
          <a:p>
            <a:pPr algn="ctr">
              <a:lnSpc>
                <a:spcPct val="150000"/>
              </a:lnSpc>
            </a:pPr>
            <a:r>
              <a:rPr kumimoji="1" lang="en-US" altLang="zh-CN" sz="32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01</a:t>
            </a:r>
            <a:endParaRPr kumimoji="1" lang="zh-CN" altLang="en-US"/>
          </a:p>
        </p:txBody>
      </p:sp>
      <p:sp>
        <p:nvSpPr>
          <p:cNvPr id="16" name="标题 1"/>
          <p:cNvSpPr txBox="1"/>
          <p:nvPr/>
        </p:nvSpPr>
        <p:spPr>
          <a:xfrm>
            <a:off x="2621821" y="4245141"/>
            <a:ext cx="1302479" cy="1173481"/>
          </a:xfrm>
          <a:prstGeom prst="rect">
            <a:avLst/>
          </a:prstGeom>
          <a:noFill/>
          <a:ln>
            <a:noFill/>
          </a:ln>
        </p:spPr>
        <p:txBody>
          <a:bodyPr vert="horz" wrap="square" lIns="0" tIns="0" rIns="0" bIns="0" rtlCol="0" anchor="ctr"/>
          <a:lstStyle/>
          <a:p>
            <a:pPr algn="ctr">
              <a:lnSpc>
                <a:spcPct val="150000"/>
              </a:lnSpc>
            </a:pPr>
            <a:r>
              <a:rPr kumimoji="1" lang="en-US" altLang="zh-CN" sz="3200">
                <a:ln w="12700">
                  <a:noFill/>
                </a:ln>
                <a:solidFill>
                  <a:srgbClr val="404040">
                    <a:alpha val="100000"/>
                  </a:srgbClr>
                </a:solidFill>
                <a:latin typeface="OPPOSans B" panose="00020600040101010101" charset="-122"/>
                <a:ea typeface="OPPOSans B" panose="00020600040101010101" charset="-122"/>
                <a:cs typeface="OPPOSans B" panose="00020600040101010101" charset="-122"/>
              </a:rPr>
              <a:t>02</a:t>
            </a:r>
            <a:endParaRPr kumimoji="1" lang="zh-CN" altLang="en-US"/>
          </a:p>
        </p:txBody>
      </p:sp>
      <p:sp>
        <p:nvSpPr>
          <p:cNvPr id="17" name="标题 1"/>
          <p:cNvSpPr txBox="1"/>
          <p:nvPr/>
        </p:nvSpPr>
        <p:spPr>
          <a:xfrm>
            <a:off x="3102883" y="5842000"/>
            <a:ext cx="314325" cy="342900"/>
          </a:xfrm>
          <a:prstGeom prst="downArrow">
            <a:avLst/>
          </a:prstGeom>
          <a:solidFill>
            <a:schemeClr val="accent1"/>
          </a:solidFill>
          <a:ln cap="sq">
            <a:noFill/>
            <a:prstDash val="solid"/>
            <a:miter/>
          </a:ln>
          <a:effectLst>
            <a:outerShdw blurRad="38100" dist="12700" dir="5400000" algn="ctr" rotWithShape="0">
              <a:srgbClr val="000000">
                <a:alpha val="15000"/>
              </a:srgbClr>
            </a:outerShdw>
          </a:effectLst>
        </p:spPr>
        <p:txBody>
          <a:bodyPr vert="horz" wrap="square" lIns="0" tIns="0" rIns="0" bIns="0" rtlCol="0" anchor="t"/>
          <a:lstStyle/>
          <a:p>
            <a:pPr algn="ctr">
              <a:lnSpc>
                <a:spcPct val="110000"/>
              </a:lnSpc>
            </a:pP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经济效益</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未来展望</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06</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898355" y="3064040"/>
            <a:ext cx="2085474" cy="2085474"/>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462461" y="2021303"/>
            <a:ext cx="1042737" cy="10427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3232483" y="3064040"/>
            <a:ext cx="1515979" cy="1515979"/>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5303014" y="1548063"/>
            <a:ext cx="2782207" cy="449644"/>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5303014" y="2033802"/>
            <a:ext cx="5830206" cy="728853"/>
          </a:xfrm>
          <a:prstGeom prst="rect">
            <a:avLst/>
          </a:prstGeom>
          <a:noFill/>
          <a:ln cap="sq">
            <a:noFill/>
          </a:ln>
        </p:spPr>
        <p:txBody>
          <a:bodyPr vert="horz" wrap="square" lIns="0" tIns="0" rIns="0" bIns="0" rtlCol="0" anchor="t"/>
          <a:lstStyle/>
          <a:p>
            <a:pPr algn="l">
              <a:lnSpc>
                <a:spcPct val="150000"/>
              </a:lnSpc>
            </a:pPr>
            <a:r>
              <a:rPr kumimoji="1" lang="en-US" altLang="zh-CN" sz="101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进一步拓展非结构化数据接入，如电子病历文本、医学影像等，构建“生理- 影像- 文本”全维度健康画像，适应精准医疗多模态融合趋势，为糖尿病的诊断和治疗提供更全面、更精准的数据支持。
深入挖掘多模态数据之间的关联关系，探索新的特征提取和融合方法，提升模型的诊断性能和预测能力，推动糖尿病诊疗技术的不断创新和发展。</a:t>
            </a:r>
            <a:endParaRPr kumimoji="1" lang="zh-CN" altLang="en-US"/>
          </a:p>
        </p:txBody>
      </p:sp>
      <p:sp>
        <p:nvSpPr>
          <p:cNvPr id="8" name="标题 1"/>
          <p:cNvSpPr txBox="1"/>
          <p:nvPr/>
        </p:nvSpPr>
        <p:spPr>
          <a:xfrm>
            <a:off x="5434812" y="1580147"/>
            <a:ext cx="2518610" cy="377500"/>
          </a:xfrm>
          <a:prstGeom prst="rect">
            <a:avLst/>
          </a:prstGeom>
          <a:noFill/>
          <a:ln cap="sq">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多模态数据融合深化</a:t>
            </a:r>
            <a:endParaRPr kumimoji="1" lang="zh-CN" altLang="en-US"/>
          </a:p>
        </p:txBody>
      </p:sp>
      <p:sp>
        <p:nvSpPr>
          <p:cNvPr id="9" name="标题 1"/>
          <p:cNvSpPr txBox="1"/>
          <p:nvPr/>
        </p:nvSpPr>
        <p:spPr>
          <a:xfrm>
            <a:off x="5303014" y="3142412"/>
            <a:ext cx="2782207" cy="449644"/>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5303015" y="3632139"/>
            <a:ext cx="5830206" cy="728853"/>
          </a:xfrm>
          <a:prstGeom prst="rect">
            <a:avLst/>
          </a:prstGeom>
          <a:noFill/>
          <a:ln cap="sq">
            <a:noFill/>
          </a:ln>
        </p:spPr>
        <p:txBody>
          <a:bodyPr vert="horz" wrap="square" lIns="0" tIns="0" rIns="0" bIns="0" rtlCol="0" anchor="t"/>
          <a:lstStyle/>
          <a:p>
            <a:pPr algn="l">
              <a:lnSpc>
                <a:spcPct val="150000"/>
              </a:lnSpc>
            </a:pPr>
            <a:r>
              <a:rPr kumimoji="1" lang="en-US" altLang="zh-CN" sz="101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持续优化智能诊断模型，引入更先进的深度学习算法和架构，如Transformer- XL、BERT等，进一步提高模型的准确率和泛化能力，使其能够更好地应对复杂多变的临床数据。
加强模型的可解释性研究，探索新的可解释性技术，如注意力机制可视化、因果推断等，使医生能够更深入地理解模型的决策过程，增强对AI诊断结果的信任度和接受度。</a:t>
            </a:r>
            <a:endParaRPr kumimoji="1" lang="zh-CN" altLang="en-US"/>
          </a:p>
        </p:txBody>
      </p:sp>
      <p:sp>
        <p:nvSpPr>
          <p:cNvPr id="11" name="标题 1"/>
          <p:cNvSpPr txBox="1"/>
          <p:nvPr/>
        </p:nvSpPr>
        <p:spPr>
          <a:xfrm>
            <a:off x="5434812" y="3178484"/>
            <a:ext cx="2518610" cy="377500"/>
          </a:xfrm>
          <a:prstGeom prst="rect">
            <a:avLst/>
          </a:prstGeom>
          <a:noFill/>
          <a:ln cap="sq">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智能诊断技术升级</a:t>
            </a:r>
            <a:endParaRPr kumimoji="1" lang="zh-CN" altLang="en-US"/>
          </a:p>
        </p:txBody>
      </p:sp>
      <p:sp>
        <p:nvSpPr>
          <p:cNvPr id="12" name="标题 1"/>
          <p:cNvSpPr txBox="1"/>
          <p:nvPr/>
        </p:nvSpPr>
        <p:spPr>
          <a:xfrm>
            <a:off x="5303014" y="4740750"/>
            <a:ext cx="2782207" cy="449644"/>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5303014" y="5230477"/>
            <a:ext cx="5830206" cy="728853"/>
          </a:xfrm>
          <a:prstGeom prst="rect">
            <a:avLst/>
          </a:prstGeom>
          <a:noFill/>
          <a:ln cap="sq">
            <a:noFill/>
          </a:ln>
        </p:spPr>
        <p:txBody>
          <a:bodyPr vert="horz" wrap="square" lIns="0" tIns="0" rIns="0" bIns="0" rtlCol="0" anchor="t"/>
          <a:lstStyle/>
          <a:p>
            <a:pPr algn="l">
              <a:lnSpc>
                <a:spcPct val="150000"/>
              </a:lnSpc>
            </a:pPr>
            <a:r>
              <a:rPr kumimoji="1" lang="en-US" altLang="zh-CN" sz="101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结合物联网设备实时数据接入，如血糖仪、动态血压监测仪、智能手环等，实现对患者健康数据的实时监测和动态分析，及时发现潜在风险并进行预警干预，提高健康管理的及时性和有效性。
拓展健康管理功能，增加心理健康评估、康复指导、营养咨询等模块，为患者提供全方位、个性化的健康管理服务，满足患者多样化的需求。</a:t>
            </a:r>
            <a:endParaRPr kumimoji="1" lang="zh-CN" altLang="en-US"/>
          </a:p>
        </p:txBody>
      </p:sp>
      <p:sp>
        <p:nvSpPr>
          <p:cNvPr id="14" name="标题 1"/>
          <p:cNvSpPr txBox="1"/>
          <p:nvPr/>
        </p:nvSpPr>
        <p:spPr>
          <a:xfrm>
            <a:off x="5434812" y="4776822"/>
            <a:ext cx="2518610" cy="377500"/>
          </a:xfrm>
          <a:prstGeom prst="rect">
            <a:avLst/>
          </a:prstGeom>
          <a:noFill/>
          <a:ln cap="sq">
            <a:noFill/>
          </a:ln>
        </p:spPr>
        <p:txBody>
          <a:bodyPr vert="horz" wrap="square" lIns="0" tIns="0" rIns="0" bIns="0" rtlCol="0" anchor="ctr"/>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健康管理功能拓展</a:t>
            </a:r>
            <a:endParaRPr kumimoji="1" lang="zh-CN" altLang="en-US"/>
          </a:p>
        </p:txBody>
      </p:sp>
      <p:sp>
        <p:nvSpPr>
          <p:cNvPr id="15" name="标题 1"/>
          <p:cNvSpPr txBox="1"/>
          <p:nvPr/>
        </p:nvSpPr>
        <p:spPr>
          <a:xfrm>
            <a:off x="3695895" y="3554961"/>
            <a:ext cx="589155" cy="534137"/>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nvSpPr>
        <p:spPr>
          <a:xfrm>
            <a:off x="1496565" y="3676591"/>
            <a:ext cx="889055" cy="860372"/>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2787308" y="2360875"/>
            <a:ext cx="393043" cy="363592"/>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技术拓展</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5400000">
            <a:off x="6623532" y="653295"/>
            <a:ext cx="1804736" cy="6020468"/>
          </a:xfrm>
          <a:prstGeom prst="round2SameRect">
            <a:avLst>
              <a:gd name="adj1" fmla="val 50000"/>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16200000" flipH="1">
            <a:off x="3685486" y="-977566"/>
            <a:ext cx="1804736" cy="6020468"/>
          </a:xfrm>
          <a:prstGeom prst="round2SameRect">
            <a:avLst>
              <a:gd name="adj1" fmla="val 50000"/>
              <a:gd name="adj2" fmla="val 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213350" y="1693033"/>
            <a:ext cx="5183524" cy="1115869"/>
          </a:xfrm>
          <a:prstGeom prst="rect">
            <a:avLst/>
          </a:prstGeom>
          <a:noFill/>
          <a:ln>
            <a:noFill/>
          </a:ln>
        </p:spPr>
        <p:txBody>
          <a:bodyPr vert="horz" wrap="square" lIns="0" tIns="0" rIns="0" bIns="0" rtlCol="0" anchor="t"/>
          <a:lstStyle/>
          <a:p>
            <a:pPr algn="l">
              <a:lnSpc>
                <a:spcPct val="150000"/>
              </a:lnSpc>
            </a:pPr>
            <a:r>
              <a:rPr kumimoji="1" lang="en-US" altLang="zh-CN" sz="11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将项目成果复制推广至其他慢性病领域，如心血管疾病、高血压、高血脂等，构建慢性病管理的通用技术框架和解决方案，为更多慢性病患者提供精准诊断和健康管理服务。
针对不同慢性病的特点和需求，进一步优化和定制化健康管理方案，提高慢性病管理的针对性和有效性，推动慢性病管理领域的数字化转型和智能化升级。</a:t>
            </a:r>
            <a:endParaRPr kumimoji="1" lang="zh-CN" altLang="en-US"/>
          </a:p>
        </p:txBody>
      </p:sp>
      <p:sp>
        <p:nvSpPr>
          <p:cNvPr id="6" name="标题 1"/>
          <p:cNvSpPr txBox="1"/>
          <p:nvPr/>
        </p:nvSpPr>
        <p:spPr>
          <a:xfrm>
            <a:off x="1350399" y="1739900"/>
            <a:ext cx="585537" cy="5855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10243365" y="3370761"/>
            <a:ext cx="585537" cy="585537"/>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495276" y="1895858"/>
            <a:ext cx="295783" cy="273620"/>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10388242" y="3520410"/>
            <a:ext cx="295783" cy="286240"/>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2213350" y="1253096"/>
            <a:ext cx="5183524" cy="439937"/>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慢性病管理领域拓展</a:t>
            </a:r>
            <a:endParaRPr kumimoji="1" lang="zh-CN" altLang="en-US"/>
          </a:p>
        </p:txBody>
      </p:sp>
      <p:sp>
        <p:nvSpPr>
          <p:cNvPr id="11" name="标题 1"/>
          <p:cNvSpPr txBox="1"/>
          <p:nvPr/>
        </p:nvSpPr>
        <p:spPr>
          <a:xfrm>
            <a:off x="4678780" y="3309800"/>
            <a:ext cx="5183524" cy="1115869"/>
          </a:xfrm>
          <a:prstGeom prst="rect">
            <a:avLst/>
          </a:prstGeom>
          <a:noFill/>
          <a:ln>
            <a:noFill/>
          </a:ln>
        </p:spPr>
        <p:txBody>
          <a:bodyPr vert="horz" wrap="square" lIns="0" tIns="0" rIns="0" bIns="0" rtlCol="0" anchor="t"/>
          <a:lstStyle/>
          <a:p>
            <a:pPr algn="r">
              <a:lnSpc>
                <a:spcPct val="150000"/>
              </a:lnSpc>
            </a:pPr>
            <a:r>
              <a:rPr kumimoji="1" lang="en-US" altLang="zh-CN" sz="94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加强与各级医疗机构的合作，特别是基层医疗机构和社区卫生服务中心，通过技术培训、设备捐赠、远程会诊等方式，提升基层医疗服务能力，促进医疗资源的均衡分布和合理利用。
与大型医院建立合作关系，开展临床试验和科研合作，共同探索AI技术在医疗领域的应用和创新，推动医疗AI技术的不断发展和进步，提高我国医疗行业的整体水平。</a:t>
            </a:r>
            <a:endParaRPr kumimoji="1" lang="zh-CN" altLang="en-US"/>
          </a:p>
        </p:txBody>
      </p:sp>
      <p:sp>
        <p:nvSpPr>
          <p:cNvPr id="12" name="标题 1"/>
          <p:cNvSpPr txBox="1"/>
          <p:nvPr/>
        </p:nvSpPr>
        <p:spPr>
          <a:xfrm>
            <a:off x="4678780" y="2869862"/>
            <a:ext cx="5183524" cy="439937"/>
          </a:xfrm>
          <a:prstGeom prst="rect">
            <a:avLst/>
          </a:prstGeom>
          <a:noFill/>
          <a:ln>
            <a:noFill/>
          </a:ln>
        </p:spPr>
        <p:txBody>
          <a:bodyPr vert="horz" wrap="square" lIns="0" tIns="0" rIns="0" bIns="0" rtlCol="0" anchor="b"/>
          <a:lstStyle/>
          <a:p>
            <a:pPr algn="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医疗机构合作拓展</a:t>
            </a:r>
            <a:endParaRPr kumimoji="1" lang="zh-CN" altLang="en-US"/>
          </a:p>
        </p:txBody>
      </p:sp>
      <p:sp>
        <p:nvSpPr>
          <p:cNvPr id="13" name="标题 1"/>
          <p:cNvSpPr txBox="1"/>
          <p:nvPr/>
        </p:nvSpPr>
        <p:spPr>
          <a:xfrm rot="16200000" flipH="1">
            <a:off x="3685486" y="2316447"/>
            <a:ext cx="1804736" cy="6020468"/>
          </a:xfrm>
          <a:prstGeom prst="round2SameRect">
            <a:avLst>
              <a:gd name="adj1" fmla="val 50000"/>
              <a:gd name="adj2" fmla="val 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2213350" y="4987046"/>
            <a:ext cx="5183524" cy="1115869"/>
          </a:xfrm>
          <a:prstGeom prst="rect">
            <a:avLst/>
          </a:prstGeom>
          <a:noFill/>
          <a:ln>
            <a:noFill/>
          </a:ln>
        </p:spPr>
        <p:txBody>
          <a:bodyPr vert="horz" wrap="square" lIns="0" tIns="0" rIns="0" bIns="0" rtlCol="0" anchor="t"/>
          <a:lstStyle/>
          <a:p>
            <a:pPr algn="l">
              <a:lnSpc>
                <a:spcPct val="150000"/>
              </a:lnSpc>
            </a:pPr>
            <a:r>
              <a:rPr kumimoji="1" lang="en-US" altLang="zh-CN" sz="112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积极开展国际合作与交流，与国际知名医疗机构、科研机构和企业建立合作关系，引进国外先进的技术和经验，提升项目的国际影响力和竞争力。
参与国际医疗AI标准的制定和推广，推动我国医疗AI技术走向世界，为全球医疗健康事业的发展贡献中国智慧和中国方案。</a:t>
            </a:r>
            <a:endParaRPr kumimoji="1" lang="zh-CN" altLang="en-US"/>
          </a:p>
        </p:txBody>
      </p:sp>
      <p:sp>
        <p:nvSpPr>
          <p:cNvPr id="15" name="标题 1"/>
          <p:cNvSpPr txBox="1"/>
          <p:nvPr/>
        </p:nvSpPr>
        <p:spPr>
          <a:xfrm>
            <a:off x="1350399" y="5033913"/>
            <a:ext cx="585537" cy="5855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495276" y="5204354"/>
            <a:ext cx="295783" cy="244654"/>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2213350" y="4547109"/>
            <a:ext cx="5183524" cy="439937"/>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国际合作与交流</a:t>
            </a: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应用拓展</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03826" y="3381406"/>
            <a:ext cx="3154044" cy="1639759"/>
          </a:xfrm>
          <a:prstGeom prst="rect">
            <a:avLst/>
          </a:prstGeom>
          <a:noFill/>
          <a:ln>
            <a:noFill/>
          </a:ln>
        </p:spPr>
        <p:txBody>
          <a:bodyPr vert="horz" wrap="square" lIns="0" tIns="0" rIns="0" bIns="0" rtlCol="0" anchor="t"/>
          <a:lstStyle/>
          <a:p>
            <a:pPr algn="l">
              <a:lnSpc>
                <a:spcPct val="150000"/>
              </a:lnSpc>
            </a:pPr>
            <a:r>
              <a:rPr kumimoji="1" lang="en-US" altLang="zh-CN" sz="119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项目成果的推广应用将带动医疗AI相关产业的发展，如数据标注、模型训练、系统集成、硬件设备制造等，形成完整的产业链条，促进医疗AI产业的繁荣。
通过技术创新和商业模式创新，推动医疗AI产业的可持续发展，为经济增长提供新的动力和引擎，助力我国数字经济的发展。</a:t>
            </a:r>
            <a:endParaRPr kumimoji="1" lang="zh-CN" altLang="en-US"/>
          </a:p>
        </p:txBody>
      </p:sp>
      <p:sp>
        <p:nvSpPr>
          <p:cNvPr id="4" name="标题 1"/>
          <p:cNvSpPr txBox="1"/>
          <p:nvPr/>
        </p:nvSpPr>
        <p:spPr>
          <a:xfrm rot="5400000" flipV="1">
            <a:off x="-137466" y="4267305"/>
            <a:ext cx="2103498" cy="45719"/>
          </a:xfrm>
          <a:prstGeom prst="rect">
            <a:avLst/>
          </a:prstGeom>
          <a:gradFill>
            <a:gsLst>
              <a:gs pos="0">
                <a:schemeClr val="accent1"/>
              </a:gs>
              <a:gs pos="100000">
                <a:schemeClr val="accent1">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12681" y="3087281"/>
            <a:ext cx="203200" cy="203200"/>
          </a:xfrm>
          <a:prstGeom prst="ellipse">
            <a:avLst/>
          </a:prstGeom>
          <a:solidFill>
            <a:schemeClr val="accent1"/>
          </a:solidFill>
          <a:ln w="19050" cap="sq">
            <a:solidFill>
              <a:schemeClr val="accent1">
                <a:lumMod val="0"/>
                <a:lumOff val="100000"/>
              </a:schemeClr>
            </a:solidFill>
            <a:miter/>
          </a:ln>
          <a:effectLst>
            <a:outerShdw blurRad="165100" dist="76200" dir="5400000" rotWithShape="0">
              <a:schemeClr val="accent1">
                <a:lumMod val="10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4664534" y="2511820"/>
            <a:ext cx="3154044" cy="1639759"/>
          </a:xfrm>
          <a:prstGeom prst="rect">
            <a:avLst/>
          </a:prstGeom>
          <a:noFill/>
          <a:ln>
            <a:noFill/>
          </a:ln>
        </p:spPr>
        <p:txBody>
          <a:bodyPr vert="horz" wrap="square" lIns="0" tIns="0" rIns="0" bIns="0" rtlCol="0" anchor="t"/>
          <a:lstStyle/>
          <a:p>
            <a:pPr algn="l">
              <a:lnSpc>
                <a:spcPct val="150000"/>
              </a:lnSpc>
            </a:pPr>
            <a:r>
              <a:rPr kumimoji="1" lang="en-US" altLang="zh-CN" sz="104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项目为医疗行业的数字化转型提供了范例和借鉴，推动医疗行业从传统的经验医学向精准医学、智慧医学转变，提高医疗服务的质量和效率，提升医疗行业的整体竞争力。
促进医疗行业的信息化建设，推动电子病历、远程医疗、互联网医院等技术的发展和应用，为患者提供更加便捷、高效的医疗服务，改善患者的就医体验。</a:t>
            </a:r>
            <a:endParaRPr kumimoji="1" lang="zh-CN" altLang="en-US"/>
          </a:p>
        </p:txBody>
      </p:sp>
      <p:sp>
        <p:nvSpPr>
          <p:cNvPr id="7" name="标题 1"/>
          <p:cNvSpPr txBox="1"/>
          <p:nvPr/>
        </p:nvSpPr>
        <p:spPr>
          <a:xfrm rot="5400000" flipV="1">
            <a:off x="3417280" y="3397719"/>
            <a:ext cx="2103498" cy="45719"/>
          </a:xfrm>
          <a:prstGeom prst="rect">
            <a:avLst/>
          </a:prstGeom>
          <a:gradFill>
            <a:gsLst>
              <a:gs pos="0">
                <a:schemeClr val="accent1"/>
              </a:gs>
              <a:gs pos="100000">
                <a:schemeClr val="accent1">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4367427" y="2217695"/>
            <a:ext cx="203200" cy="203200"/>
          </a:xfrm>
          <a:prstGeom prst="ellipse">
            <a:avLst/>
          </a:prstGeom>
          <a:solidFill>
            <a:schemeClr val="accent1"/>
          </a:solidFill>
          <a:ln w="19050" cap="sq">
            <a:solidFill>
              <a:schemeClr val="accent1">
                <a:lumMod val="0"/>
                <a:lumOff val="100000"/>
              </a:schemeClr>
            </a:solidFill>
            <a:miter/>
          </a:ln>
          <a:effectLst>
            <a:outerShdw blurRad="165100" dist="76200" dir="5400000" rotWithShape="0">
              <a:schemeClr val="accent1">
                <a:lumMod val="10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8273583" y="1846564"/>
            <a:ext cx="3154044" cy="1639759"/>
          </a:xfrm>
          <a:prstGeom prst="rect">
            <a:avLst/>
          </a:prstGeom>
          <a:noFill/>
          <a:ln>
            <a:noFill/>
          </a:ln>
        </p:spPr>
        <p:txBody>
          <a:bodyPr vert="horz" wrap="square" lIns="0" tIns="0" rIns="0" bIns="0" rtlCol="0" anchor="t"/>
          <a:lstStyle/>
          <a:p>
            <a:pPr algn="l">
              <a:lnSpc>
                <a:spcPct val="150000"/>
              </a:lnSpc>
            </a:pPr>
            <a:r>
              <a:rPr kumimoji="1" lang="en-US" altLang="zh-CN" sz="104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项目实施过程中，培养了一批医疗AI领域的专业人才，包括数据科学家、算法工程师、医学专家等，为医疗AI产业的发展提供了人才支持。
通过与高校、科研机构的合作，建立人才培养基地和实训平台，为医疗AI领域输送更多高素质的专业人才，推动医疗AI技术的不断创新和发展。</a:t>
            </a:r>
            <a:endParaRPr kumimoji="1" lang="zh-CN" altLang="en-US"/>
          </a:p>
        </p:txBody>
      </p:sp>
      <p:sp>
        <p:nvSpPr>
          <p:cNvPr id="10" name="标题 1"/>
          <p:cNvSpPr txBox="1"/>
          <p:nvPr/>
        </p:nvSpPr>
        <p:spPr>
          <a:xfrm rot="5400000" flipV="1">
            <a:off x="7026329" y="2701983"/>
            <a:ext cx="2103498" cy="45719"/>
          </a:xfrm>
          <a:prstGeom prst="rect">
            <a:avLst/>
          </a:prstGeom>
          <a:gradFill>
            <a:gsLst>
              <a:gs pos="0">
                <a:schemeClr val="accent1"/>
              </a:gs>
              <a:gs pos="100000">
                <a:schemeClr val="accent1">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7976476" y="1552439"/>
            <a:ext cx="203200" cy="203200"/>
          </a:xfrm>
          <a:prstGeom prst="ellipse">
            <a:avLst/>
          </a:prstGeom>
          <a:solidFill>
            <a:schemeClr val="accent1"/>
          </a:solidFill>
          <a:ln w="19050" cap="sq">
            <a:solidFill>
              <a:schemeClr val="accent1">
                <a:lumMod val="0"/>
                <a:lumOff val="100000"/>
              </a:schemeClr>
            </a:solidFill>
            <a:miter/>
          </a:ln>
          <a:effectLst>
            <a:outerShdw blurRad="165100" dist="76200" dir="5400000" rotWithShape="0">
              <a:schemeClr val="accent1">
                <a:lumMod val="100000"/>
                <a:alpha val="4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7963120" y="3713029"/>
            <a:ext cx="3547549" cy="2426577"/>
          </a:xfrm>
          <a:custGeom>
            <a:avLst/>
            <a:gdLst>
              <a:gd name="connsiteX0" fmla="*/ 650556 w 3547549"/>
              <a:gd name="connsiteY0" fmla="*/ 2426578 h 2426577"/>
              <a:gd name="connsiteX1" fmla="*/ 0 w 3547549"/>
              <a:gd name="connsiteY1" fmla="*/ 1995657 h 2426577"/>
              <a:gd name="connsiteX2" fmla="*/ 2896672 w 3547549"/>
              <a:gd name="connsiteY2" fmla="*/ 0 h 2426577"/>
              <a:gd name="connsiteX3" fmla="*/ 3547549 w 3547549"/>
              <a:gd name="connsiteY3" fmla="*/ 431242 h 2426577"/>
            </a:gdLst>
            <a:ahLst/>
            <a:cxnLst/>
            <a:rect l="l" t="t" r="r" b="b"/>
            <a:pathLst>
              <a:path w="3547549" h="2426577">
                <a:moveTo>
                  <a:pt x="650556" y="2426578"/>
                </a:moveTo>
                <a:lnTo>
                  <a:pt x="0" y="1995657"/>
                </a:lnTo>
                <a:lnTo>
                  <a:pt x="2896672" y="0"/>
                </a:lnTo>
                <a:lnTo>
                  <a:pt x="3547549" y="431242"/>
                </a:lnTo>
                <a:close/>
              </a:path>
            </a:pathLst>
          </a:custGeom>
          <a:gradFill>
            <a:gsLst>
              <a:gs pos="18000">
                <a:schemeClr val="accent1">
                  <a:lumMod val="60000"/>
                  <a:lumOff val="40000"/>
                </a:schemeClr>
              </a:gs>
              <a:gs pos="79000">
                <a:schemeClr val="accent1"/>
              </a:gs>
            </a:gsLst>
            <a:lin ang="8100000" scaled="0"/>
          </a:gradFill>
          <a:ln w="32097" cap="flat">
            <a:noFill/>
            <a:miter/>
          </a:ln>
          <a:effectLst>
            <a:outerShdw blurRad="635000" dist="889000" dir="2700000" sx="90000" sy="90000" algn="tl" rotWithShape="0">
              <a:schemeClr val="accent1">
                <a:alpha val="30000"/>
              </a:schemeClr>
            </a:outerShdw>
          </a:effectLst>
        </p:spPr>
        <p:txBody>
          <a:bodyPr vert="horz" wrap="square" lIns="91440" tIns="45720" rIns="91440" bIns="45720" rtlCol="0" anchor="ctr"/>
          <a:lstStyle/>
          <a:p>
            <a:pPr algn="l">
              <a:lnSpc>
                <a:spcPct val="120000"/>
              </a:lnSpc>
            </a:pPr>
            <a:endParaRPr kumimoji="1" lang="zh-CN" altLang="en-US"/>
          </a:p>
        </p:txBody>
      </p:sp>
      <p:sp>
        <p:nvSpPr>
          <p:cNvPr id="13" name="标题 1"/>
          <p:cNvSpPr txBox="1"/>
          <p:nvPr/>
        </p:nvSpPr>
        <p:spPr>
          <a:xfrm>
            <a:off x="9660793" y="3719451"/>
            <a:ext cx="1953271" cy="1274458"/>
          </a:xfrm>
          <a:custGeom>
            <a:avLst/>
            <a:gdLst>
              <a:gd name="connsiteX0" fmla="*/ 1953272 w 1953271"/>
              <a:gd name="connsiteY0" fmla="*/ 1195789 h 1274458"/>
              <a:gd name="connsiteX1" fmla="*/ 1953272 w 1953271"/>
              <a:gd name="connsiteY1" fmla="*/ 1274459 h 1274458"/>
              <a:gd name="connsiteX2" fmla="*/ 4174 w 1953271"/>
              <a:gd name="connsiteY2" fmla="*/ 86698 h 1274458"/>
              <a:gd name="connsiteX3" fmla="*/ 0 w 1953271"/>
              <a:gd name="connsiteY3" fmla="*/ 0 h 1274458"/>
            </a:gdLst>
            <a:ahLst/>
            <a:cxnLst/>
            <a:rect l="l" t="t" r="r" b="b"/>
            <a:pathLst>
              <a:path w="1953271" h="1274458">
                <a:moveTo>
                  <a:pt x="1953272" y="1195789"/>
                </a:moveTo>
                <a:lnTo>
                  <a:pt x="1953272" y="1274459"/>
                </a:lnTo>
                <a:lnTo>
                  <a:pt x="4174" y="86698"/>
                </a:lnTo>
                <a:lnTo>
                  <a:pt x="0" y="0"/>
                </a:lnTo>
                <a:close/>
              </a:path>
            </a:pathLst>
          </a:custGeom>
          <a:gradFill>
            <a:gsLst>
              <a:gs pos="35000">
                <a:schemeClr val="accent1">
                  <a:lumMod val="60000"/>
                  <a:lumOff val="40000"/>
                </a:schemeClr>
              </a:gs>
              <a:gs pos="100000">
                <a:schemeClr val="accent1"/>
              </a:gs>
            </a:gsLst>
            <a:lin ang="10800000" scaled="0"/>
          </a:gradFill>
          <a:ln w="32097" cap="flat">
            <a:noFill/>
            <a:miter/>
          </a:ln>
        </p:spPr>
        <p:txBody>
          <a:bodyPr vert="horz" wrap="square" lIns="91440" tIns="45720" rIns="91440" bIns="45720" rtlCol="0" anchor="ctr"/>
          <a:lstStyle/>
          <a:p>
            <a:pPr algn="l">
              <a:lnSpc>
                <a:spcPct val="120000"/>
              </a:lnSpc>
            </a:pPr>
            <a:endParaRPr kumimoji="1" lang="zh-CN" altLang="en-US"/>
          </a:p>
        </p:txBody>
      </p:sp>
      <p:sp>
        <p:nvSpPr>
          <p:cNvPr id="14" name="标题 1"/>
          <p:cNvSpPr txBox="1"/>
          <p:nvPr/>
        </p:nvSpPr>
        <p:spPr>
          <a:xfrm>
            <a:off x="7380318" y="4090004"/>
            <a:ext cx="1186476" cy="2161988"/>
          </a:xfrm>
          <a:custGeom>
            <a:avLst/>
            <a:gdLst>
              <a:gd name="connsiteX0" fmla="*/ 1186477 w 1186476"/>
              <a:gd name="connsiteY0" fmla="*/ 2161988 h 2161988"/>
              <a:gd name="connsiteX1" fmla="*/ 535600 w 1186476"/>
              <a:gd name="connsiteY1" fmla="*/ 1731068 h 2161988"/>
              <a:gd name="connsiteX2" fmla="*/ 0 w 1186476"/>
              <a:gd name="connsiteY2" fmla="*/ 0 h 2161988"/>
              <a:gd name="connsiteX3" fmla="*/ 650876 w 1186476"/>
              <a:gd name="connsiteY3" fmla="*/ 430921 h 2161988"/>
            </a:gdLst>
            <a:ahLst/>
            <a:cxnLst/>
            <a:rect l="l" t="t" r="r" b="b"/>
            <a:pathLst>
              <a:path w="1186476" h="2161988">
                <a:moveTo>
                  <a:pt x="1186477" y="2161988"/>
                </a:moveTo>
                <a:lnTo>
                  <a:pt x="535600" y="1731068"/>
                </a:lnTo>
                <a:lnTo>
                  <a:pt x="0" y="0"/>
                </a:lnTo>
                <a:lnTo>
                  <a:pt x="650876" y="430921"/>
                </a:lnTo>
                <a:close/>
              </a:path>
            </a:pathLst>
          </a:custGeom>
          <a:gradFill>
            <a:gsLst>
              <a:gs pos="35000">
                <a:schemeClr val="accent1"/>
              </a:gs>
              <a:gs pos="100000">
                <a:schemeClr val="accent1">
                  <a:lumMod val="20000"/>
                  <a:lumOff val="80000"/>
                </a:schemeClr>
              </a:gs>
            </a:gsLst>
            <a:lin ang="10800000" scaled="0"/>
          </a:gradFill>
          <a:ln w="25400" cap="flat">
            <a:noFill/>
            <a:miter/>
          </a:ln>
          <a:effectLst/>
        </p:spPr>
        <p:txBody>
          <a:bodyPr vert="horz" wrap="square" lIns="91440" tIns="45720" rIns="91440" bIns="45720" rtlCol="0" anchor="ctr"/>
          <a:lstStyle/>
          <a:p>
            <a:pPr algn="ctr">
              <a:lnSpc>
                <a:spcPct val="120000"/>
              </a:lnSpc>
            </a:pPr>
            <a:endParaRPr kumimoji="1" lang="zh-CN" altLang="en-US"/>
          </a:p>
        </p:txBody>
      </p:sp>
      <p:sp>
        <p:nvSpPr>
          <p:cNvPr id="15" name="标题 1"/>
          <p:cNvSpPr txBox="1"/>
          <p:nvPr/>
        </p:nvSpPr>
        <p:spPr>
          <a:xfrm>
            <a:off x="3534143" y="3977618"/>
            <a:ext cx="4543933" cy="2880382"/>
          </a:xfrm>
          <a:custGeom>
            <a:avLst/>
            <a:gdLst>
              <a:gd name="connsiteX0" fmla="*/ 3893377 w 4543933"/>
              <a:gd name="connsiteY0" fmla="*/ 0 h 2880382"/>
              <a:gd name="connsiteX1" fmla="*/ 4543933 w 4543933"/>
              <a:gd name="connsiteY1" fmla="*/ 430921 h 2880382"/>
              <a:gd name="connsiteX2" fmla="*/ 988357 w 4543933"/>
              <a:gd name="connsiteY2" fmla="*/ 2880382 h 2880382"/>
              <a:gd name="connsiteX3" fmla="*/ 299230 w 4543933"/>
              <a:gd name="connsiteY3" fmla="*/ 2880382 h 2880382"/>
              <a:gd name="connsiteX4" fmla="*/ 0 w 4543933"/>
              <a:gd name="connsiteY4" fmla="*/ 2682176 h 2880382"/>
            </a:gdLst>
            <a:ahLst/>
            <a:cxnLst/>
            <a:rect l="l" t="t" r="r" b="b"/>
            <a:pathLst>
              <a:path w="4543933" h="2880382">
                <a:moveTo>
                  <a:pt x="3893377" y="0"/>
                </a:moveTo>
                <a:lnTo>
                  <a:pt x="4543933" y="430921"/>
                </a:lnTo>
                <a:lnTo>
                  <a:pt x="988357" y="2880382"/>
                </a:lnTo>
                <a:lnTo>
                  <a:pt x="299230" y="2880382"/>
                </a:lnTo>
                <a:lnTo>
                  <a:pt x="0" y="2682176"/>
                </a:lnTo>
                <a:close/>
              </a:path>
            </a:pathLst>
          </a:custGeom>
          <a:gradFill>
            <a:gsLst>
              <a:gs pos="18000">
                <a:schemeClr val="accent1">
                  <a:lumMod val="60000"/>
                  <a:lumOff val="40000"/>
                </a:schemeClr>
              </a:gs>
              <a:gs pos="79000">
                <a:schemeClr val="accent1"/>
              </a:gs>
            </a:gsLst>
            <a:lin ang="8100000" scaled="0"/>
          </a:gradFill>
          <a:ln w="32097" cap="flat">
            <a:noFill/>
            <a:miter/>
          </a:ln>
          <a:effectLst>
            <a:outerShdw blurRad="635000" dist="889000" dir="2700000" sx="90000" sy="90000" algn="tl" rotWithShape="0">
              <a:schemeClr val="accent1">
                <a:alpha val="30000"/>
              </a:schemeClr>
            </a:outerShdw>
          </a:effectLst>
        </p:spPr>
        <p:txBody>
          <a:bodyPr vert="horz" wrap="square" lIns="91440" tIns="45720" rIns="91440" bIns="45720" rtlCol="0" anchor="ctr"/>
          <a:lstStyle/>
          <a:p>
            <a:pPr algn="l">
              <a:lnSpc>
                <a:spcPct val="120000"/>
              </a:lnSpc>
            </a:pPr>
            <a:endParaRPr kumimoji="1" lang="zh-CN" altLang="en-US"/>
          </a:p>
        </p:txBody>
      </p:sp>
      <p:sp>
        <p:nvSpPr>
          <p:cNvPr id="16" name="标题 1"/>
          <p:cNvSpPr txBox="1"/>
          <p:nvPr/>
        </p:nvSpPr>
        <p:spPr>
          <a:xfrm>
            <a:off x="2987625" y="5158636"/>
            <a:ext cx="1043400" cy="1699364"/>
          </a:xfrm>
          <a:custGeom>
            <a:avLst/>
            <a:gdLst>
              <a:gd name="connsiteX0" fmla="*/ 0 w 1043400"/>
              <a:gd name="connsiteY0" fmla="*/ 0 h 1699364"/>
              <a:gd name="connsiteX1" fmla="*/ 650876 w 1043400"/>
              <a:gd name="connsiteY1" fmla="*/ 430921 h 1699364"/>
              <a:gd name="connsiteX2" fmla="*/ 1043400 w 1043400"/>
              <a:gd name="connsiteY2" fmla="*/ 1699364 h 1699364"/>
              <a:gd name="connsiteX3" fmla="*/ 629330 w 1043400"/>
              <a:gd name="connsiteY3" fmla="*/ 1699364 h 1699364"/>
              <a:gd name="connsiteX4" fmla="*/ 499316 w 1043400"/>
              <a:gd name="connsiteY4" fmla="*/ 1613223 h 1699364"/>
            </a:gdLst>
            <a:ahLst/>
            <a:cxnLst/>
            <a:rect l="l" t="t" r="r" b="b"/>
            <a:pathLst>
              <a:path w="1043400" h="1699364">
                <a:moveTo>
                  <a:pt x="0" y="0"/>
                </a:moveTo>
                <a:lnTo>
                  <a:pt x="650876" y="430921"/>
                </a:lnTo>
                <a:lnTo>
                  <a:pt x="1043400" y="1699364"/>
                </a:lnTo>
                <a:lnTo>
                  <a:pt x="629330" y="1699364"/>
                </a:lnTo>
                <a:lnTo>
                  <a:pt x="499316" y="1613223"/>
                </a:lnTo>
                <a:close/>
              </a:path>
            </a:pathLst>
          </a:custGeom>
          <a:gradFill>
            <a:gsLst>
              <a:gs pos="34000">
                <a:schemeClr val="accent1"/>
              </a:gs>
              <a:gs pos="100000">
                <a:schemeClr val="accent1">
                  <a:lumMod val="20000"/>
                  <a:lumOff val="80000"/>
                </a:schemeClr>
              </a:gs>
            </a:gsLst>
            <a:lin ang="10800000" scaled="0"/>
          </a:gradFill>
          <a:ln w="25400" cap="flat">
            <a:noFill/>
            <a:miter/>
          </a:ln>
          <a:effectLst>
            <a:outerShdw blurRad="635000" dist="635000" dir="2700000" sx="90000" sy="90000" algn="tl" rotWithShape="0">
              <a:schemeClr val="accent1">
                <a:alpha val="40000"/>
              </a:schemeClr>
            </a:outerShdw>
          </a:effectLst>
        </p:spPr>
        <p:txBody>
          <a:bodyPr vert="horz" wrap="square" lIns="91440" tIns="45720" rIns="91440" bIns="45720" rtlCol="0" anchor="ctr"/>
          <a:lstStyle/>
          <a:p>
            <a:pPr algn="ctr">
              <a:lnSpc>
                <a:spcPct val="120000"/>
              </a:lnSpc>
            </a:pPr>
            <a:endParaRPr kumimoji="1" lang="zh-CN" altLang="en-US"/>
          </a:p>
        </p:txBody>
      </p:sp>
      <p:sp>
        <p:nvSpPr>
          <p:cNvPr id="17" name="标题 1"/>
          <p:cNvSpPr txBox="1"/>
          <p:nvPr/>
        </p:nvSpPr>
        <p:spPr>
          <a:xfrm>
            <a:off x="405230" y="5046572"/>
            <a:ext cx="3280475" cy="1811429"/>
          </a:xfrm>
          <a:custGeom>
            <a:avLst/>
            <a:gdLst>
              <a:gd name="connsiteX0" fmla="*/ 2629599 w 3280475"/>
              <a:gd name="connsiteY0" fmla="*/ 0 h 1811429"/>
              <a:gd name="connsiteX1" fmla="*/ 3280475 w 3280475"/>
              <a:gd name="connsiteY1" fmla="*/ 430921 h 1811429"/>
              <a:gd name="connsiteX2" fmla="*/ 1276431 w 3280475"/>
              <a:gd name="connsiteY2" fmla="*/ 1811429 h 1811429"/>
              <a:gd name="connsiteX3" fmla="*/ 0 w 3280475"/>
              <a:gd name="connsiteY3" fmla="*/ 1811429 h 1811429"/>
            </a:gdLst>
            <a:ahLst/>
            <a:cxnLst/>
            <a:rect l="l" t="t" r="r" b="b"/>
            <a:pathLst>
              <a:path w="3280475" h="1811429">
                <a:moveTo>
                  <a:pt x="2629599" y="0"/>
                </a:moveTo>
                <a:lnTo>
                  <a:pt x="3280475" y="430921"/>
                </a:lnTo>
                <a:lnTo>
                  <a:pt x="1276431" y="1811429"/>
                </a:lnTo>
                <a:lnTo>
                  <a:pt x="0" y="1811429"/>
                </a:lnTo>
                <a:close/>
              </a:path>
            </a:pathLst>
          </a:custGeom>
          <a:gradFill>
            <a:gsLst>
              <a:gs pos="23000">
                <a:schemeClr val="accent1">
                  <a:lumMod val="60000"/>
                  <a:lumOff val="40000"/>
                </a:schemeClr>
              </a:gs>
              <a:gs pos="100000">
                <a:schemeClr val="accent1">
                  <a:alpha val="0"/>
                </a:schemeClr>
              </a:gs>
            </a:gsLst>
            <a:lin ang="8100000" scaled="0"/>
          </a:gradFill>
          <a:ln w="32097" cap="flat">
            <a:noFill/>
            <a:miter/>
          </a:ln>
          <a:effectLst>
            <a:outerShdw blurRad="635000" dist="889000" dir="2700000" sx="90000" sy="90000" algn="tl" rotWithShape="0">
              <a:schemeClr val="accent1">
                <a:alpha val="30000"/>
              </a:schemeClr>
            </a:outerShdw>
          </a:effectLst>
        </p:spPr>
        <p:txBody>
          <a:bodyPr vert="horz" wrap="square" lIns="91440" tIns="45720" rIns="91440" bIns="45720" rtlCol="0" anchor="ctr"/>
          <a:lstStyle/>
          <a:p>
            <a:pPr algn="l">
              <a:lnSpc>
                <a:spcPct val="120000"/>
              </a:lnSpc>
            </a:pPr>
            <a:endParaRPr kumimoji="1" lang="zh-CN" altLang="en-US"/>
          </a:p>
        </p:txBody>
      </p:sp>
      <p:sp>
        <p:nvSpPr>
          <p:cNvPr id="18" name="标题 1"/>
          <p:cNvSpPr txBox="1"/>
          <p:nvPr/>
        </p:nvSpPr>
        <p:spPr>
          <a:xfrm>
            <a:off x="1681661" y="4144272"/>
            <a:ext cx="9849559" cy="2713729"/>
          </a:xfrm>
          <a:custGeom>
            <a:avLst/>
            <a:gdLst>
              <a:gd name="connsiteX0" fmla="*/ 2004044 w 9849559"/>
              <a:gd name="connsiteY0" fmla="*/ 1333221 h 2713729"/>
              <a:gd name="connsiteX1" fmla="*/ 2431056 w 9849559"/>
              <a:gd name="connsiteY1" fmla="*/ 2713729 h 2713729"/>
              <a:gd name="connsiteX2" fmla="*/ 2349365 w 9849559"/>
              <a:gd name="connsiteY2" fmla="*/ 2713729 h 2713729"/>
              <a:gd name="connsiteX3" fmla="*/ 1956842 w 9849559"/>
              <a:gd name="connsiteY3" fmla="*/ 1445286 h 2713729"/>
              <a:gd name="connsiteX4" fmla="*/ 115597 w 9849559"/>
              <a:gd name="connsiteY4" fmla="*/ 2713729 h 2713729"/>
              <a:gd name="connsiteX5" fmla="*/ 0 w 9849559"/>
              <a:gd name="connsiteY5" fmla="*/ 2713729 h 2713729"/>
              <a:gd name="connsiteX6" fmla="*/ 9829009 w 9849559"/>
              <a:gd name="connsiteY6" fmla="*/ 0 h 2713729"/>
              <a:gd name="connsiteX7" fmla="*/ 9849559 w 9849559"/>
              <a:gd name="connsiteY7" fmla="*/ 65505 h 2713729"/>
              <a:gd name="connsiteX8" fmla="*/ 6885135 w 9849559"/>
              <a:gd name="connsiteY8" fmla="*/ 2107722 h 2713729"/>
              <a:gd name="connsiteX9" fmla="*/ 6349534 w 9849559"/>
              <a:gd name="connsiteY9" fmla="*/ 376654 h 2713729"/>
              <a:gd name="connsiteX10" fmla="*/ 2957097 w 9849559"/>
              <a:gd name="connsiteY10" fmla="*/ 2713729 h 2713729"/>
              <a:gd name="connsiteX11" fmla="*/ 2840841 w 9849559"/>
              <a:gd name="connsiteY11" fmla="*/ 2713729 h 2713729"/>
              <a:gd name="connsiteX12" fmla="*/ 6396415 w 9849559"/>
              <a:gd name="connsiteY12" fmla="*/ 264268 h 2713729"/>
              <a:gd name="connsiteX13" fmla="*/ 6932015 w 9849559"/>
              <a:gd name="connsiteY13" fmla="*/ 1995336 h 2713729"/>
            </a:gdLst>
            <a:ahLst/>
            <a:cxnLst/>
            <a:rect l="l" t="t" r="r" b="b"/>
            <a:pathLst>
              <a:path w="9849559" h="2713729">
                <a:moveTo>
                  <a:pt x="2004044" y="1333221"/>
                </a:moveTo>
                <a:lnTo>
                  <a:pt x="2431056" y="2713729"/>
                </a:lnTo>
                <a:lnTo>
                  <a:pt x="2349365" y="2713729"/>
                </a:lnTo>
                <a:lnTo>
                  <a:pt x="1956842" y="1445286"/>
                </a:lnTo>
                <a:lnTo>
                  <a:pt x="115597" y="2713729"/>
                </a:lnTo>
                <a:lnTo>
                  <a:pt x="0" y="2713729"/>
                </a:lnTo>
                <a:close/>
                <a:moveTo>
                  <a:pt x="9829009" y="0"/>
                </a:moveTo>
                <a:lnTo>
                  <a:pt x="9849559" y="65505"/>
                </a:lnTo>
                <a:lnTo>
                  <a:pt x="6885135" y="2107722"/>
                </a:lnTo>
                <a:lnTo>
                  <a:pt x="6349534" y="376654"/>
                </a:lnTo>
                <a:lnTo>
                  <a:pt x="2957097" y="2713729"/>
                </a:lnTo>
                <a:lnTo>
                  <a:pt x="2840841" y="2713729"/>
                </a:lnTo>
                <a:lnTo>
                  <a:pt x="6396415" y="264268"/>
                </a:lnTo>
                <a:lnTo>
                  <a:pt x="6932015" y="1995336"/>
                </a:lnTo>
                <a:close/>
              </a:path>
            </a:pathLst>
          </a:custGeom>
          <a:gradFill>
            <a:gsLst>
              <a:gs pos="2000">
                <a:schemeClr val="accent1"/>
              </a:gs>
              <a:gs pos="100000">
                <a:schemeClr val="accent1">
                  <a:lumMod val="20000"/>
                  <a:lumOff val="80000"/>
                </a:schemeClr>
              </a:gs>
            </a:gsLst>
            <a:lin ang="10800000" scaled="0"/>
          </a:gradFill>
          <a:ln w="32097" cap="flat">
            <a:noFill/>
            <a:miter/>
          </a:ln>
        </p:spPr>
        <p:txBody>
          <a:bodyPr vert="horz" wrap="square" lIns="91440" tIns="45720" rIns="91440" bIns="45720" rtlCol="0" anchor="ctr"/>
          <a:lstStyle/>
          <a:p>
            <a:pPr algn="l">
              <a:lnSpc>
                <a:spcPct val="120000"/>
              </a:lnSpc>
            </a:pPr>
            <a:endParaRPr kumimoji="1" lang="zh-CN" altLang="en-US"/>
          </a:p>
        </p:txBody>
      </p:sp>
      <p:sp>
        <p:nvSpPr>
          <p:cNvPr id="19" name="标题 1"/>
          <p:cNvSpPr txBox="1"/>
          <p:nvPr/>
        </p:nvSpPr>
        <p:spPr>
          <a:xfrm>
            <a:off x="9660793" y="3400596"/>
            <a:ext cx="2272126" cy="1514643"/>
          </a:xfrm>
          <a:custGeom>
            <a:avLst/>
            <a:gdLst>
              <a:gd name="connsiteX0" fmla="*/ 0 w 2272126"/>
              <a:gd name="connsiteY0" fmla="*/ 318856 h 1514643"/>
              <a:gd name="connsiteX1" fmla="*/ 1953272 w 2272126"/>
              <a:gd name="connsiteY1" fmla="*/ 1514644 h 1514643"/>
              <a:gd name="connsiteX2" fmla="*/ 2272127 w 2272126"/>
              <a:gd name="connsiteY2" fmla="*/ 0 h 1514643"/>
            </a:gdLst>
            <a:ahLst/>
            <a:cxnLst/>
            <a:rect l="l" t="t" r="r" b="b"/>
            <a:pathLst>
              <a:path w="2272126" h="1514643">
                <a:moveTo>
                  <a:pt x="0" y="318856"/>
                </a:moveTo>
                <a:lnTo>
                  <a:pt x="1953272" y="1514644"/>
                </a:lnTo>
                <a:lnTo>
                  <a:pt x="2272127" y="0"/>
                </a:lnTo>
                <a:close/>
              </a:path>
            </a:pathLst>
          </a:custGeom>
          <a:gradFill>
            <a:gsLst>
              <a:gs pos="0">
                <a:schemeClr val="accent1">
                  <a:lumMod val="60000"/>
                  <a:lumOff val="40000"/>
                </a:schemeClr>
              </a:gs>
              <a:gs pos="79000">
                <a:schemeClr val="accent1"/>
              </a:gs>
            </a:gsLst>
            <a:lin ang="8100000" scaled="0"/>
          </a:gradFill>
          <a:ln w="32097" cap="flat">
            <a:noFill/>
            <a:miter/>
          </a:ln>
          <a:effectLst>
            <a:outerShdw blurRad="635000" dist="889000" dir="2700000" sx="90000" sy="90000" algn="tl" rotWithShape="0">
              <a:schemeClr val="accent1">
                <a:alpha val="30000"/>
              </a:schemeClr>
            </a:outerShdw>
          </a:effectLst>
        </p:spPr>
        <p:txBody>
          <a:bodyPr vert="horz" wrap="square" lIns="91440" tIns="45720" rIns="91440" bIns="45720" rtlCol="0" anchor="ctr"/>
          <a:lstStyle/>
          <a:p>
            <a:pPr algn="l">
              <a:lnSpc>
                <a:spcPct val="120000"/>
              </a:lnSpc>
            </a:pPr>
            <a:endParaRPr kumimoji="1" lang="zh-CN" altLang="en-US"/>
          </a:p>
        </p:txBody>
      </p:sp>
      <p:sp>
        <p:nvSpPr>
          <p:cNvPr id="20" name="标题 1"/>
          <p:cNvSpPr txBox="1"/>
          <p:nvPr/>
        </p:nvSpPr>
        <p:spPr>
          <a:xfrm>
            <a:off x="11614064" y="3400596"/>
            <a:ext cx="318855" cy="1593314"/>
          </a:xfrm>
          <a:custGeom>
            <a:avLst/>
            <a:gdLst>
              <a:gd name="connsiteX0" fmla="*/ 318855 w 318855"/>
              <a:gd name="connsiteY0" fmla="*/ 0 h 1593314"/>
              <a:gd name="connsiteX1" fmla="*/ 312433 w 318855"/>
              <a:gd name="connsiteY1" fmla="*/ 96331 h 1593314"/>
              <a:gd name="connsiteX2" fmla="*/ 0 w 318855"/>
              <a:gd name="connsiteY2" fmla="*/ 1593314 h 1593314"/>
              <a:gd name="connsiteX3" fmla="*/ 0 w 318855"/>
              <a:gd name="connsiteY3" fmla="*/ 1514644 h 1593314"/>
            </a:gdLst>
            <a:ahLst/>
            <a:cxnLst/>
            <a:rect l="l" t="t" r="r" b="b"/>
            <a:pathLst>
              <a:path w="318855" h="1593314">
                <a:moveTo>
                  <a:pt x="318855" y="0"/>
                </a:moveTo>
                <a:lnTo>
                  <a:pt x="312433" y="96331"/>
                </a:lnTo>
                <a:lnTo>
                  <a:pt x="0" y="1593314"/>
                </a:lnTo>
                <a:lnTo>
                  <a:pt x="0" y="1514644"/>
                </a:lnTo>
                <a:close/>
              </a:path>
            </a:pathLst>
          </a:custGeom>
          <a:gradFill>
            <a:gsLst>
              <a:gs pos="35000">
                <a:schemeClr val="accent1">
                  <a:lumMod val="60000"/>
                  <a:lumOff val="40000"/>
                </a:schemeClr>
              </a:gs>
              <a:gs pos="100000">
                <a:schemeClr val="accent1"/>
              </a:gs>
            </a:gsLst>
            <a:lin ang="10800000" scaled="0"/>
          </a:gradFill>
          <a:ln w="32097" cap="flat">
            <a:noFill/>
            <a:miter/>
          </a:ln>
        </p:spPr>
        <p:txBody>
          <a:bodyPr vert="horz" wrap="square" lIns="91440" tIns="45720" rIns="91440" bIns="45720" rtlCol="0" anchor="ctr"/>
          <a:lstStyle/>
          <a:p>
            <a:pPr algn="l">
              <a:lnSpc>
                <a:spcPct val="120000"/>
              </a:lnSpc>
            </a:pPr>
            <a:endParaRPr kumimoji="1" lang="zh-CN" altLang="en-US"/>
          </a:p>
        </p:txBody>
      </p:sp>
      <p:sp>
        <p:nvSpPr>
          <p:cNvPr id="21" name="标题 1"/>
          <p:cNvSpPr txBox="1"/>
          <p:nvPr/>
        </p:nvSpPr>
        <p:spPr>
          <a:xfrm>
            <a:off x="1103825" y="2654965"/>
            <a:ext cx="3154044" cy="66481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推动医疗AI产业发展</a:t>
            </a:r>
            <a:endParaRPr kumimoji="1" lang="zh-CN" altLang="en-US"/>
          </a:p>
        </p:txBody>
      </p:sp>
      <p:sp>
        <p:nvSpPr>
          <p:cNvPr id="22" name="标题 1"/>
          <p:cNvSpPr txBox="1"/>
          <p:nvPr/>
        </p:nvSpPr>
        <p:spPr>
          <a:xfrm>
            <a:off x="4664533" y="1776056"/>
            <a:ext cx="3154044" cy="66481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促进医疗行业数字化转型</a:t>
            </a:r>
            <a:endParaRPr kumimoji="1" lang="zh-CN" altLang="en-US"/>
          </a:p>
        </p:txBody>
      </p:sp>
      <p:sp>
        <p:nvSpPr>
          <p:cNvPr id="23" name="标题 1"/>
          <p:cNvSpPr txBox="1"/>
          <p:nvPr/>
        </p:nvSpPr>
        <p:spPr>
          <a:xfrm>
            <a:off x="8273582" y="1132108"/>
            <a:ext cx="3154044" cy="664812"/>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5A7EE">
                    <a:alpha val="100000"/>
                  </a:srgbClr>
                </a:solidFill>
                <a:latin typeface="Source Han Sans CN Bold" panose="020B0800000000000000" charset="-122"/>
                <a:ea typeface="Source Han Sans CN Bold" panose="020B0800000000000000" charset="-122"/>
                <a:cs typeface="Source Han Sans CN Bold" panose="020B0800000000000000" charset="-122"/>
              </a:rPr>
              <a:t>培养医疗AI专业人才</a:t>
            </a:r>
            <a:endParaRPr kumimoji="1" lang="zh-CN" altLang="en-US"/>
          </a:p>
        </p:txBody>
      </p:sp>
      <p:sp>
        <p:nvSpPr>
          <p:cNvPr id="24"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产业发展</a:t>
            </a:r>
            <a:endParaRPr kumimoji="1" lang="zh-CN" altLang="en-US"/>
          </a:p>
        </p:txBody>
      </p:sp>
      <p:sp>
        <p:nvSpPr>
          <p:cNvPr id="26"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l="203" r="20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rect l="l" t="t" r="r" b="b"/>
            <a:pathLst>
              <a:path w="12192000" h="6858000">
                <a:moveTo>
                  <a:pt x="0" y="0"/>
                </a:moveTo>
                <a:lnTo>
                  <a:pt x="12192000" y="0"/>
                </a:lnTo>
                <a:lnTo>
                  <a:pt x="12192000" y="6858000"/>
                </a:lnTo>
                <a:lnTo>
                  <a:pt x="0" y="6858000"/>
                </a:lnTo>
                <a:close/>
              </a:path>
            </a:pathLst>
          </a:cu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5" name="标题 1"/>
          <p:cNvSpPr txBox="1"/>
          <p:nvPr/>
        </p:nvSpPr>
        <p:spPr>
          <a:xfrm>
            <a:off x="4783344" y="3251726"/>
            <a:ext cx="6304547" cy="1957138"/>
          </a:xfrm>
          <a:prstGeom prst="roundRect">
            <a:avLst>
              <a:gd name="adj" fmla="val 9671"/>
            </a:avLst>
          </a:prstGeom>
          <a:solidFill>
            <a:schemeClr val="bg1"/>
          </a:solidFill>
          <a:ln w="12700" cap="sq">
            <a:noFill/>
            <a:miter/>
          </a:ln>
          <a:effectLst>
            <a:outerShdw blurRad="254000" dist="101600" sx="97000" sy="97000" algn="ctr" rotWithShape="0">
              <a:schemeClr val="bg1">
                <a:lumMod val="50000"/>
                <a:alpha val="20000"/>
              </a:schemeClr>
            </a:outerShdw>
          </a:effectLst>
        </p:spPr>
        <p:txBody>
          <a:bodyPr vert="horz" wrap="square" lIns="93269" tIns="46634" rIns="93269" bIns="46634" rtlCol="0" anchor="t"/>
          <a:lstStyle/>
          <a:p>
            <a:pPr algn="ctr">
              <a:lnSpc>
                <a:spcPct val="110000"/>
              </a:lnSpc>
            </a:pPr>
            <a:endParaRPr kumimoji="1" lang="zh-CN" altLang="en-US"/>
          </a:p>
        </p:txBody>
      </p:sp>
      <p:sp>
        <p:nvSpPr>
          <p:cNvPr id="6" name="标题 1"/>
          <p:cNvSpPr txBox="1"/>
          <p:nvPr/>
        </p:nvSpPr>
        <p:spPr>
          <a:xfrm>
            <a:off x="10740836" y="2937623"/>
            <a:ext cx="628204" cy="628204"/>
          </a:xfrm>
          <a:prstGeom prst="roundRect">
            <a:avLst/>
          </a:prstGeom>
          <a:gradFill>
            <a:gsLst>
              <a:gs pos="0">
                <a:schemeClr val="accent1"/>
              </a:gs>
              <a:gs pos="84000">
                <a:schemeClr val="accent1">
                  <a:lumMod val="85000"/>
                </a:schemeClr>
              </a:gs>
            </a:gsLst>
            <a:lin ang="2700000" scaled="0"/>
          </a:gradFill>
          <a:ln w="12700" cap="sq">
            <a:noFill/>
            <a:miter/>
          </a:ln>
          <a:effectLst/>
        </p:spPr>
        <p:txBody>
          <a:bodyPr vert="horz" wrap="square" lIns="93269" tIns="46634" rIns="93269" bIns="46634" rtlCol="0" anchor="t"/>
          <a:lstStyle/>
          <a:p>
            <a:pPr algn="ctr">
              <a:lnSpc>
                <a:spcPct val="110000"/>
              </a:lnSpc>
            </a:pPr>
            <a:endParaRPr kumimoji="1" lang="zh-CN" altLang="en-US"/>
          </a:p>
        </p:txBody>
      </p:sp>
      <p:sp>
        <p:nvSpPr>
          <p:cNvPr id="7" name="标题 1"/>
          <p:cNvSpPr txBox="1"/>
          <p:nvPr/>
        </p:nvSpPr>
        <p:spPr>
          <a:xfrm flipV="1">
            <a:off x="4796644" y="2849757"/>
            <a:ext cx="1938081"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flipV="1">
            <a:off x="4796642" y="2777106"/>
            <a:ext cx="3876163" cy="6549"/>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a:off x="5958840" y="402735"/>
            <a:ext cx="838254" cy="838254"/>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92374" y="253408"/>
            <a:ext cx="528320" cy="528320"/>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2" name="标题 1"/>
          <p:cNvSpPr txBox="1"/>
          <p:nvPr/>
        </p:nvSpPr>
        <p:spPr>
          <a:xfrm>
            <a:off x="5201259" y="3440041"/>
            <a:ext cx="5468717" cy="1580508"/>
          </a:xfrm>
          <a:prstGeom prst="rect">
            <a:avLst/>
          </a:prstGeom>
          <a:noFill/>
          <a:ln>
            <a:noFill/>
          </a:ln>
          <a:effectLst/>
        </p:spPr>
        <p:txBody>
          <a:bodyPr vert="horz" wrap="square" lIns="0" tIns="0" rIns="0" bIns="0" rtlCol="0" anchor="ctr"/>
          <a:lstStyle/>
          <a:p>
            <a:pPr algn="l">
              <a:lnSpc>
                <a:spcPct val="130000"/>
              </a:lnSpc>
            </a:pPr>
            <a:r>
              <a:rPr kumimoji="1" lang="en-US" altLang="zh-CN" sz="4000">
                <a:ln w="12700">
                  <a:noFill/>
                </a:ln>
                <a:gradFill>
                  <a:gsLst>
                    <a:gs pos="20000">
                      <a:srgbClr val="25A7EE">
                        <a:alpha val="100000"/>
                      </a:srgbClr>
                    </a:gs>
                    <a:gs pos="100000">
                      <a:srgbClr val="1192D9">
                        <a:alpha val="100000"/>
                      </a:srgbClr>
                    </a:gs>
                  </a:gsLst>
                  <a:lin ang="2700000" scaled="0"/>
                </a:gradFill>
                <a:latin typeface="Dream-XinCuSongGB" panose="02010604000000000000" charset="-122"/>
                <a:ea typeface="Dream-XinCuSongGB" panose="02010604000000000000" charset="-122"/>
                <a:cs typeface="Dream-XinCuSongGB" panose="02010604000000000000" charset="-122"/>
              </a:rPr>
              <a:t>项目总结</a:t>
            </a:r>
            <a:endParaRPr kumimoji="1" lang="zh-CN" altLang="en-US"/>
          </a:p>
        </p:txBody>
      </p:sp>
      <p:sp>
        <p:nvSpPr>
          <p:cNvPr id="13" name="标题 1"/>
          <p:cNvSpPr txBox="1"/>
          <p:nvPr/>
        </p:nvSpPr>
        <p:spPr>
          <a:xfrm>
            <a:off x="4783344" y="1952202"/>
            <a:ext cx="2114822" cy="830997"/>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PART</a:t>
            </a:r>
            <a:endParaRPr kumimoji="1" lang="zh-CN" altLang="en-US"/>
          </a:p>
        </p:txBody>
      </p:sp>
      <p:sp>
        <p:nvSpPr>
          <p:cNvPr id="14" name="标题 1"/>
          <p:cNvSpPr txBox="1"/>
          <p:nvPr/>
        </p:nvSpPr>
        <p:spPr>
          <a:xfrm>
            <a:off x="6865796" y="587174"/>
            <a:ext cx="1225957" cy="2196026"/>
          </a:xfrm>
          <a:prstGeom prst="rect">
            <a:avLst/>
          </a:prstGeom>
          <a:noFill/>
          <a:ln>
            <a:noFill/>
          </a:ln>
        </p:spPr>
        <p:txBody>
          <a:bodyPr vert="horz" wrap="square" lIns="0" tIns="0" rIns="0" bIns="0" rtlCol="0" anchor="b"/>
          <a:lstStyle/>
          <a:p>
            <a:pPr algn="l">
              <a:lnSpc>
                <a:spcPct val="110000"/>
              </a:lnSpc>
            </a:pPr>
            <a:r>
              <a:rPr kumimoji="1" lang="en-US" altLang="zh-CN" sz="5400">
                <a:ln w="12700">
                  <a:noFill/>
                </a:ln>
                <a:gradFill>
                  <a:gsLst>
                    <a:gs pos="0">
                      <a:srgbClr val="25A7EE">
                        <a:alpha val="100000"/>
                      </a:srgbClr>
                    </a:gs>
                    <a:gs pos="84000">
                      <a:srgbClr val="1192D9">
                        <a:alpha val="100000"/>
                      </a:srgbClr>
                    </a:gs>
                  </a:gsLst>
                  <a:lin ang="2700000" scaled="0"/>
                </a:gradFill>
                <a:latin typeface="OPPOSans H" panose="00020600040101010101" charset="-122"/>
                <a:ea typeface="OPPOSans H" panose="00020600040101010101" charset="-122"/>
                <a:cs typeface="OPPOSans H" panose="00020600040101010101" charset="-122"/>
              </a:rPr>
              <a:t>07</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80862" y="1746678"/>
            <a:ext cx="180498" cy="1129085"/>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67848" y="1282700"/>
            <a:ext cx="5250352" cy="24576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学术价值</a:t>
            </a:r>
            <a:endParaRPr kumimoji="1" lang="zh-CN" altLang="en-US"/>
          </a:p>
        </p:txBody>
      </p:sp>
      <p:sp>
        <p:nvSpPr>
          <p:cNvPr id="5" name="标题 1"/>
          <p:cNvSpPr txBox="1"/>
          <p:nvPr/>
        </p:nvSpPr>
        <p:spPr>
          <a:xfrm>
            <a:off x="660400" y="1722823"/>
            <a:ext cx="421420" cy="42142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92638" y="1714871"/>
            <a:ext cx="4720592" cy="1660789"/>
          </a:xfrm>
          <a:prstGeom prst="rect">
            <a:avLst/>
          </a:prstGeom>
          <a:noFill/>
          <a:ln>
            <a:noFill/>
          </a:ln>
        </p:spPr>
        <p:txBody>
          <a:bodyPr vert="horz" wrap="square" lIns="0" tIns="0" rIns="0" bIns="0" rtlCol="0" anchor="t"/>
          <a:lstStyle/>
          <a:p>
            <a:pPr algn="l">
              <a:lnSpc>
                <a:spcPct val="150000"/>
              </a:lnSpc>
            </a:pPr>
            <a:r>
              <a:rPr kumimoji="1" lang="en-US" altLang="zh-CN" sz="1195">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项目围绕糖尿病诊疗难题，在学术上构建了“数据融合- 智能建模- 可解释性分析”技术链条，创新融合Lasso回归与LightGBM算法，突破传统模型局限，引入SHAP技术解决AI“黑箱”问题，同时构建多模态数据体系，为糖尿病精准医疗提供了创新解决方案。
项目成果丰富了糖尿病诊断和健康管理的理论体系，为相关领域的研究提供了新的思路和方法，具有较高的学术价值和理论意义。</a:t>
            </a:r>
            <a:endParaRPr kumimoji="1" lang="zh-CN" altLang="en-US"/>
          </a:p>
        </p:txBody>
      </p:sp>
      <p:sp>
        <p:nvSpPr>
          <p:cNvPr id="7" name="标题 1"/>
          <p:cNvSpPr txBox="1"/>
          <p:nvPr/>
        </p:nvSpPr>
        <p:spPr>
          <a:xfrm>
            <a:off x="724504" y="1740272"/>
            <a:ext cx="293212" cy="365762"/>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01</a:t>
            </a:r>
            <a:endParaRPr kumimoji="1" lang="zh-CN" altLang="en-US"/>
          </a:p>
        </p:txBody>
      </p:sp>
      <p:sp>
        <p:nvSpPr>
          <p:cNvPr id="8" name="标题 1"/>
          <p:cNvSpPr txBox="1"/>
          <p:nvPr/>
        </p:nvSpPr>
        <p:spPr>
          <a:xfrm>
            <a:off x="6386532" y="1746678"/>
            <a:ext cx="180498" cy="1129085"/>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6266070" y="1722823"/>
            <a:ext cx="421420" cy="42142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798308" y="1714871"/>
            <a:ext cx="4720592" cy="1660789"/>
          </a:xfrm>
          <a:prstGeom prst="rect">
            <a:avLst/>
          </a:prstGeom>
          <a:noFill/>
          <a:ln>
            <a:noFill/>
          </a:ln>
        </p:spPr>
        <p:txBody>
          <a:bodyPr vert="horz" wrap="square" lIns="0" tIns="0" rIns="0" bIns="0" rtlCol="0" anchor="t"/>
          <a:lstStyle/>
          <a:p>
            <a:pPr algn="l">
              <a:lnSpc>
                <a:spcPct val="150000"/>
              </a:lnSpc>
            </a:pPr>
            <a:r>
              <a:rPr kumimoji="1" lang="en-US" altLang="zh-CN" sz="140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项目契合《“健康中国2030”规划纲要》，赋能基层医疗，优化医疗资源配置，降低管理成本40%，对提升慢性病防控能力、构建高效整合型医疗服务体系具有里程碑式意义。
通过提高糖尿病的诊断准确率和管理效率，有效降低并发症发生率，减少住院病例，改善患者的生活质量，为社会的健康事业做出了积极贡献。</a:t>
            </a:r>
            <a:endParaRPr kumimoji="1" lang="zh-CN" altLang="en-US"/>
          </a:p>
        </p:txBody>
      </p:sp>
      <p:sp>
        <p:nvSpPr>
          <p:cNvPr id="11" name="标题 1"/>
          <p:cNvSpPr txBox="1"/>
          <p:nvPr/>
        </p:nvSpPr>
        <p:spPr>
          <a:xfrm>
            <a:off x="6330174" y="1740272"/>
            <a:ext cx="293212" cy="365762"/>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02</a:t>
            </a:r>
            <a:endParaRPr kumimoji="1" lang="zh-CN" altLang="en-US"/>
          </a:p>
        </p:txBody>
      </p:sp>
      <p:sp>
        <p:nvSpPr>
          <p:cNvPr id="12" name="标题 1"/>
          <p:cNvSpPr txBox="1"/>
          <p:nvPr/>
        </p:nvSpPr>
        <p:spPr>
          <a:xfrm>
            <a:off x="6266070" y="1282700"/>
            <a:ext cx="5252830" cy="24576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社会价值</a:t>
            </a:r>
            <a:endParaRPr kumimoji="1" lang="zh-CN" altLang="en-US"/>
          </a:p>
        </p:txBody>
      </p:sp>
      <p:sp>
        <p:nvSpPr>
          <p:cNvPr id="13" name="标题 1"/>
          <p:cNvSpPr txBox="1"/>
          <p:nvPr/>
        </p:nvSpPr>
        <p:spPr>
          <a:xfrm>
            <a:off x="780862" y="4185078"/>
            <a:ext cx="180498" cy="1129085"/>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667848" y="3721100"/>
            <a:ext cx="5250352" cy="24576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行业价值</a:t>
            </a:r>
            <a:endParaRPr kumimoji="1" lang="zh-CN" altLang="en-US"/>
          </a:p>
        </p:txBody>
      </p:sp>
      <p:sp>
        <p:nvSpPr>
          <p:cNvPr id="15" name="标题 1"/>
          <p:cNvSpPr txBox="1"/>
          <p:nvPr/>
        </p:nvSpPr>
        <p:spPr>
          <a:xfrm>
            <a:off x="660400" y="4161223"/>
            <a:ext cx="421420" cy="42142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a:off x="1192638" y="4153271"/>
            <a:ext cx="4720592" cy="1660789"/>
          </a:xfrm>
          <a:prstGeom prst="rect">
            <a:avLst/>
          </a:prstGeom>
          <a:noFill/>
          <a:ln>
            <a:noFill/>
          </a:ln>
        </p:spPr>
        <p:txBody>
          <a:bodyPr vert="horz" wrap="square" lIns="0" tIns="0" rIns="0" bIns="0" rtlCol="0" anchor="t"/>
          <a:lstStyle/>
          <a:p>
            <a:pPr algn="l">
              <a:lnSpc>
                <a:spcPct val="150000"/>
              </a:lnSpc>
            </a:pPr>
            <a:r>
              <a:rPr kumimoji="1" lang="en-US" altLang="zh-CN" sz="105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项目推动医疗AI标准化落地，建立技术研发到临床转化的完整路径，其成果可复制至其他慢性病领域，引领慢性病管理数字化转型，通过技术创新与场景落地的深度融合，为糖尿病精准诊疗提供“技术- 应用- 政策”三位一体解决方案，展现人工智能在医疗健康领域的实质性赋能潜力。
项目为医疗AI产业的发展提供了范例和借鉴，推动了医疗AI技术的创新和应用，促进了医疗行业的数字化转型和智能化升级，对医疗行业的发展具有重要的推动作用。</a:t>
            </a:r>
            <a:endParaRPr kumimoji="1" lang="zh-CN" altLang="en-US"/>
          </a:p>
        </p:txBody>
      </p:sp>
      <p:sp>
        <p:nvSpPr>
          <p:cNvPr id="17" name="标题 1"/>
          <p:cNvSpPr txBox="1"/>
          <p:nvPr/>
        </p:nvSpPr>
        <p:spPr>
          <a:xfrm>
            <a:off x="724504" y="4178672"/>
            <a:ext cx="293212" cy="365762"/>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03</a:t>
            </a:r>
            <a:endParaRPr kumimoji="1" lang="zh-CN" altLang="en-US"/>
          </a:p>
        </p:txBody>
      </p:sp>
      <p:sp>
        <p:nvSpPr>
          <p:cNvPr id="18"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项目意义</a:t>
            </a:r>
            <a:endParaRPr kumimoji="1" lang="zh-CN" altLang="en-US"/>
          </a:p>
        </p:txBody>
      </p:sp>
      <p:sp>
        <p:nvSpPr>
          <p:cNvPr id="20"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110580" y="1692828"/>
            <a:ext cx="2568356" cy="1889860"/>
          </a:xfrm>
          <a:prstGeom prst="roundRect">
            <a:avLst>
              <a:gd name="adj" fmla="val 5152"/>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005586" y="1292457"/>
            <a:ext cx="778344" cy="778343"/>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2221170" y="1521048"/>
            <a:ext cx="347176" cy="321161"/>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660054" y="2135194"/>
            <a:ext cx="3469410" cy="3479747"/>
          </a:xfrm>
          <a:prstGeom prst="roundRect">
            <a:avLst>
              <a:gd name="adj" fmla="val 515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719490" y="2195473"/>
            <a:ext cx="3350538" cy="3359189"/>
          </a:xfrm>
          <a:prstGeom prst="roundRect">
            <a:avLst>
              <a:gd name="adj" fmla="val 5152"/>
            </a:avLst>
          </a:pr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953625" y="3298246"/>
            <a:ext cx="2882257" cy="1997655"/>
          </a:xfrm>
          <a:prstGeom prst="rect">
            <a:avLst/>
          </a:prstGeom>
          <a:noFill/>
          <a:ln cap="sq">
            <a:noFill/>
          </a:ln>
        </p:spPr>
        <p:txBody>
          <a:bodyPr vert="horz" wrap="square" lIns="0" tIns="0" rIns="0" bIns="0" rtlCol="0" anchor="t"/>
          <a:lstStyle/>
          <a:p>
            <a:pPr algn="ctr">
              <a:lnSpc>
                <a:spcPct val="150000"/>
              </a:lnSpc>
            </a:pPr>
            <a:r>
              <a:rPr kumimoji="1" lang="en-US" altLang="zh-CN" sz="1220">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团队将继续致力于技术创新和优化，不断探索新的技术和方法，提升项目的性能和应用价值，为糖尿病患者提供更精准、更高效的诊断和健康管理服务。
加强与国内外科研机构和企业的合作与交流，引进先进的技术和经验，推动项目的持续发展和进步，保持项目的领先地位。</a:t>
            </a:r>
            <a:endParaRPr kumimoji="1" lang="zh-CN" altLang="en-US"/>
          </a:p>
        </p:txBody>
      </p:sp>
      <p:sp>
        <p:nvSpPr>
          <p:cNvPr id="9" name="标题 1"/>
          <p:cNvSpPr txBox="1"/>
          <p:nvPr/>
        </p:nvSpPr>
        <p:spPr>
          <a:xfrm>
            <a:off x="953626" y="2399660"/>
            <a:ext cx="2882257" cy="818339"/>
          </a:xfrm>
          <a:prstGeom prst="rect">
            <a:avLst/>
          </a:prstGeom>
          <a:noFill/>
          <a:ln cap="sq">
            <a:noFill/>
          </a:ln>
        </p:spPr>
        <p:txBody>
          <a:bodyPr vert="horz" wrap="square" lIns="0" tIns="0" rIns="0" bIns="0" rtlCol="0" anchor="b"/>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持续创新与优化</a:t>
            </a:r>
            <a:endParaRPr kumimoji="1" lang="zh-CN" altLang="en-US"/>
          </a:p>
        </p:txBody>
      </p:sp>
      <p:sp>
        <p:nvSpPr>
          <p:cNvPr id="10" name="标题 1"/>
          <p:cNvSpPr txBox="1"/>
          <p:nvPr/>
        </p:nvSpPr>
        <p:spPr>
          <a:xfrm>
            <a:off x="4796818" y="1692828"/>
            <a:ext cx="2568356" cy="1889860"/>
          </a:xfrm>
          <a:prstGeom prst="roundRect">
            <a:avLst>
              <a:gd name="adj" fmla="val 5152"/>
            </a:avLst>
          </a:prstGeom>
          <a:no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5691825" y="1292457"/>
            <a:ext cx="778344" cy="778343"/>
          </a:xfrm>
          <a:prstGeom prst="ellipse">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5928997" y="1508040"/>
            <a:ext cx="303997" cy="347176"/>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4346292" y="2135194"/>
            <a:ext cx="3469410" cy="3479747"/>
          </a:xfrm>
          <a:prstGeom prst="roundRect">
            <a:avLst>
              <a:gd name="adj" fmla="val 5152"/>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4405728" y="2195473"/>
            <a:ext cx="3350538" cy="3359189"/>
          </a:xfrm>
          <a:prstGeom prst="roundRect">
            <a:avLst>
              <a:gd name="adj" fmla="val 5152"/>
            </a:avLst>
          </a:prstGeom>
          <a:solidFill>
            <a:schemeClr val="accent2"/>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639863" y="3298246"/>
            <a:ext cx="2882257" cy="2010355"/>
          </a:xfrm>
          <a:prstGeom prst="rect">
            <a:avLst/>
          </a:prstGeom>
          <a:noFill/>
          <a:ln cap="sq">
            <a:noFill/>
          </a:ln>
        </p:spPr>
        <p:txBody>
          <a:bodyPr vert="horz" wrap="square" lIns="0" tIns="0" rIns="0" bIns="0" rtlCol="0" anchor="t"/>
          <a:lstStyle/>
          <a:p>
            <a:pPr algn="ctr">
              <a:lnSpc>
                <a:spcPct val="150000"/>
              </a:lnSpc>
            </a:pPr>
            <a:r>
              <a:rPr kumimoji="1" lang="en-US" altLang="zh-CN" sz="1225">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积极推动项目成果的产业化和市场化应用，与医疗机构、企业等建立广泛的合作关系，共同推动医疗AI产业的发展，为经济增长和社会发展做出更大的贡献。
加强项目的宣传和推广，提高项目的知名度和影响力，吸引更多的人才和资源加入到医疗AI领域，共同推动医疗行业的数字化转型和智能化升级。</a:t>
            </a:r>
            <a:endParaRPr kumimoji="1" lang="zh-CN" altLang="en-US"/>
          </a:p>
        </p:txBody>
      </p:sp>
      <p:sp>
        <p:nvSpPr>
          <p:cNvPr id="16" name="标题 1"/>
          <p:cNvSpPr txBox="1"/>
          <p:nvPr/>
        </p:nvSpPr>
        <p:spPr>
          <a:xfrm>
            <a:off x="4639864" y="2399660"/>
            <a:ext cx="2882257" cy="818339"/>
          </a:xfrm>
          <a:prstGeom prst="rect">
            <a:avLst/>
          </a:prstGeom>
          <a:noFill/>
          <a:ln cap="sq">
            <a:noFill/>
          </a:ln>
        </p:spPr>
        <p:txBody>
          <a:bodyPr vert="horz" wrap="square" lIns="0" tIns="0" rIns="0" bIns="0" rtlCol="0" anchor="b"/>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推动产业发展与应用</a:t>
            </a:r>
            <a:endParaRPr kumimoji="1" lang="zh-CN" altLang="en-US"/>
          </a:p>
        </p:txBody>
      </p:sp>
      <p:sp>
        <p:nvSpPr>
          <p:cNvPr id="17" name="标题 1"/>
          <p:cNvSpPr txBox="1"/>
          <p:nvPr/>
        </p:nvSpPr>
        <p:spPr>
          <a:xfrm>
            <a:off x="8500363" y="1692828"/>
            <a:ext cx="2568356" cy="1889860"/>
          </a:xfrm>
          <a:prstGeom prst="roundRect">
            <a:avLst>
              <a:gd name="adj" fmla="val 5152"/>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9395368" y="1292457"/>
            <a:ext cx="778344" cy="778343"/>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9610953" y="1513641"/>
            <a:ext cx="347176" cy="335975"/>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0" name="标题 1"/>
          <p:cNvSpPr txBox="1"/>
          <p:nvPr/>
        </p:nvSpPr>
        <p:spPr>
          <a:xfrm>
            <a:off x="8049837" y="2135194"/>
            <a:ext cx="3469410" cy="3479747"/>
          </a:xfrm>
          <a:prstGeom prst="roundRect">
            <a:avLst>
              <a:gd name="adj" fmla="val 5152"/>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8343408" y="3298246"/>
            <a:ext cx="2882257" cy="2010355"/>
          </a:xfrm>
          <a:prstGeom prst="rect">
            <a:avLst/>
          </a:prstGeom>
          <a:noFill/>
          <a:ln cap="sq">
            <a:noFill/>
          </a:ln>
        </p:spPr>
        <p:txBody>
          <a:bodyPr vert="horz" wrap="square" lIns="0" tIns="0" rIns="0" bIns="0" rtlCol="0" anchor="t"/>
          <a:lstStyle/>
          <a:p>
            <a:pPr algn="ctr">
              <a:lnSpc>
                <a:spcPct val="150000"/>
              </a:lnSpc>
            </a:pPr>
            <a:r>
              <a:rPr kumimoji="1" lang="en-US" altLang="zh-CN" sz="1225">
                <a:ln w="12700">
                  <a:noFill/>
                </a:ln>
                <a:solidFill>
                  <a:srgbClr val="FFFFFF">
                    <a:alpha val="100000"/>
                  </a:srgbClr>
                </a:solidFill>
                <a:latin typeface="Source Han Sans" panose="020B0400000000000000" charset="-122"/>
                <a:ea typeface="Source Han Sans" panose="020B0400000000000000" charset="-122"/>
                <a:cs typeface="Source Han Sans" panose="020B0400000000000000" charset="-122"/>
              </a:rPr>
              <a:t>团队将继续秉承“科技改变生活，创新服务健康”的理念，致力于医疗健康领域的研究和创新，为提高人类健康水平、构建健康中国贡献自己的力量。
积极参与社会公益活动，普及健康知识，提高公众的健康意识和健康素养，为社会的健康事业做出更大的贡献。</a:t>
            </a:r>
            <a:endParaRPr kumimoji="1" lang="zh-CN" altLang="en-US"/>
          </a:p>
        </p:txBody>
      </p:sp>
      <p:sp>
        <p:nvSpPr>
          <p:cNvPr id="22" name="标题 1"/>
          <p:cNvSpPr txBox="1"/>
          <p:nvPr/>
        </p:nvSpPr>
        <p:spPr>
          <a:xfrm>
            <a:off x="8343409" y="2399660"/>
            <a:ext cx="2882257" cy="818339"/>
          </a:xfrm>
          <a:prstGeom prst="rect">
            <a:avLst/>
          </a:prstGeom>
          <a:noFill/>
          <a:ln cap="sq">
            <a:noFill/>
          </a:ln>
        </p:spPr>
        <p:txBody>
          <a:bodyPr vert="horz" wrap="square" lIns="0" tIns="0" rIns="0" bIns="0" rtlCol="0" anchor="b"/>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为健康事业贡献力量</a:t>
            </a:r>
            <a:endParaRPr kumimoji="1" lang="zh-CN" altLang="en-US"/>
          </a:p>
        </p:txBody>
      </p:sp>
      <p:sp>
        <p:nvSpPr>
          <p:cNvPr id="23" name="标题 1"/>
          <p:cNvSpPr txBox="1"/>
          <p:nvPr/>
        </p:nvSpPr>
        <p:spPr>
          <a:xfrm>
            <a:off x="299070" y="320879"/>
            <a:ext cx="4495800" cy="565150"/>
          </a:xfrm>
          <a:prstGeom prst="rect">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592800" y="399245"/>
            <a:ext cx="10858500"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项目展望</a:t>
            </a:r>
            <a:endParaRPr kumimoji="1" lang="zh-CN" altLang="en-US"/>
          </a:p>
        </p:txBody>
      </p:sp>
      <p:sp>
        <p:nvSpPr>
          <p:cNvPr id="25" name="标题 1"/>
          <p:cNvSpPr txBox="1"/>
          <p:nvPr/>
        </p:nvSpPr>
        <p:spPr>
          <a:xfrm rot="5400000">
            <a:off x="-457200" y="114300"/>
            <a:ext cx="914400" cy="914400"/>
          </a:xfrm>
          <a:prstGeom prst="blockArc">
            <a:avLst>
              <a:gd name="adj1" fmla="val 10800000"/>
              <a:gd name="adj2" fmla="val 0"/>
              <a:gd name="adj3" fmla="val 28546"/>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20388" y="0"/>
            <a:ext cx="12232776" cy="6858000"/>
          </a:xfrm>
          <a:prstGeom prst="rect">
            <a:avLst/>
          </a:prstGeom>
          <a:noFill/>
          <a:ln>
            <a:noFill/>
          </a:ln>
        </p:spPr>
      </p:pic>
      <p:sp>
        <p:nvSpPr>
          <p:cNvPr id="3" name="标题 1"/>
          <p:cNvSpPr txBox="1"/>
          <p:nvPr/>
        </p:nvSpPr>
        <p:spPr>
          <a:xfrm>
            <a:off x="11958950" y="1"/>
            <a:ext cx="233049" cy="5486400"/>
          </a:xfrm>
          <a:prstGeom prst="rect">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4" name="标题 1"/>
          <p:cNvSpPr txBox="1"/>
          <p:nvPr/>
        </p:nvSpPr>
        <p:spPr>
          <a:xfrm>
            <a:off x="11958950" y="5486401"/>
            <a:ext cx="233049" cy="1371599"/>
          </a:xfrm>
          <a:prstGeom prst="rect">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6" name="标题 1"/>
          <p:cNvSpPr txBox="1"/>
          <p:nvPr/>
        </p:nvSpPr>
        <p:spPr>
          <a:xfrm>
            <a:off x="4702502" y="1451910"/>
            <a:ext cx="914400" cy="914400"/>
          </a:xfrm>
          <a:prstGeom prst="mathPlus">
            <a:avLst/>
          </a:prstGeom>
          <a:solidFill>
            <a:schemeClr val="accent1"/>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7" name="标题 1"/>
          <p:cNvSpPr txBox="1"/>
          <p:nvPr/>
        </p:nvSpPr>
        <p:spPr>
          <a:xfrm>
            <a:off x="5502670" y="1289018"/>
            <a:ext cx="576312" cy="576312"/>
          </a:xfrm>
          <a:prstGeom prst="mathPlus">
            <a:avLst/>
          </a:prstGeom>
          <a:solidFill>
            <a:schemeClr val="accent2">
              <a:lumMod val="60000"/>
              <a:lumOff val="40000"/>
            </a:schemeClr>
          </a:soli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8" name="标题 1"/>
          <p:cNvSpPr txBox="1"/>
          <p:nvPr/>
        </p:nvSpPr>
        <p:spPr>
          <a:xfrm>
            <a:off x="198320" y="1182932"/>
            <a:ext cx="576312" cy="576312"/>
          </a:xfrm>
          <a:prstGeom prst="mathPlus">
            <a:avLst/>
          </a:prstGeom>
          <a:noFill/>
          <a:ln w="6350" cap="sq">
            <a:solidFill>
              <a:schemeClr val="accent1"/>
            </a:solidFill>
            <a:miter/>
          </a:ln>
        </p:spPr>
        <p:txBody>
          <a:bodyPr vert="horz" wrap="square" lIns="91440" tIns="45720" rIns="91440" bIns="45720" rtlCol="0" anchor="t"/>
          <a:lstStyle/>
          <a:p>
            <a:pPr algn="ctr">
              <a:lnSpc>
                <a:spcPct val="110000"/>
              </a:lnSpc>
            </a:pPr>
            <a:endParaRPr kumimoji="1" lang="zh-CN" altLang="en-US"/>
          </a:p>
        </p:txBody>
      </p:sp>
      <p:sp>
        <p:nvSpPr>
          <p:cNvPr id="9" name="标题 1"/>
          <p:cNvSpPr txBox="1"/>
          <p:nvPr/>
        </p:nvSpPr>
        <p:spPr>
          <a:xfrm rot="5400000">
            <a:off x="7116593" y="-4856"/>
            <a:ext cx="410661" cy="513450"/>
          </a:xfrm>
          <a:custGeom>
            <a:avLst/>
            <a:gdLst>
              <a:gd name="connsiteX0" fmla="*/ 361145 w 410661"/>
              <a:gd name="connsiteY0" fmla="*/ 24758 h 513450"/>
              <a:gd name="connsiteX1" fmla="*/ 385903 w 410661"/>
              <a:gd name="connsiteY1" fmla="*/ 0 h 513450"/>
              <a:gd name="connsiteX2" fmla="*/ 410661 w 410661"/>
              <a:gd name="connsiteY2" fmla="*/ 24758 h 513450"/>
              <a:gd name="connsiteX3" fmla="*/ 385903 w 410661"/>
              <a:gd name="connsiteY3" fmla="*/ 49516 h 513450"/>
              <a:gd name="connsiteX4" fmla="*/ 361145 w 410661"/>
              <a:gd name="connsiteY4" fmla="*/ 24758 h 513450"/>
              <a:gd name="connsiteX5" fmla="*/ 361145 w 410661"/>
              <a:gd name="connsiteY5" fmla="*/ 256725 h 513450"/>
              <a:gd name="connsiteX6" fmla="*/ 385903 w 410661"/>
              <a:gd name="connsiteY6" fmla="*/ 231967 h 513450"/>
              <a:gd name="connsiteX7" fmla="*/ 410661 w 410661"/>
              <a:gd name="connsiteY7" fmla="*/ 256725 h 513450"/>
              <a:gd name="connsiteX8" fmla="*/ 385903 w 410661"/>
              <a:gd name="connsiteY8" fmla="*/ 281483 h 513450"/>
              <a:gd name="connsiteX9" fmla="*/ 361145 w 410661"/>
              <a:gd name="connsiteY9" fmla="*/ 256725 h 513450"/>
              <a:gd name="connsiteX10" fmla="*/ 361145 w 410661"/>
              <a:gd name="connsiteY10" fmla="*/ 488692 h 513450"/>
              <a:gd name="connsiteX11" fmla="*/ 385903 w 410661"/>
              <a:gd name="connsiteY11" fmla="*/ 463934 h 513450"/>
              <a:gd name="connsiteX12" fmla="*/ 410661 w 410661"/>
              <a:gd name="connsiteY12" fmla="*/ 488692 h 513450"/>
              <a:gd name="connsiteX13" fmla="*/ 385903 w 410661"/>
              <a:gd name="connsiteY13" fmla="*/ 513450 h 513450"/>
              <a:gd name="connsiteX14" fmla="*/ 361145 w 410661"/>
              <a:gd name="connsiteY14" fmla="*/ 488692 h 513450"/>
              <a:gd name="connsiteX15" fmla="*/ 240764 w 410661"/>
              <a:gd name="connsiteY15" fmla="*/ 24758 h 513450"/>
              <a:gd name="connsiteX16" fmla="*/ 265522 w 410661"/>
              <a:gd name="connsiteY16" fmla="*/ 0 h 513450"/>
              <a:gd name="connsiteX17" fmla="*/ 290280 w 410661"/>
              <a:gd name="connsiteY17" fmla="*/ 24758 h 513450"/>
              <a:gd name="connsiteX18" fmla="*/ 265522 w 410661"/>
              <a:gd name="connsiteY18" fmla="*/ 49516 h 513450"/>
              <a:gd name="connsiteX19" fmla="*/ 240764 w 410661"/>
              <a:gd name="connsiteY19" fmla="*/ 24758 h 513450"/>
              <a:gd name="connsiteX20" fmla="*/ 240764 w 410661"/>
              <a:gd name="connsiteY20" fmla="*/ 256725 h 513450"/>
              <a:gd name="connsiteX21" fmla="*/ 265522 w 410661"/>
              <a:gd name="connsiteY21" fmla="*/ 231967 h 513450"/>
              <a:gd name="connsiteX22" fmla="*/ 290280 w 410661"/>
              <a:gd name="connsiteY22" fmla="*/ 256725 h 513450"/>
              <a:gd name="connsiteX23" fmla="*/ 265522 w 410661"/>
              <a:gd name="connsiteY23" fmla="*/ 281483 h 513450"/>
              <a:gd name="connsiteX24" fmla="*/ 240764 w 410661"/>
              <a:gd name="connsiteY24" fmla="*/ 256725 h 513450"/>
              <a:gd name="connsiteX25" fmla="*/ 240764 w 410661"/>
              <a:gd name="connsiteY25" fmla="*/ 488692 h 513450"/>
              <a:gd name="connsiteX26" fmla="*/ 265522 w 410661"/>
              <a:gd name="connsiteY26" fmla="*/ 463934 h 513450"/>
              <a:gd name="connsiteX27" fmla="*/ 290280 w 410661"/>
              <a:gd name="connsiteY27" fmla="*/ 488692 h 513450"/>
              <a:gd name="connsiteX28" fmla="*/ 265522 w 410661"/>
              <a:gd name="connsiteY28" fmla="*/ 513450 h 513450"/>
              <a:gd name="connsiteX29" fmla="*/ 240764 w 410661"/>
              <a:gd name="connsiteY29" fmla="*/ 488692 h 513450"/>
              <a:gd name="connsiteX30" fmla="*/ 120382 w 410661"/>
              <a:gd name="connsiteY30" fmla="*/ 24758 h 513450"/>
              <a:gd name="connsiteX31" fmla="*/ 145140 w 410661"/>
              <a:gd name="connsiteY31" fmla="*/ 0 h 513450"/>
              <a:gd name="connsiteX32" fmla="*/ 169898 w 410661"/>
              <a:gd name="connsiteY32" fmla="*/ 24758 h 513450"/>
              <a:gd name="connsiteX33" fmla="*/ 145140 w 410661"/>
              <a:gd name="connsiteY33" fmla="*/ 49516 h 513450"/>
              <a:gd name="connsiteX34" fmla="*/ 120382 w 410661"/>
              <a:gd name="connsiteY34" fmla="*/ 24758 h 513450"/>
              <a:gd name="connsiteX35" fmla="*/ 120382 w 410661"/>
              <a:gd name="connsiteY35" fmla="*/ 256725 h 513450"/>
              <a:gd name="connsiteX36" fmla="*/ 145140 w 410661"/>
              <a:gd name="connsiteY36" fmla="*/ 231967 h 513450"/>
              <a:gd name="connsiteX37" fmla="*/ 169898 w 410661"/>
              <a:gd name="connsiteY37" fmla="*/ 256725 h 513450"/>
              <a:gd name="connsiteX38" fmla="*/ 145140 w 410661"/>
              <a:gd name="connsiteY38" fmla="*/ 281483 h 513450"/>
              <a:gd name="connsiteX39" fmla="*/ 120382 w 410661"/>
              <a:gd name="connsiteY39" fmla="*/ 256725 h 513450"/>
              <a:gd name="connsiteX40" fmla="*/ 120382 w 410661"/>
              <a:gd name="connsiteY40" fmla="*/ 488692 h 513450"/>
              <a:gd name="connsiteX41" fmla="*/ 145140 w 410661"/>
              <a:gd name="connsiteY41" fmla="*/ 463934 h 513450"/>
              <a:gd name="connsiteX42" fmla="*/ 169898 w 410661"/>
              <a:gd name="connsiteY42" fmla="*/ 488692 h 513450"/>
              <a:gd name="connsiteX43" fmla="*/ 145140 w 410661"/>
              <a:gd name="connsiteY43" fmla="*/ 513450 h 513450"/>
              <a:gd name="connsiteX44" fmla="*/ 120382 w 410661"/>
              <a:gd name="connsiteY44" fmla="*/ 488692 h 513450"/>
              <a:gd name="connsiteX45" fmla="*/ 0 w 410661"/>
              <a:gd name="connsiteY45" fmla="*/ 24758 h 513450"/>
              <a:gd name="connsiteX46" fmla="*/ 24758 w 410661"/>
              <a:gd name="connsiteY46" fmla="*/ 0 h 513450"/>
              <a:gd name="connsiteX47" fmla="*/ 49516 w 410661"/>
              <a:gd name="connsiteY47" fmla="*/ 24758 h 513450"/>
              <a:gd name="connsiteX48" fmla="*/ 24758 w 410661"/>
              <a:gd name="connsiteY48" fmla="*/ 49516 h 513450"/>
              <a:gd name="connsiteX49" fmla="*/ 0 w 410661"/>
              <a:gd name="connsiteY49" fmla="*/ 24758 h 513450"/>
              <a:gd name="connsiteX50" fmla="*/ 0 w 410661"/>
              <a:gd name="connsiteY50" fmla="*/ 256725 h 513450"/>
              <a:gd name="connsiteX51" fmla="*/ 24758 w 410661"/>
              <a:gd name="connsiteY51" fmla="*/ 231967 h 513450"/>
              <a:gd name="connsiteX52" fmla="*/ 49516 w 410661"/>
              <a:gd name="connsiteY52" fmla="*/ 256725 h 513450"/>
              <a:gd name="connsiteX53" fmla="*/ 24758 w 410661"/>
              <a:gd name="connsiteY53" fmla="*/ 281483 h 513450"/>
              <a:gd name="connsiteX54" fmla="*/ 0 w 410661"/>
              <a:gd name="connsiteY54" fmla="*/ 256725 h 513450"/>
              <a:gd name="connsiteX55" fmla="*/ 0 w 410661"/>
              <a:gd name="connsiteY55" fmla="*/ 488692 h 513450"/>
              <a:gd name="connsiteX56" fmla="*/ 24758 w 410661"/>
              <a:gd name="connsiteY56" fmla="*/ 463934 h 513450"/>
              <a:gd name="connsiteX57" fmla="*/ 49516 w 410661"/>
              <a:gd name="connsiteY57" fmla="*/ 488692 h 513450"/>
              <a:gd name="connsiteX58" fmla="*/ 24758 w 410661"/>
              <a:gd name="connsiteY58" fmla="*/ 513450 h 513450"/>
              <a:gd name="connsiteX59" fmla="*/ 0 w 410661"/>
              <a:gd name="connsiteY59" fmla="*/ 488692 h 513450"/>
            </a:gdLst>
            <a:ahLst/>
            <a:cxnLst/>
            <a:rect l="l" t="t" r="r" b="b"/>
            <a:pathLst>
              <a:path w="410661" h="513450">
                <a:moveTo>
                  <a:pt x="361145" y="24758"/>
                </a:moveTo>
                <a:cubicBezTo>
                  <a:pt x="361145" y="11085"/>
                  <a:pt x="372230" y="0"/>
                  <a:pt x="385903" y="0"/>
                </a:cubicBezTo>
                <a:cubicBezTo>
                  <a:pt x="399576" y="0"/>
                  <a:pt x="410661" y="11085"/>
                  <a:pt x="410661" y="24758"/>
                </a:cubicBezTo>
                <a:cubicBezTo>
                  <a:pt x="410661" y="38431"/>
                  <a:pt x="399576" y="49516"/>
                  <a:pt x="385903" y="49516"/>
                </a:cubicBezTo>
                <a:cubicBezTo>
                  <a:pt x="372230" y="49516"/>
                  <a:pt x="361145" y="38431"/>
                  <a:pt x="361145" y="24758"/>
                </a:cubicBezTo>
                <a:close/>
                <a:moveTo>
                  <a:pt x="361145" y="256725"/>
                </a:moveTo>
                <a:cubicBezTo>
                  <a:pt x="361145" y="243052"/>
                  <a:pt x="372230" y="231967"/>
                  <a:pt x="385903" y="231967"/>
                </a:cubicBezTo>
                <a:cubicBezTo>
                  <a:pt x="399576" y="231967"/>
                  <a:pt x="410661" y="243052"/>
                  <a:pt x="410661" y="256725"/>
                </a:cubicBezTo>
                <a:cubicBezTo>
                  <a:pt x="410661" y="270398"/>
                  <a:pt x="399576" y="281483"/>
                  <a:pt x="385903" y="281483"/>
                </a:cubicBezTo>
                <a:cubicBezTo>
                  <a:pt x="372230" y="281483"/>
                  <a:pt x="361145" y="270398"/>
                  <a:pt x="361145" y="256725"/>
                </a:cubicBezTo>
                <a:close/>
                <a:moveTo>
                  <a:pt x="361145" y="488692"/>
                </a:moveTo>
                <a:cubicBezTo>
                  <a:pt x="361145" y="475019"/>
                  <a:pt x="372230" y="463934"/>
                  <a:pt x="385903" y="463934"/>
                </a:cubicBezTo>
                <a:cubicBezTo>
                  <a:pt x="399576" y="463934"/>
                  <a:pt x="410661" y="475019"/>
                  <a:pt x="410661" y="488692"/>
                </a:cubicBezTo>
                <a:cubicBezTo>
                  <a:pt x="410661" y="502365"/>
                  <a:pt x="399576" y="513450"/>
                  <a:pt x="385903" y="513450"/>
                </a:cubicBezTo>
                <a:cubicBezTo>
                  <a:pt x="372230" y="513450"/>
                  <a:pt x="361145" y="502365"/>
                  <a:pt x="361145" y="488692"/>
                </a:cubicBezTo>
                <a:close/>
                <a:moveTo>
                  <a:pt x="240764" y="24758"/>
                </a:moveTo>
                <a:cubicBezTo>
                  <a:pt x="240764" y="11085"/>
                  <a:pt x="251849" y="0"/>
                  <a:pt x="265522" y="0"/>
                </a:cubicBezTo>
                <a:cubicBezTo>
                  <a:pt x="279195" y="0"/>
                  <a:pt x="290280" y="11085"/>
                  <a:pt x="290280" y="24758"/>
                </a:cubicBezTo>
                <a:cubicBezTo>
                  <a:pt x="290280" y="38431"/>
                  <a:pt x="279195" y="49516"/>
                  <a:pt x="265522" y="49516"/>
                </a:cubicBezTo>
                <a:cubicBezTo>
                  <a:pt x="251849" y="49516"/>
                  <a:pt x="240764" y="38431"/>
                  <a:pt x="240764" y="24758"/>
                </a:cubicBezTo>
                <a:close/>
                <a:moveTo>
                  <a:pt x="240764" y="256725"/>
                </a:moveTo>
                <a:cubicBezTo>
                  <a:pt x="240764" y="243052"/>
                  <a:pt x="251849" y="231967"/>
                  <a:pt x="265522" y="231967"/>
                </a:cubicBezTo>
                <a:cubicBezTo>
                  <a:pt x="279195" y="231967"/>
                  <a:pt x="290280" y="243052"/>
                  <a:pt x="290280" y="256725"/>
                </a:cubicBezTo>
                <a:cubicBezTo>
                  <a:pt x="290280" y="270398"/>
                  <a:pt x="279195" y="281483"/>
                  <a:pt x="265522" y="281483"/>
                </a:cubicBezTo>
                <a:cubicBezTo>
                  <a:pt x="251849" y="281483"/>
                  <a:pt x="240764" y="270398"/>
                  <a:pt x="240764" y="256725"/>
                </a:cubicBezTo>
                <a:close/>
                <a:moveTo>
                  <a:pt x="240764" y="488692"/>
                </a:moveTo>
                <a:cubicBezTo>
                  <a:pt x="240764" y="475019"/>
                  <a:pt x="251849" y="463934"/>
                  <a:pt x="265522" y="463934"/>
                </a:cubicBezTo>
                <a:cubicBezTo>
                  <a:pt x="279195" y="463934"/>
                  <a:pt x="290280" y="475019"/>
                  <a:pt x="290280" y="488692"/>
                </a:cubicBezTo>
                <a:cubicBezTo>
                  <a:pt x="290280" y="502365"/>
                  <a:pt x="279195" y="513450"/>
                  <a:pt x="265522" y="513450"/>
                </a:cubicBezTo>
                <a:cubicBezTo>
                  <a:pt x="251849" y="513450"/>
                  <a:pt x="240764" y="502365"/>
                  <a:pt x="240764" y="488692"/>
                </a:cubicBezTo>
                <a:close/>
                <a:moveTo>
                  <a:pt x="120382" y="24758"/>
                </a:moveTo>
                <a:cubicBezTo>
                  <a:pt x="120382" y="11085"/>
                  <a:pt x="131467" y="0"/>
                  <a:pt x="145140" y="0"/>
                </a:cubicBezTo>
                <a:cubicBezTo>
                  <a:pt x="158813" y="0"/>
                  <a:pt x="169898" y="11085"/>
                  <a:pt x="169898" y="24758"/>
                </a:cubicBezTo>
                <a:cubicBezTo>
                  <a:pt x="169898" y="38431"/>
                  <a:pt x="158813" y="49516"/>
                  <a:pt x="145140" y="49516"/>
                </a:cubicBezTo>
                <a:cubicBezTo>
                  <a:pt x="131467" y="49516"/>
                  <a:pt x="120382" y="38431"/>
                  <a:pt x="120382" y="24758"/>
                </a:cubicBezTo>
                <a:close/>
                <a:moveTo>
                  <a:pt x="120382" y="256725"/>
                </a:moveTo>
                <a:cubicBezTo>
                  <a:pt x="120382" y="243052"/>
                  <a:pt x="131467" y="231967"/>
                  <a:pt x="145140" y="231967"/>
                </a:cubicBezTo>
                <a:cubicBezTo>
                  <a:pt x="158813" y="231967"/>
                  <a:pt x="169898" y="243052"/>
                  <a:pt x="169898" y="256725"/>
                </a:cubicBezTo>
                <a:cubicBezTo>
                  <a:pt x="169898" y="270398"/>
                  <a:pt x="158813" y="281483"/>
                  <a:pt x="145140" y="281483"/>
                </a:cubicBezTo>
                <a:cubicBezTo>
                  <a:pt x="131467" y="281483"/>
                  <a:pt x="120382" y="270398"/>
                  <a:pt x="120382" y="256725"/>
                </a:cubicBezTo>
                <a:close/>
                <a:moveTo>
                  <a:pt x="120382" y="488692"/>
                </a:moveTo>
                <a:cubicBezTo>
                  <a:pt x="120382" y="475019"/>
                  <a:pt x="131467" y="463934"/>
                  <a:pt x="145140" y="463934"/>
                </a:cubicBezTo>
                <a:cubicBezTo>
                  <a:pt x="158813" y="463934"/>
                  <a:pt x="169898" y="475019"/>
                  <a:pt x="169898" y="488692"/>
                </a:cubicBezTo>
                <a:cubicBezTo>
                  <a:pt x="169898" y="502365"/>
                  <a:pt x="158813" y="513450"/>
                  <a:pt x="145140" y="513450"/>
                </a:cubicBezTo>
                <a:cubicBezTo>
                  <a:pt x="131467" y="513450"/>
                  <a:pt x="120382" y="502365"/>
                  <a:pt x="120382" y="488692"/>
                </a:cubicBezTo>
                <a:close/>
                <a:moveTo>
                  <a:pt x="0" y="24758"/>
                </a:moveTo>
                <a:cubicBezTo>
                  <a:pt x="0" y="11085"/>
                  <a:pt x="11085" y="0"/>
                  <a:pt x="24758" y="0"/>
                </a:cubicBezTo>
                <a:cubicBezTo>
                  <a:pt x="38431" y="0"/>
                  <a:pt x="49516" y="11085"/>
                  <a:pt x="49516" y="24758"/>
                </a:cubicBezTo>
                <a:cubicBezTo>
                  <a:pt x="49516" y="38431"/>
                  <a:pt x="38431" y="49516"/>
                  <a:pt x="24758" y="49516"/>
                </a:cubicBezTo>
                <a:cubicBezTo>
                  <a:pt x="11085" y="49516"/>
                  <a:pt x="0" y="38431"/>
                  <a:pt x="0" y="24758"/>
                </a:cubicBezTo>
                <a:close/>
                <a:moveTo>
                  <a:pt x="0" y="256725"/>
                </a:moveTo>
                <a:cubicBezTo>
                  <a:pt x="0" y="243052"/>
                  <a:pt x="11085" y="231967"/>
                  <a:pt x="24758" y="231967"/>
                </a:cubicBezTo>
                <a:cubicBezTo>
                  <a:pt x="38431" y="231967"/>
                  <a:pt x="49516" y="243052"/>
                  <a:pt x="49516" y="256725"/>
                </a:cubicBezTo>
                <a:cubicBezTo>
                  <a:pt x="49516" y="270398"/>
                  <a:pt x="38431" y="281483"/>
                  <a:pt x="24758" y="281483"/>
                </a:cubicBezTo>
                <a:cubicBezTo>
                  <a:pt x="11085" y="281483"/>
                  <a:pt x="0" y="270398"/>
                  <a:pt x="0" y="256725"/>
                </a:cubicBezTo>
                <a:close/>
                <a:moveTo>
                  <a:pt x="0" y="488692"/>
                </a:moveTo>
                <a:cubicBezTo>
                  <a:pt x="0" y="475019"/>
                  <a:pt x="11085" y="463934"/>
                  <a:pt x="24758" y="463934"/>
                </a:cubicBezTo>
                <a:cubicBezTo>
                  <a:pt x="38431" y="463934"/>
                  <a:pt x="49516" y="475019"/>
                  <a:pt x="49516" y="488692"/>
                </a:cubicBezTo>
                <a:cubicBezTo>
                  <a:pt x="49516" y="502365"/>
                  <a:pt x="38431" y="513450"/>
                  <a:pt x="24758" y="513450"/>
                </a:cubicBezTo>
                <a:cubicBezTo>
                  <a:pt x="11085" y="513450"/>
                  <a:pt x="0" y="502365"/>
                  <a:pt x="0" y="488692"/>
                </a:cubicBezTo>
                <a:close/>
              </a:path>
            </a:pathLst>
          </a:custGeom>
          <a:gradFill>
            <a:gsLst>
              <a:gs pos="0">
                <a:schemeClr val="accent1">
                  <a:alpha val="54000"/>
                </a:schemeClr>
              </a:gs>
              <a:gs pos="97000">
                <a:schemeClr val="accent1">
                  <a:lumMod val="7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0" name="标题 1"/>
          <p:cNvSpPr txBox="1"/>
          <p:nvPr/>
        </p:nvSpPr>
        <p:spPr>
          <a:xfrm>
            <a:off x="660400" y="5762911"/>
            <a:ext cx="2016000" cy="472789"/>
          </a:xfrm>
          <a:prstGeom prst="roundRect">
            <a:avLst/>
          </a:prstGeom>
          <a:gradFill>
            <a:gsLst>
              <a:gs pos="0">
                <a:schemeClr val="accent1"/>
              </a:gs>
              <a:gs pos="84000">
                <a:schemeClr val="accent1">
                  <a:lumMod val="8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1" name="标题 1"/>
          <p:cNvSpPr txBox="1"/>
          <p:nvPr/>
        </p:nvSpPr>
        <p:spPr>
          <a:xfrm>
            <a:off x="2922614" y="5762911"/>
            <a:ext cx="2016000" cy="472789"/>
          </a:xfrm>
          <a:prstGeom prst="roundRect">
            <a:avLst/>
          </a:prstGeom>
          <a:gradFill>
            <a:gsLst>
              <a:gs pos="0">
                <a:schemeClr val="accent1"/>
              </a:gs>
              <a:gs pos="84000">
                <a:schemeClr val="accent1">
                  <a:lumMod val="85000"/>
                </a:schemeClr>
              </a:gs>
            </a:gsLst>
            <a:lin ang="2700000" scaled="0"/>
          </a:gradFill>
          <a:ln w="12700" cap="sq">
            <a:noFill/>
            <a:miter/>
          </a:ln>
        </p:spPr>
        <p:txBody>
          <a:bodyPr vert="horz" wrap="square" lIns="91440" tIns="45720" rIns="91440" bIns="45720" rtlCol="0" anchor="t"/>
          <a:lstStyle/>
          <a:p>
            <a:pPr algn="ctr">
              <a:lnSpc>
                <a:spcPct val="110000"/>
              </a:lnSpc>
            </a:pPr>
            <a:endParaRPr kumimoji="1" lang="zh-CN" altLang="en-US"/>
          </a:p>
        </p:txBody>
      </p:sp>
      <p:sp>
        <p:nvSpPr>
          <p:cNvPr id="15" name="标题 1"/>
          <p:cNvSpPr txBox="1"/>
          <p:nvPr/>
        </p:nvSpPr>
        <p:spPr>
          <a:xfrm>
            <a:off x="725942" y="5859422"/>
            <a:ext cx="1884917" cy="279767"/>
          </a:xfrm>
          <a:prstGeom prst="rect">
            <a:avLst/>
          </a:prstGeom>
          <a:noFill/>
          <a:ln>
            <a:noFill/>
          </a:ln>
        </p:spPr>
        <p:txBody>
          <a:bodyPr vert="horz" wrap="square" lIns="0" tIns="0" rIns="0" bIns="0" rtlCol="0" anchor="t"/>
          <a:lstStyle/>
          <a:p>
            <a:pPr algn="ctr">
              <a:lnSpc>
                <a:spcPct val="110000"/>
              </a:lnSpc>
            </a:pPr>
            <a:r>
              <a:rPr kumimoji="1" lang="en-US" altLang="zh-CN"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主讲人：</a:t>
            </a:r>
            <a:r>
              <a:rPr kumimoji="1" lang="zh-CN" altLang="en-US"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杨威</a:t>
            </a:r>
            <a:endParaRPr kumimoji="1" lang="zh-CN" altLang="en-US"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endParaRPr>
          </a:p>
        </p:txBody>
      </p:sp>
      <p:sp>
        <p:nvSpPr>
          <p:cNvPr id="16" name="标题 1"/>
          <p:cNvSpPr txBox="1"/>
          <p:nvPr/>
        </p:nvSpPr>
        <p:spPr>
          <a:xfrm>
            <a:off x="2988156" y="5859422"/>
            <a:ext cx="1884917" cy="279767"/>
          </a:xfrm>
          <a:prstGeom prst="rect">
            <a:avLst/>
          </a:prstGeom>
          <a:noFill/>
          <a:ln>
            <a:noFill/>
          </a:ln>
        </p:spPr>
        <p:txBody>
          <a:bodyPr vert="horz" wrap="square" lIns="0" tIns="0" rIns="0" bIns="0" rtlCol="0" anchor="t"/>
          <a:lstStyle/>
          <a:p>
            <a:pPr algn="ctr">
              <a:lnSpc>
                <a:spcPct val="110000"/>
              </a:lnSpc>
            </a:pPr>
            <a:r>
              <a:rPr kumimoji="1" lang="en-US" altLang="zh-CN" sz="1800">
                <a:ln w="12700">
                  <a:noFill/>
                </a:ln>
                <a:solidFill>
                  <a:srgbClr val="FFFFFF">
                    <a:alpha val="100000"/>
                  </a:srgbClr>
                </a:solidFill>
                <a:latin typeface="OPPOSans R" panose="00020600040101010101" charset="-122"/>
                <a:ea typeface="OPPOSans R" panose="00020600040101010101" charset="-122"/>
                <a:cs typeface="OPPOSans R" panose="00020600040101010101" charset="-122"/>
              </a:rPr>
              <a:t>时间：2025.4</a:t>
            </a:r>
            <a:endParaRPr kumimoji="1" lang="zh-CN" altLang="en-US"/>
          </a:p>
        </p:txBody>
      </p:sp>
      <p:sp>
        <p:nvSpPr>
          <p:cNvPr id="17" name="标题 1"/>
          <p:cNvSpPr txBox="1"/>
          <p:nvPr/>
        </p:nvSpPr>
        <p:spPr>
          <a:xfrm>
            <a:off x="660399" y="2622643"/>
            <a:ext cx="7388225" cy="2014912"/>
          </a:xfrm>
          <a:prstGeom prst="rect">
            <a:avLst/>
          </a:prstGeom>
          <a:noFill/>
          <a:ln>
            <a:noFill/>
          </a:ln>
        </p:spPr>
        <p:txBody>
          <a:bodyPr vert="horz" wrap="square" lIns="0" tIns="0" rIns="0" bIns="0" rtlCol="0" anchor="ctr"/>
          <a:lstStyle/>
          <a:p>
            <a:pPr algn="l">
              <a:lnSpc>
                <a:spcPct val="130000"/>
              </a:lnSpc>
            </a:pPr>
            <a:r>
              <a:rPr kumimoji="1" lang="en-US" altLang="zh-CN" sz="5000">
                <a:ln w="12700">
                  <a:noFill/>
                </a:ln>
                <a:solidFill>
                  <a:srgbClr val="262626">
                    <a:alpha val="100000"/>
                  </a:srgbClr>
                </a:solidFill>
                <a:latin typeface="Dream-XinCuSongGB" panose="02010604000000000000" charset="-122"/>
                <a:ea typeface="Dream-XinCuSongGB" panose="02010604000000000000" charset="-122"/>
                <a:cs typeface="Dream-XinCuSongGB" panose="02010604000000000000" charset="-122"/>
              </a:rPr>
              <a:t>谢谢大家</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37.227480314960665,&quot;left&quot;:52,&quot;top&quot;:453.77251968503936,&quot;width&quot;:336.86724409448817}"/>
</p:tagLst>
</file>

<file path=ppt/tags/tag2.xml><?xml version="1.0" encoding="utf-8"?>
<p:tagLst xmlns:p="http://schemas.openxmlformats.org/presentationml/2006/main">
  <p:tag name="KSO_WM_DIAGRAM_VIRTUALLY_FRAME" val="{&quot;height&quot;:37.227480314960665,&quot;left&quot;:52,&quot;top&quot;:453.77251968503936,&quot;width&quot;:336.86724409448817}"/>
</p:tagLst>
</file>

<file path=ppt/tags/tag3.xml><?xml version="1.0" encoding="utf-8"?>
<p:tagLst xmlns:p="http://schemas.openxmlformats.org/presentationml/2006/main">
  <p:tag name="KSO_WM_DIAGRAM_VIRTUALLY_FRAME" val="{&quot;height&quot;:37.227480314960665,&quot;left&quot;:52,&quot;top&quot;:453.77251968503936,&quot;width&quot;:336.86724409448817}"/>
</p:tagLst>
</file>

<file path=ppt/tags/tag4.xml><?xml version="1.0" encoding="utf-8"?>
<p:tagLst xmlns:p="http://schemas.openxmlformats.org/presentationml/2006/main">
  <p:tag name="KSO_WM_DIAGRAM_VIRTUALLY_FRAME" val="{&quot;height&quot;:37.227480314960665,&quot;left&quot;:52,&quot;top&quot;:453.77251968503936,&quot;width&quot;:336.86724409448817}"/>
</p:tagLst>
</file>

<file path=ppt/tags/tag5.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6.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7.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8.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9.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0.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1.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2.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3.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4.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5.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6.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7.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8.xml><?xml version="1.0" encoding="utf-8"?>
<p:tagLst xmlns:p="http://schemas.openxmlformats.org/presentationml/2006/main">
  <p:tag name="KSO_WM_DIAGRAM_VIRTUALLY_FRAME" val="{&quot;height&quot;:406.82677165354335,&quot;left&quot;:399.46259842519686,&quot;top&quot;:84.17322834645668,&quot;width&quot;:494.3855905511811}"/>
</p:tagLst>
</file>

<file path=ppt/tags/tag19.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0.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1.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2.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3.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4.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5.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6.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7.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8.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29.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0.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1.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2.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3.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4.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5.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6.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7.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8.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39.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40.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41.xml><?xml version="1.0" encoding="utf-8"?>
<p:tagLst xmlns:p="http://schemas.openxmlformats.org/presentationml/2006/main">
  <p:tag name="KSO_WM_DIAGRAM_VIRTUALLY_FRAME" val="{&quot;height&quot;:413.3586614173229,&quot;left&quot;:63.94622047244094,&quot;top&quot;:81.14692913385827,&quot;width&quot;:827.3602362204723}"/>
</p:tagLst>
</file>

<file path=ppt/tags/tag42.xml><?xml version="1.0" encoding="utf-8"?>
<p:tagLst xmlns:p="http://schemas.openxmlformats.org/presentationml/2006/main">
  <p:tag name="KSO_WM_DIAGRAM_VIRTUALLY_FRAME" val="{&quot;height&quot;:413.3586614173229,&quot;left&quot;:63.94622047244094,&quot;top&quot;:81.14692913385827,&quot;width&quot;:827.3602362204723}"/>
</p:tagLst>
</file>

<file path=ppt/theme/theme1.xml><?xml version="1.0" encoding="utf-8"?>
<a:theme xmlns:a="http://schemas.openxmlformats.org/drawingml/2006/main" name="Office 主题​​">
  <a:themeElements>
    <a:clrScheme name="Office">
      <a:dk1>
        <a:srgbClr val="000000"/>
      </a:dk1>
      <a:lt1>
        <a:srgbClr val="FFFFFF"/>
      </a:lt1>
      <a:dk2>
        <a:srgbClr val="262626"/>
      </a:dk2>
      <a:lt2>
        <a:srgbClr val="E8E8E8"/>
      </a:lt2>
      <a:accent1>
        <a:srgbClr val="25A7EE"/>
      </a:accent1>
      <a:accent2>
        <a:srgbClr val="20B5C6"/>
      </a:accent2>
      <a:accent3>
        <a:srgbClr val="EEC100"/>
      </a:accent3>
      <a:accent4>
        <a:srgbClr val="FF9933"/>
      </a:accent4>
      <a:accent5>
        <a:srgbClr val="A177CB"/>
      </a:accent5>
      <a:accent6>
        <a:srgbClr val="00CC99"/>
      </a:accent6>
      <a:hlink>
        <a:srgbClr val="0F9ED5"/>
      </a:hlink>
      <a:folHlink>
        <a:srgbClr val="7F723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262626"/>
      </a:dk2>
      <a:lt2>
        <a:srgbClr val="E8E8E8"/>
      </a:lt2>
      <a:accent1>
        <a:srgbClr val="25A7EE"/>
      </a:accent1>
      <a:accent2>
        <a:srgbClr val="20B5C6"/>
      </a:accent2>
      <a:accent3>
        <a:srgbClr val="EEC100"/>
      </a:accent3>
      <a:accent4>
        <a:srgbClr val="FF9933"/>
      </a:accent4>
      <a:accent5>
        <a:srgbClr val="A177CB"/>
      </a:accent5>
      <a:accent6>
        <a:srgbClr val="00CC99"/>
      </a:accent6>
      <a:hlink>
        <a:srgbClr val="0F9ED5"/>
      </a:hlink>
      <a:folHlink>
        <a:srgbClr val="7F723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rgbClr val="000000"/>
      </a:dk1>
      <a:lt1>
        <a:srgbClr val="FFFFFF"/>
      </a:lt1>
      <a:dk2>
        <a:srgbClr val="262626"/>
      </a:dk2>
      <a:lt2>
        <a:srgbClr val="E8E8E8"/>
      </a:lt2>
      <a:accent1>
        <a:srgbClr val="25A7EE"/>
      </a:accent1>
      <a:accent2>
        <a:srgbClr val="20B5C6"/>
      </a:accent2>
      <a:accent3>
        <a:srgbClr val="EEC100"/>
      </a:accent3>
      <a:accent4>
        <a:srgbClr val="FF9933"/>
      </a:accent4>
      <a:accent5>
        <a:srgbClr val="A177CB"/>
      </a:accent5>
      <a:accent6>
        <a:srgbClr val="00CC99"/>
      </a:accent6>
      <a:hlink>
        <a:srgbClr val="0F9ED5"/>
      </a:hlink>
      <a:folHlink>
        <a:srgbClr val="7F723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rgbClr val="000000"/>
      </a:dk1>
      <a:lt1>
        <a:srgbClr val="FFFFFF"/>
      </a:lt1>
      <a:dk2>
        <a:srgbClr val="262626"/>
      </a:dk2>
      <a:lt2>
        <a:srgbClr val="E8E8E8"/>
      </a:lt2>
      <a:accent1>
        <a:srgbClr val="25A7EE"/>
      </a:accent1>
      <a:accent2>
        <a:srgbClr val="20B5C6"/>
      </a:accent2>
      <a:accent3>
        <a:srgbClr val="EEC100"/>
      </a:accent3>
      <a:accent4>
        <a:srgbClr val="FF9933"/>
      </a:accent4>
      <a:accent5>
        <a:srgbClr val="A177CB"/>
      </a:accent5>
      <a:accent6>
        <a:srgbClr val="00CC99"/>
      </a:accent6>
      <a:hlink>
        <a:srgbClr val="0F9ED5"/>
      </a:hlink>
      <a:folHlink>
        <a:srgbClr val="7F723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7470</Words>
  <Application>WPS 演示</Application>
  <PresentationFormat/>
  <Paragraphs>321</Paragraphs>
  <Slides>25</Slides>
  <Notes>0</Notes>
  <HiddenSlides>0</HiddenSlides>
  <MMClips>0</MMClips>
  <ScaleCrop>false</ScaleCrop>
  <HeadingPairs>
    <vt:vector size="6" baseType="variant">
      <vt:variant>
        <vt:lpstr>已用的字体</vt:lpstr>
      </vt:variant>
      <vt:variant>
        <vt:i4>13</vt:i4>
      </vt:variant>
      <vt:variant>
        <vt:lpstr>主题</vt:lpstr>
      </vt:variant>
      <vt:variant>
        <vt:i4>4</vt:i4>
      </vt:variant>
      <vt:variant>
        <vt:lpstr>幻灯片标题</vt:lpstr>
      </vt:variant>
      <vt:variant>
        <vt:i4>25</vt:i4>
      </vt:variant>
    </vt:vector>
  </HeadingPairs>
  <TitlesOfParts>
    <vt:vector size="42" baseType="lpstr">
      <vt:lpstr>Arial</vt:lpstr>
      <vt:lpstr>宋体</vt:lpstr>
      <vt:lpstr>Wingdings</vt:lpstr>
      <vt:lpstr>Dream-XinCuSongGB</vt:lpstr>
      <vt:lpstr>OPPOSans R</vt:lpstr>
      <vt:lpstr>Source Han Sans</vt:lpstr>
      <vt:lpstr>OPPOSans H</vt:lpstr>
      <vt:lpstr>Source Han Sans CN Bold</vt:lpstr>
      <vt:lpstr>等线</vt:lpstr>
      <vt:lpstr>微软雅黑</vt:lpstr>
      <vt:lpstr>Arial Unicode MS</vt:lpstr>
      <vt:lpstr>Calibri</vt:lpstr>
      <vt:lpstr>OPPOSans B</vt:lpstr>
      <vt:lpstr>Office 主题​​</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胡建威</cp:lastModifiedBy>
  <cp:revision>9</cp:revision>
  <dcterms:created xsi:type="dcterms:W3CDTF">2025-04-19T18:33:00Z</dcterms:created>
  <dcterms:modified xsi:type="dcterms:W3CDTF">2025-04-19T19:20:18Z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D7908D86D4D047E5B9EBB9A3B0E49250_12</vt:lpwstr>
  </property>
  <property fmtid="{D5CDD505-2E9C-101B-9397-08002B2CF9AE}" pid="3" name="KSOProductBuildVer">
    <vt:lpwstr>2052-12.1.0.20305</vt:lpwstr>
  </property>
</Properties>
</file>